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alibri (MS) Bold" charset="1" panose="020F0702030404030204"/>
      <p:regular r:id="rId21"/>
    </p:embeddedFont>
    <p:embeddedFont>
      <p:font typeface="Calibri (MS)" charset="1" panose="020F0502020204030204"/>
      <p:regular r:id="rId22"/>
    </p:embeddedFont>
    <p:embeddedFont>
      <p:font typeface="Cambria Bold" charset="1" panose="02040803050406030204"/>
      <p:regular r:id="rId23"/>
    </p:embeddedFont>
    <p:embeddedFont>
      <p:font typeface="Cambria Italics" charset="1" panose="020405030504060A0204"/>
      <p:regular r:id="rId24"/>
    </p:embeddedFont>
    <p:embeddedFont>
      <p:font typeface="Calibri (MS) Italics" charset="1" panose="020F05020202040A0204"/>
      <p:regular r:id="rId26"/>
    </p:embeddedFont>
    <p:embeddedFont>
      <p:font typeface="Calibri (MS) Bold Italics" charset="1" panose="020F07020304040A0204"/>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notesSlides/notesSlide2.xml" Type="http://schemas.openxmlformats.org/officeDocument/2006/relationships/notesSlide"/><Relationship Id="rId26" Target="fonts/font26.fntdata" Type="http://schemas.openxmlformats.org/officeDocument/2006/relationships/font"/><Relationship Id="rId27" Target="notesSlides/notesSlide3.xml" Type="http://schemas.openxmlformats.org/officeDocument/2006/relationships/notesSlide"/><Relationship Id="rId28" Target="notesSlides/notesSlide4.xml" Type="http://schemas.openxmlformats.org/officeDocument/2006/relationships/notesSlide"/><Relationship Id="rId29" Target="notesSlides/notesSlide5.xml" Type="http://schemas.openxmlformats.org/officeDocument/2006/relationships/notesSlide"/><Relationship Id="rId3" Target="viewProps.xml" Type="http://schemas.openxmlformats.org/officeDocument/2006/relationships/viewProps"/><Relationship Id="rId30" Target="notesSlides/notesSlide6.xml" Type="http://schemas.openxmlformats.org/officeDocument/2006/relationships/notesSlide"/><Relationship Id="rId31" Target="notesSlides/notesSlide7.xml" Type="http://schemas.openxmlformats.org/officeDocument/2006/relationships/notesSlide"/><Relationship Id="rId32" Target="notesSlides/notesSlide8.xml" Type="http://schemas.openxmlformats.org/officeDocument/2006/relationships/notesSlide"/><Relationship Id="rId33" Target="notesSlides/notesSlide9.xml" Type="http://schemas.openxmlformats.org/officeDocument/2006/relationships/notesSlide"/><Relationship Id="rId34" Target="notesSlides/notesSlide10.xml" Type="http://schemas.openxmlformats.org/officeDocument/2006/relationships/notesSlide"/><Relationship Id="rId35" Target="notesSlides/notesSlide11.xml" Type="http://schemas.openxmlformats.org/officeDocument/2006/relationships/notesSlide"/><Relationship Id="rId36" Target="notesSlides/notesSlide12.xml" Type="http://schemas.openxmlformats.org/officeDocument/2006/relationships/notesSlide"/><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everyone — respected examiners, my guide, and my mentor. I am Rajat Sharma, roll number CH24M559, from the M.Tech program in Industrial Artificial Intelligence. Today I present my final thesis: estimating the Remaining Useful Life and State of Health of EV batteries using a hybrid physics-informed deep learning framework. In simple words: I built a small, smart model that watches a battery age, predicts its health and its remaining life, respects the physics of degradation, and is small enough to run inside a real battery management chip.</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Why does this matter? Every electric vehicle has a battery management system, and it needs two numbers: State of Health — today's capacity compared to the rated capacity — and Remaining Useful Life — the number of cycles left until the battery reaches end of life, usually 80 percent health. Getting these wrong hurts in two ways. If we say the battery is healthier than it really is, the BMS may charge it too aggressively — that can cause lithium plating and, in the worst case, fire. If we say it is weaker than it really is, we throw away good batteries early — wasting money and materials. On the right you can see how a battery ages: a slow, almost linear fade caused by SEI growth, and later a knee-point where aging speeds up due to loss of active material. One hard constraint shapes my whole design: the model is trained offline, but it must run on a small microcontroller inside the vehicle.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literature falls into three families. Model-based methods use physics directly — full electrochemical PDE models are accurate but need more than twenty parameters and are far too heavy for a small chip; simpler empirical laws like the Verhulst logistic and the double-exponential are light but rigid. Data-driven methods — LSTMs, GRUs, Transformers — are accurate when data is plentiful, but they can predict impossible things like a battery healing itself, they need lots of data, and attention is memory-hungry. Hybrid physics-informed methods try to combine both, but most published work embeds heavy PDEs. Three things were missing, and my thesis contributes exactly these: a head-to-head comparison of fixed versus learnable ODE parameters under a strict leave-one-cell-out protocol; an honest test of uncertainty weighting against a tuned fixed weight; and a measured — not estimated — deployment profile on Cortex-M4 class hardware.</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Formally: SOH at cycle k is the maximum capacity now divided by rated capacity. The task is time-series regression: given a window of recent per-cycle features, predict today's SOH. End of life is the first cycle where SOH drops to 80 percent and stays there for at least five cycles — the persistence rule stops a single noisy dip from raising a false alarm. RUL is then simply the number of cycles from now until that end-of-life point. So the central question of this thesis is: how do we estimate SOH and RUL with high accuracy AND physical consistency, on tiny hardware, from limited and noisy data? All three requirements at the same time — that is the challenge.</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keep the model physical, I embed simple degradation laws in the loss function as soft constraints. Two laws are used. The Verhulst, or logistic, law says the fade rate depends on the current health and on how much room is left to degrade — fitted to a decaying battery, its rate constant comes out negative, giving a monotone fade. The double-exponential law adds two timescales — a fast early process, roughly SEI settling, and a slow long-term process, roughly material loss — which lets it capture the knee-point. The total loss has two parts: the usual data loss — mean squared error against the measured health — plus a physics loss: using automatic differentiation, I compute the derivative of the network's prediction with respect to the cycle input, and penalize its distance from what the law expects. Because it is a soft penalty, the model is discouraged from predicting self-healing, but genuine regeneration in the data is still tolerated.</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Here is the full pipeline. Raw voltage, current and temperature go through feature engineering: I compute incremental-capacity and differential-voltage curves — with Savitzky–Golay smoothing applied before differentiation, because differentiating a noisy signal amplifies the noise. These physics-informed features feed a Gated Recurrent Unit. Why a GRU? It has two gates instead of the LSTM's three, so fewer parameters, and its memory grows linearly with sequence length — unlike a Transformer's quadratic attention. Hyperparameters — hidden size 32 to 64, a window of 8 to 15 cycles — were chosen by Optuna's Bayesian TPE search. Model sizes range from four thousand parameters for the plain GRU, to forty-one thousand for the benchmark hybrid, and eleven thousand for the deployment version.</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Now the heart of the design. The physics can enter the model in two different ways — and instead of assuming which one is better, I built both and let the data decide. Route A uses the integrated, closed-form curves — exactly as one examiner suggested: fit the law once on the training cells, then softly pull predictions toward that fixed curve. Cheap, no ODE solving — but it assumes new cells behave like the training cells. Route B makes the law's parameters learnable: the Verhulst r and K train together with the network by backpropagation, so the law adapts its shape. It costs about three times the training time — but training happens offline, so that is acceptable. The loss balance was also tested both ways: a tuned fixed weight versus learnable uncertainty weighting. And to be precise: Optuna's Bayesian hyperparameter search and Bayesian uncertainty weighting are two different things — the thesis keeps them clearly separate.</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 use two public datasets, both lithium cobalt oxide. NASA PCoE: four 18650 cells, about 130 to 168 cycles each — famous for capacity regeneration. Cell B0005 alone shows 36 upward 'healing' jumps after rest periods — a perfect trap for a purely data-driven model, and a perfect test of physical consistency. CALCE CS2-35: one prismatic cell, 878 cycles, with a clear knee near cycle 650 — I use it as a zero-shot generalization test. Both datasets are converted to the same eight per-cycle features — ICA peak features, discharge time, voltage statistics, and a resistance proxy — plus a fixed-scale cycle counter. Two honesty points: the health labels are kept raw, so every model is scored against real regeneration, not a smoothed curve; and all scaling and prior fitting uses training cells only — no leakage.</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evaluation is a strict leave-one-cell-out protocol: four folds, three seeds each. In every fold, one cell is the test cell, another is the validation cell, and training uses the remaining two — whole cells never mix. Every learned model receives the same fixed-scale cycle input, so no model gets private information; an earlier version had a subtle leak here, which I found and corrected — every reported number uses the corrected protocol. Ten models compete under identical conditions: two non-neural floors — a double-exponential curve fit and an SVR — four purely data-driven networks including two Transformer sizes, a Neural-ODE as another physics-informed method, a matched-capacity control — the exact hybrid backbone with physics switched off — and my two hybrid routes. The metrics: SOH error with confidence intervals, a Physical Consistency Score, standard PHM prognostic metrics, paired Wilcoxon tests, and a Cortex-M4 hardware profile.</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Main results. The learnable hybrid — Route B — achieves the lowest error in the whole benchmark: SOH RMSE 0.0292, and the highest physical consistency of any learned model, 0.884. But the most important number is the comparison with the matched control — the identical 41-thousand-parameter network, same inputs, physics turned off. It scores 0.0377. So adding the physics residual to the very same network cuts the error by 22.6 percent, winning on 11 of the 12 paired runs, p equals 0.021. That cleanly attributes the gain to the physics — not to model size. Per cell, Route B is better than or equal to the fixed prior on every single cell — with the biggest margin on the unusual cell B0006, which starts above rated capacity: a fixed prior fitted on other cells simply does not apply there, and the plain LSTM also fails on that cell. And interpretability survives: the learned physics parameters — r about minus 0.89, K about 0.87 — can be read directly from the model.</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Some fair comparisons and honest negatives. Against a Transformer thirteen times larger, my hybrid's mean error is 21 percent lower — but it wins only 5 of 12 individual runs, so with just four cells this accuracy gap is not statistically significant; it mostly reflects the Transformer's wild run-to-run variance. What IS uniform: the hybrid is more physically consistent on all twelve runs. Two negatives, reported openly. Uncertainty weighting gave no reliable accuracy gain over a simple fixed weight — its one consistent effect is better physical consistency. And Route B fails on the zero-shot CALCE transfer: the cycle counter goes far beyond its training range — a diagnosed weakness with known fixes; the fixed-prior Route A actually leads that transfer. Now deployment — measured, not estimated. The 11-thousand-parameter hybrid, quantized to int8, occupies just 20.2 kilobytes of flash and 1.25 kilobytes of RAM — two percent of a Cortex-M4's budget — thirty times less flash and eleven times faster than the big Transformer. The accuracy cost of shrinking is stated openly: 0.0292 to 0.0469 — yet it remains the most physically consistent deployable model.</a:t>
            </a:r>
          </a:p>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 conclude. A learnable physics residual improves a small recurrent network where extra capacity — recurrent or attention — does not: over one-fifth lower error at identical size, and the most physically plausible predictions. What matters is not the exact shape of the prior but that it can adapt — the learnable route beats the fixed prior on every held-out cell. The result deploys for real: two percent of a Cortex-M4's flash. And the limits are identified and explained, not hidden. For future work: collocation points and coordinate saturation to fix long-horizon transfer; flashing the model onto a real M4 board to measure true latency and energy; larger fleets for statistical power; other chemistries with light domain adaptation; and a structure-free control to isolate exactly what the ODE contributes. In one line: physics makes a small network smart, and smallness makes it deployable. Thank you — I welcome your questions.</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 Id="rId4"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 Id="rId7" Target="../media/image10.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 Id="rId4" Target="../media/image1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 Id="rId4"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 Id="rId4" Target="../media/image1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BF0F1"/>
        </a:solidFill>
      </p:bgPr>
    </p:bg>
    <p:spTree>
      <p:nvGrpSpPr>
        <p:cNvPr id="1" name=""/>
        <p:cNvGrpSpPr/>
        <p:nvPr/>
      </p:nvGrpSpPr>
      <p:grpSpPr>
        <a:xfrm>
          <a:off x="0" y="0"/>
          <a:ext cx="0" cy="0"/>
          <a:chOff x="0" y="0"/>
          <a:chExt cx="0" cy="0"/>
        </a:xfrm>
      </p:grpSpPr>
      <p:grpSp>
        <p:nvGrpSpPr>
          <p:cNvPr name="Group 2" id="2"/>
          <p:cNvGrpSpPr/>
          <p:nvPr/>
        </p:nvGrpSpPr>
        <p:grpSpPr>
          <a:xfrm rot="0">
            <a:off x="1371600" y="1344168"/>
            <a:ext cx="15540228" cy="438912"/>
            <a:chOff x="0" y="0"/>
            <a:chExt cx="20720304" cy="585216"/>
          </a:xfrm>
        </p:grpSpPr>
        <p:sp>
          <p:nvSpPr>
            <p:cNvPr name="Freeform 3" id="3"/>
            <p:cNvSpPr/>
            <p:nvPr/>
          </p:nvSpPr>
          <p:spPr>
            <a:xfrm flipH="false" flipV="false" rot="0">
              <a:off x="0" y="0"/>
              <a:ext cx="20720304" cy="585216"/>
            </a:xfrm>
            <a:custGeom>
              <a:avLst/>
              <a:gdLst/>
              <a:ahLst/>
              <a:cxnLst/>
              <a:rect r="r" b="b" t="t" l="l"/>
              <a:pathLst>
                <a:path h="585216" w="20720304">
                  <a:moveTo>
                    <a:pt x="0" y="0"/>
                  </a:moveTo>
                  <a:lnTo>
                    <a:pt x="20720304" y="0"/>
                  </a:lnTo>
                  <a:lnTo>
                    <a:pt x="20720304" y="585216"/>
                  </a:lnTo>
                  <a:lnTo>
                    <a:pt x="0" y="585216"/>
                  </a:lnTo>
                  <a:close/>
                </a:path>
              </a:pathLst>
            </a:custGeom>
            <a:blipFill>
              <a:blip r:embed="rId3">
                <a:alphaModFix amt="0"/>
              </a:blip>
              <a:stretch>
                <a:fillRect l="0" t="-639892" r="0" b="-639892"/>
              </a:stretch>
            </a:blipFill>
          </p:spPr>
        </p:sp>
        <p:sp>
          <p:nvSpPr>
            <p:cNvPr name="TextBox 4" id="4"/>
            <p:cNvSpPr txBox="true"/>
            <p:nvPr/>
          </p:nvSpPr>
          <p:spPr>
            <a:xfrm>
              <a:off x="0" y="-47625"/>
              <a:ext cx="20720304" cy="632841"/>
            </a:xfrm>
            <a:prstGeom prst="rect">
              <a:avLst/>
            </a:prstGeom>
          </p:spPr>
          <p:txBody>
            <a:bodyPr anchor="ctr" rtlCol="false" tIns="0" lIns="0" bIns="0" rIns="0"/>
            <a:lstStyle/>
            <a:p>
              <a:pPr algn="ctr">
                <a:lnSpc>
                  <a:spcPts val="2520"/>
                </a:lnSpc>
              </a:pPr>
              <a:r>
                <a:rPr lang="en-US" b="true" sz="2100" spc="375">
                  <a:solidFill>
                    <a:srgbClr val="1A5B6E"/>
                  </a:solidFill>
                  <a:latin typeface="Calibri (MS) Bold"/>
                  <a:ea typeface="Calibri (MS) Bold"/>
                  <a:cs typeface="Calibri (MS) Bold"/>
                  <a:sym typeface="Calibri (MS) Bold"/>
                </a:rPr>
                <a:t>INDIAN INSTITUTE OF TECHNOLOGY MADRAS</a:t>
              </a:r>
            </a:p>
          </p:txBody>
        </p:sp>
      </p:grpSp>
      <p:grpSp>
        <p:nvGrpSpPr>
          <p:cNvPr name="Group 5" id="5"/>
          <p:cNvGrpSpPr/>
          <p:nvPr/>
        </p:nvGrpSpPr>
        <p:grpSpPr>
          <a:xfrm rot="0">
            <a:off x="1371600" y="1796796"/>
            <a:ext cx="15540228" cy="411480"/>
            <a:chOff x="0" y="0"/>
            <a:chExt cx="20720304" cy="548640"/>
          </a:xfrm>
        </p:grpSpPr>
        <p:sp>
          <p:nvSpPr>
            <p:cNvPr name="Freeform 6" id="6"/>
            <p:cNvSpPr/>
            <p:nvPr/>
          </p:nvSpPr>
          <p:spPr>
            <a:xfrm flipH="false" flipV="false" rot="0">
              <a:off x="0" y="0"/>
              <a:ext cx="20720304" cy="548640"/>
            </a:xfrm>
            <a:custGeom>
              <a:avLst/>
              <a:gdLst/>
              <a:ahLst/>
              <a:cxnLst/>
              <a:rect r="r" b="b" t="t" l="l"/>
              <a:pathLst>
                <a:path h="548640" w="20720304">
                  <a:moveTo>
                    <a:pt x="0" y="0"/>
                  </a:moveTo>
                  <a:lnTo>
                    <a:pt x="20720304" y="0"/>
                  </a:lnTo>
                  <a:lnTo>
                    <a:pt x="20720304" y="548640"/>
                  </a:lnTo>
                  <a:lnTo>
                    <a:pt x="0" y="548640"/>
                  </a:lnTo>
                  <a:close/>
                </a:path>
              </a:pathLst>
            </a:custGeom>
            <a:blipFill>
              <a:blip r:embed="rId3">
                <a:alphaModFix amt="0"/>
              </a:blip>
              <a:stretch>
                <a:fillRect l="0" t="-685884" r="0" b="-685884"/>
              </a:stretch>
            </a:blipFill>
          </p:spPr>
        </p:sp>
        <p:sp>
          <p:nvSpPr>
            <p:cNvPr name="TextBox 7" id="7"/>
            <p:cNvSpPr txBox="true"/>
            <p:nvPr/>
          </p:nvSpPr>
          <p:spPr>
            <a:xfrm>
              <a:off x="0" y="-38100"/>
              <a:ext cx="20720304" cy="586740"/>
            </a:xfrm>
            <a:prstGeom prst="rect">
              <a:avLst/>
            </a:prstGeom>
          </p:spPr>
          <p:txBody>
            <a:bodyPr anchor="ctr" rtlCol="false" tIns="0" lIns="0" bIns="0" rIns="0"/>
            <a:lstStyle/>
            <a:p>
              <a:pPr algn="ctr">
                <a:lnSpc>
                  <a:spcPts val="2250"/>
                </a:lnSpc>
              </a:pPr>
              <a:r>
                <a:rPr lang="en-US" sz="1875">
                  <a:solidFill>
                    <a:srgbClr val="6E7A83"/>
                  </a:solidFill>
                  <a:latin typeface="Calibri (MS)"/>
                  <a:ea typeface="Calibri (MS)"/>
                  <a:cs typeface="Calibri (MS)"/>
                  <a:sym typeface="Calibri (MS)"/>
                </a:rPr>
                <a:t>M.Tech - Industrial AI</a:t>
              </a:r>
            </a:p>
          </p:txBody>
        </p:sp>
      </p:grpSp>
      <p:grpSp>
        <p:nvGrpSpPr>
          <p:cNvPr name="Group 8" id="8"/>
          <p:cNvGrpSpPr/>
          <p:nvPr/>
        </p:nvGrpSpPr>
        <p:grpSpPr>
          <a:xfrm rot="0">
            <a:off x="1842135" y="2939415"/>
            <a:ext cx="14599158" cy="4065270"/>
            <a:chOff x="0" y="0"/>
            <a:chExt cx="19465544" cy="5420360"/>
          </a:xfrm>
        </p:grpSpPr>
        <p:sp>
          <p:nvSpPr>
            <p:cNvPr name="Freeform 9" id="9"/>
            <p:cNvSpPr/>
            <p:nvPr/>
          </p:nvSpPr>
          <p:spPr>
            <a:xfrm flipH="false" flipV="false" rot="0">
              <a:off x="0" y="0"/>
              <a:ext cx="19465544" cy="5420360"/>
            </a:xfrm>
            <a:custGeom>
              <a:avLst/>
              <a:gdLst/>
              <a:ahLst/>
              <a:cxnLst/>
              <a:rect r="r" b="b" t="t" l="l"/>
              <a:pathLst>
                <a:path h="5420360" w="19465544">
                  <a:moveTo>
                    <a:pt x="0" y="128651"/>
                  </a:moveTo>
                  <a:cubicBezTo>
                    <a:pt x="0" y="57531"/>
                    <a:pt x="57531" y="0"/>
                    <a:pt x="128651" y="0"/>
                  </a:cubicBezTo>
                  <a:lnTo>
                    <a:pt x="19336893" y="0"/>
                  </a:lnTo>
                  <a:cubicBezTo>
                    <a:pt x="19407885" y="0"/>
                    <a:pt x="19465544" y="57531"/>
                    <a:pt x="19465544" y="128651"/>
                  </a:cubicBezTo>
                  <a:lnTo>
                    <a:pt x="19465544" y="5291709"/>
                  </a:lnTo>
                  <a:cubicBezTo>
                    <a:pt x="19465544" y="5362702"/>
                    <a:pt x="19408012" y="5420360"/>
                    <a:pt x="19336893" y="5420360"/>
                  </a:cubicBezTo>
                  <a:lnTo>
                    <a:pt x="128651" y="5420360"/>
                  </a:lnTo>
                  <a:cubicBezTo>
                    <a:pt x="57531" y="5420360"/>
                    <a:pt x="0" y="5362829"/>
                    <a:pt x="0" y="5291709"/>
                  </a:cubicBezTo>
                  <a:close/>
                </a:path>
              </a:pathLst>
            </a:custGeom>
            <a:solidFill>
              <a:srgbClr val="FFFFFF"/>
            </a:solidFill>
            <a:ln w="19050" cap="sq">
              <a:solidFill>
                <a:srgbClr val="CFDBDC"/>
              </a:solidFill>
              <a:prstDash val="solid"/>
              <a:miter/>
            </a:ln>
          </p:spPr>
        </p:sp>
      </p:grpSp>
      <p:grpSp>
        <p:nvGrpSpPr>
          <p:cNvPr name="Group 10" id="10"/>
          <p:cNvGrpSpPr/>
          <p:nvPr/>
        </p:nvGrpSpPr>
        <p:grpSpPr>
          <a:xfrm rot="0">
            <a:off x="1851660" y="3319272"/>
            <a:ext cx="14580108" cy="438912"/>
            <a:chOff x="0" y="0"/>
            <a:chExt cx="19440144" cy="585216"/>
          </a:xfrm>
        </p:grpSpPr>
        <p:sp>
          <p:nvSpPr>
            <p:cNvPr name="Freeform 11" id="11"/>
            <p:cNvSpPr/>
            <p:nvPr/>
          </p:nvSpPr>
          <p:spPr>
            <a:xfrm flipH="false" flipV="false" rot="0">
              <a:off x="0" y="0"/>
              <a:ext cx="19440144" cy="585216"/>
            </a:xfrm>
            <a:custGeom>
              <a:avLst/>
              <a:gdLst/>
              <a:ahLst/>
              <a:cxnLst/>
              <a:rect r="r" b="b" t="t" l="l"/>
              <a:pathLst>
                <a:path h="585216" w="19440144">
                  <a:moveTo>
                    <a:pt x="0" y="0"/>
                  </a:moveTo>
                  <a:lnTo>
                    <a:pt x="19440144" y="0"/>
                  </a:lnTo>
                  <a:lnTo>
                    <a:pt x="19440144" y="585216"/>
                  </a:lnTo>
                  <a:lnTo>
                    <a:pt x="0" y="585216"/>
                  </a:lnTo>
                  <a:close/>
                </a:path>
              </a:pathLst>
            </a:custGeom>
            <a:blipFill>
              <a:blip r:embed="rId3">
                <a:alphaModFix amt="0"/>
              </a:blip>
              <a:stretch>
                <a:fillRect l="0" t="-597268" r="0" b="-597268"/>
              </a:stretch>
            </a:blipFill>
          </p:spPr>
        </p:sp>
        <p:sp>
          <p:nvSpPr>
            <p:cNvPr name="TextBox 12" id="12"/>
            <p:cNvSpPr txBox="true"/>
            <p:nvPr/>
          </p:nvSpPr>
          <p:spPr>
            <a:xfrm>
              <a:off x="0" y="-38100"/>
              <a:ext cx="19440144" cy="623316"/>
            </a:xfrm>
            <a:prstGeom prst="rect">
              <a:avLst/>
            </a:prstGeom>
          </p:spPr>
          <p:txBody>
            <a:bodyPr anchor="ctr" rtlCol="false" tIns="0" lIns="0" bIns="0" rIns="0"/>
            <a:lstStyle/>
            <a:p>
              <a:pPr algn="ctr">
                <a:lnSpc>
                  <a:spcPts val="2250"/>
                </a:lnSpc>
              </a:pPr>
              <a:r>
                <a:rPr lang="en-US" b="true" sz="1875" spc="150">
                  <a:solidFill>
                    <a:srgbClr val="6E7A83"/>
                  </a:solidFill>
                  <a:latin typeface="Calibri (MS) Bold"/>
                  <a:ea typeface="Calibri (MS) Bold"/>
                  <a:cs typeface="Calibri (MS) Bold"/>
                  <a:sym typeface="Calibri (MS) Bold"/>
                </a:rPr>
                <a:t>M.Tech Thesis  ·  Phase 3 (Final Viva)</a:t>
              </a:r>
            </a:p>
          </p:txBody>
        </p:sp>
      </p:grpSp>
      <p:grpSp>
        <p:nvGrpSpPr>
          <p:cNvPr name="Group 13" id="13"/>
          <p:cNvGrpSpPr/>
          <p:nvPr/>
        </p:nvGrpSpPr>
        <p:grpSpPr>
          <a:xfrm rot="0">
            <a:off x="2125980" y="2894290"/>
            <a:ext cx="14031468" cy="4155520"/>
            <a:chOff x="0" y="0"/>
            <a:chExt cx="18708624" cy="5540694"/>
          </a:xfrm>
        </p:grpSpPr>
        <p:sp>
          <p:nvSpPr>
            <p:cNvPr name="Freeform 14" id="14"/>
            <p:cNvSpPr/>
            <p:nvPr/>
          </p:nvSpPr>
          <p:spPr>
            <a:xfrm flipH="false" flipV="false" rot="0">
              <a:off x="0" y="0"/>
              <a:ext cx="18708624" cy="5540694"/>
            </a:xfrm>
            <a:custGeom>
              <a:avLst/>
              <a:gdLst/>
              <a:ahLst/>
              <a:cxnLst/>
              <a:rect r="r" b="b" t="t" l="l"/>
              <a:pathLst>
                <a:path h="5540694" w="18708624">
                  <a:moveTo>
                    <a:pt x="0" y="0"/>
                  </a:moveTo>
                  <a:lnTo>
                    <a:pt x="18708624" y="0"/>
                  </a:lnTo>
                  <a:lnTo>
                    <a:pt x="18708624" y="5540694"/>
                  </a:lnTo>
                  <a:lnTo>
                    <a:pt x="0" y="5540694"/>
                  </a:lnTo>
                  <a:close/>
                </a:path>
              </a:pathLst>
            </a:custGeom>
            <a:blipFill>
              <a:blip r:embed="rId3">
                <a:alphaModFix amt="0"/>
              </a:blip>
              <a:stretch>
                <a:fillRect l="0" t="-42688" r="0" b="11102"/>
              </a:stretch>
            </a:blipFill>
          </p:spPr>
        </p:sp>
        <p:sp>
          <p:nvSpPr>
            <p:cNvPr name="TextBox 15" id="15"/>
            <p:cNvSpPr txBox="true"/>
            <p:nvPr/>
          </p:nvSpPr>
          <p:spPr>
            <a:xfrm>
              <a:off x="0" y="-28575"/>
              <a:ext cx="18708624" cy="5569269"/>
            </a:xfrm>
            <a:prstGeom prst="rect">
              <a:avLst/>
            </a:prstGeom>
          </p:spPr>
          <p:txBody>
            <a:bodyPr anchor="ctr" rtlCol="false" tIns="0" lIns="0" bIns="0" rIns="0"/>
            <a:lstStyle/>
            <a:p>
              <a:pPr algn="ctr">
                <a:lnSpc>
                  <a:spcPts val="5859"/>
                </a:lnSpc>
              </a:pPr>
              <a:r>
                <a:rPr lang="en-US" sz="4650" b="true">
                  <a:solidFill>
                    <a:srgbClr val="1B2A33"/>
                  </a:solidFill>
                  <a:latin typeface="Cambria Bold"/>
                  <a:ea typeface="Cambria Bold"/>
                  <a:cs typeface="Cambria Bold"/>
                  <a:sym typeface="Cambria Bold"/>
                </a:rPr>
                <a:t>Estimating Remaining Useful Life and State of Health of EV Batteries</a:t>
              </a:r>
            </a:p>
          </p:txBody>
        </p:sp>
      </p:grpSp>
      <p:grpSp>
        <p:nvGrpSpPr>
          <p:cNvPr name="Group 16" id="16"/>
          <p:cNvGrpSpPr/>
          <p:nvPr/>
        </p:nvGrpSpPr>
        <p:grpSpPr>
          <a:xfrm rot="0">
            <a:off x="1851660" y="6062472"/>
            <a:ext cx="14580108" cy="617220"/>
            <a:chOff x="0" y="0"/>
            <a:chExt cx="19440144" cy="822960"/>
          </a:xfrm>
        </p:grpSpPr>
        <p:sp>
          <p:nvSpPr>
            <p:cNvPr name="Freeform 17" id="17"/>
            <p:cNvSpPr/>
            <p:nvPr/>
          </p:nvSpPr>
          <p:spPr>
            <a:xfrm flipH="false" flipV="false" rot="0">
              <a:off x="0" y="0"/>
              <a:ext cx="19440144" cy="822960"/>
            </a:xfrm>
            <a:custGeom>
              <a:avLst/>
              <a:gdLst/>
              <a:ahLst/>
              <a:cxnLst/>
              <a:rect r="r" b="b" t="t" l="l"/>
              <a:pathLst>
                <a:path h="822960" w="19440144">
                  <a:moveTo>
                    <a:pt x="0" y="0"/>
                  </a:moveTo>
                  <a:lnTo>
                    <a:pt x="19440144" y="0"/>
                  </a:lnTo>
                  <a:lnTo>
                    <a:pt x="19440144" y="822960"/>
                  </a:lnTo>
                  <a:lnTo>
                    <a:pt x="0" y="822960"/>
                  </a:lnTo>
                  <a:close/>
                </a:path>
              </a:pathLst>
            </a:custGeom>
            <a:blipFill>
              <a:blip r:embed="rId3">
                <a:alphaModFix amt="0"/>
              </a:blip>
              <a:stretch>
                <a:fillRect l="0" t="-410279" r="0" b="-410279"/>
              </a:stretch>
            </a:blipFill>
          </p:spPr>
        </p:sp>
        <p:sp>
          <p:nvSpPr>
            <p:cNvPr name="TextBox 18" id="18"/>
            <p:cNvSpPr txBox="true"/>
            <p:nvPr/>
          </p:nvSpPr>
          <p:spPr>
            <a:xfrm>
              <a:off x="0" y="-19050"/>
              <a:ext cx="19440144" cy="842010"/>
            </a:xfrm>
            <a:prstGeom prst="rect">
              <a:avLst/>
            </a:prstGeom>
          </p:spPr>
          <p:txBody>
            <a:bodyPr anchor="ctr" rtlCol="false" tIns="0" lIns="0" bIns="0" rIns="0"/>
            <a:lstStyle/>
            <a:p>
              <a:pPr algn="ctr">
                <a:lnSpc>
                  <a:spcPts val="3240"/>
                </a:lnSpc>
              </a:pPr>
              <a:r>
                <a:rPr lang="en-US" sz="2700" i="true">
                  <a:solidFill>
                    <a:srgbClr val="1A5B6E"/>
                  </a:solidFill>
                  <a:latin typeface="Cambria Italics"/>
                  <a:ea typeface="Cambria Italics"/>
                  <a:cs typeface="Cambria Italics"/>
                  <a:sym typeface="Cambria Italics"/>
                </a:rPr>
                <a:t>A Hybrid Physics-Informed Deep Learning Framework</a:t>
              </a:r>
            </a:p>
          </p:txBody>
        </p:sp>
      </p:grpSp>
      <p:grpSp>
        <p:nvGrpSpPr>
          <p:cNvPr name="Group 19" id="19"/>
          <p:cNvGrpSpPr/>
          <p:nvPr/>
        </p:nvGrpSpPr>
        <p:grpSpPr>
          <a:xfrm rot="0">
            <a:off x="1028700" y="8270748"/>
            <a:ext cx="7094728" cy="987552"/>
            <a:chOff x="0" y="0"/>
            <a:chExt cx="9459637" cy="1316736"/>
          </a:xfrm>
        </p:grpSpPr>
        <p:sp>
          <p:nvSpPr>
            <p:cNvPr name="Freeform 20" id="20"/>
            <p:cNvSpPr/>
            <p:nvPr/>
          </p:nvSpPr>
          <p:spPr>
            <a:xfrm flipH="false" flipV="false" rot="0">
              <a:off x="0" y="0"/>
              <a:ext cx="9459637" cy="1316736"/>
            </a:xfrm>
            <a:custGeom>
              <a:avLst/>
              <a:gdLst/>
              <a:ahLst/>
              <a:cxnLst/>
              <a:rect r="r" b="b" t="t" l="l"/>
              <a:pathLst>
                <a:path h="1316736" w="9459637">
                  <a:moveTo>
                    <a:pt x="0" y="0"/>
                  </a:moveTo>
                  <a:lnTo>
                    <a:pt x="9459637" y="0"/>
                  </a:lnTo>
                  <a:lnTo>
                    <a:pt x="9459637" y="1316736"/>
                  </a:lnTo>
                  <a:lnTo>
                    <a:pt x="0" y="1316736"/>
                  </a:lnTo>
                  <a:close/>
                </a:path>
              </a:pathLst>
            </a:custGeom>
            <a:blipFill>
              <a:blip r:embed="rId3">
                <a:alphaModFix amt="0"/>
              </a:blip>
              <a:stretch>
                <a:fillRect l="0" t="-256618" r="-119039" b="-256618"/>
              </a:stretch>
            </a:blipFill>
          </p:spPr>
        </p:sp>
        <p:sp>
          <p:nvSpPr>
            <p:cNvPr name="TextBox 21" id="21"/>
            <p:cNvSpPr txBox="true"/>
            <p:nvPr/>
          </p:nvSpPr>
          <p:spPr>
            <a:xfrm>
              <a:off x="0" y="-95250"/>
              <a:ext cx="9459637" cy="1411986"/>
            </a:xfrm>
            <a:prstGeom prst="rect">
              <a:avLst/>
            </a:prstGeom>
          </p:spPr>
          <p:txBody>
            <a:bodyPr anchor="ctr" rtlCol="false" tIns="0" lIns="0" bIns="0" rIns="0"/>
            <a:lstStyle/>
            <a:p>
              <a:pPr algn="l">
                <a:lnSpc>
                  <a:spcPts val="3456"/>
                </a:lnSpc>
              </a:pPr>
              <a:r>
                <a:rPr lang="en-US" sz="2400" b="true">
                  <a:solidFill>
                    <a:srgbClr val="1B2A33"/>
                  </a:solidFill>
                  <a:latin typeface="Calibri (MS) Bold"/>
                  <a:ea typeface="Calibri (MS) Bold"/>
                  <a:cs typeface="Calibri (MS) Bold"/>
                  <a:sym typeface="Calibri (MS) Bold"/>
                </a:rPr>
                <a:t>Rajat Sharma</a:t>
              </a:r>
            </a:p>
            <a:p>
              <a:pPr algn="l">
                <a:lnSpc>
                  <a:spcPts val="2700"/>
                </a:lnSpc>
              </a:pPr>
              <a:r>
                <a:rPr lang="en-US" sz="1875">
                  <a:solidFill>
                    <a:srgbClr val="39454E"/>
                  </a:solidFill>
                  <a:latin typeface="Calibri (MS)"/>
                  <a:ea typeface="Calibri (MS)"/>
                  <a:cs typeface="Calibri (MS)"/>
                  <a:sym typeface="Calibri (MS)"/>
                </a:rPr>
                <a:t>Roll No. CH24M559  ·  M.Tech in Industrial Artificial Intelligence</a:t>
              </a:r>
            </a:p>
          </p:txBody>
        </p:sp>
      </p:grpSp>
      <p:grpSp>
        <p:nvGrpSpPr>
          <p:cNvPr name="Group 22" id="22"/>
          <p:cNvGrpSpPr/>
          <p:nvPr/>
        </p:nvGrpSpPr>
        <p:grpSpPr>
          <a:xfrm rot="0">
            <a:off x="8377767" y="8538210"/>
            <a:ext cx="9063228" cy="720090"/>
            <a:chOff x="0" y="0"/>
            <a:chExt cx="12084304" cy="960120"/>
          </a:xfrm>
        </p:grpSpPr>
        <p:sp>
          <p:nvSpPr>
            <p:cNvPr name="Freeform 23" id="23"/>
            <p:cNvSpPr/>
            <p:nvPr/>
          </p:nvSpPr>
          <p:spPr>
            <a:xfrm flipH="false" flipV="false" rot="0">
              <a:off x="0" y="0"/>
              <a:ext cx="12084304" cy="960120"/>
            </a:xfrm>
            <a:custGeom>
              <a:avLst/>
              <a:gdLst/>
              <a:ahLst/>
              <a:cxnLst/>
              <a:rect r="r" b="b" t="t" l="l"/>
              <a:pathLst>
                <a:path h="960120" w="12084304">
                  <a:moveTo>
                    <a:pt x="0" y="0"/>
                  </a:moveTo>
                  <a:lnTo>
                    <a:pt x="12084304" y="0"/>
                  </a:lnTo>
                  <a:lnTo>
                    <a:pt x="12084304" y="960120"/>
                  </a:lnTo>
                  <a:lnTo>
                    <a:pt x="0" y="960120"/>
                  </a:lnTo>
                  <a:close/>
                </a:path>
              </a:pathLst>
            </a:custGeom>
            <a:blipFill>
              <a:blip r:embed="rId3">
                <a:alphaModFix amt="0"/>
              </a:blip>
              <a:stretch>
                <a:fillRect l="0" t="-325267" r="-71464" b="-415743"/>
              </a:stretch>
            </a:blipFill>
          </p:spPr>
        </p:sp>
        <p:sp>
          <p:nvSpPr>
            <p:cNvPr name="TextBox 24" id="24"/>
            <p:cNvSpPr txBox="true"/>
            <p:nvPr/>
          </p:nvSpPr>
          <p:spPr>
            <a:xfrm>
              <a:off x="0" y="-95250"/>
              <a:ext cx="12084304" cy="1055370"/>
            </a:xfrm>
            <a:prstGeom prst="rect">
              <a:avLst/>
            </a:prstGeom>
          </p:spPr>
          <p:txBody>
            <a:bodyPr anchor="ctr" rtlCol="false" tIns="0" lIns="0" bIns="0" rIns="0"/>
            <a:lstStyle/>
            <a:p>
              <a:pPr algn="r">
                <a:lnSpc>
                  <a:spcPts val="2818"/>
                </a:lnSpc>
              </a:pPr>
              <a:r>
                <a:rPr lang="en-US" sz="1924" b="true">
                  <a:solidFill>
                    <a:srgbClr val="39454E"/>
                  </a:solidFill>
                  <a:latin typeface="Calibri (MS) Bold"/>
                  <a:ea typeface="Calibri (MS) Bold"/>
                  <a:cs typeface="Calibri (MS) Bold"/>
                  <a:sym typeface="Calibri (MS) Bold"/>
                </a:rPr>
                <a:t>Research Mentor:  </a:t>
              </a:r>
              <a:r>
                <a:rPr lang="en-US" sz="1924">
                  <a:solidFill>
                    <a:srgbClr val="6E7A83"/>
                  </a:solidFill>
                  <a:latin typeface="Calibri (MS)"/>
                  <a:ea typeface="Calibri (MS)"/>
                  <a:cs typeface="Calibri (MS)"/>
                  <a:sym typeface="Calibri (MS)"/>
                </a:rPr>
                <a:t>Dr. Sandeep Patalay </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BF0F1"/>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16637508" cy="391408"/>
            <a:chOff x="0" y="0"/>
            <a:chExt cx="22183344" cy="521878"/>
          </a:xfrm>
        </p:grpSpPr>
        <p:sp>
          <p:nvSpPr>
            <p:cNvPr name="Freeform 3" id="3"/>
            <p:cNvSpPr/>
            <p:nvPr/>
          </p:nvSpPr>
          <p:spPr>
            <a:xfrm flipH="false" flipV="false" rot="0">
              <a:off x="0" y="0"/>
              <a:ext cx="22183344" cy="521878"/>
            </a:xfrm>
            <a:custGeom>
              <a:avLst/>
              <a:gdLst/>
              <a:ahLst/>
              <a:cxnLst/>
              <a:rect r="r" b="b" t="t" l="l"/>
              <a:pathLst>
                <a:path h="521878" w="22183344">
                  <a:moveTo>
                    <a:pt x="0" y="0"/>
                  </a:moveTo>
                  <a:lnTo>
                    <a:pt x="22183344" y="0"/>
                  </a:lnTo>
                  <a:lnTo>
                    <a:pt x="22183344" y="521878"/>
                  </a:lnTo>
                  <a:lnTo>
                    <a:pt x="0" y="521878"/>
                  </a:lnTo>
                  <a:close/>
                </a:path>
              </a:pathLst>
            </a:custGeom>
            <a:blipFill>
              <a:blip r:embed="rId3">
                <a:alphaModFix amt="0"/>
              </a:blip>
              <a:stretch>
                <a:fillRect l="0" t="-782690" r="0" b="-773801"/>
              </a:stretch>
            </a:blipFill>
          </p:spPr>
        </p:sp>
        <p:sp>
          <p:nvSpPr>
            <p:cNvPr name="TextBox 4" id="4"/>
            <p:cNvSpPr txBox="true"/>
            <p:nvPr/>
          </p:nvSpPr>
          <p:spPr>
            <a:xfrm>
              <a:off x="0" y="-47625"/>
              <a:ext cx="22183344" cy="569503"/>
            </a:xfrm>
            <a:prstGeom prst="rect">
              <a:avLst/>
            </a:prstGeom>
          </p:spPr>
          <p:txBody>
            <a:bodyPr anchor="ctr" rtlCol="false" tIns="0" lIns="0" bIns="0" rIns="0"/>
            <a:lstStyle/>
            <a:p>
              <a:pPr algn="l">
                <a:lnSpc>
                  <a:spcPts val="2339"/>
                </a:lnSpc>
              </a:pPr>
              <a:r>
                <a:rPr lang="en-US" b="true" sz="1949" spc="425">
                  <a:solidFill>
                    <a:srgbClr val="1A5B6E"/>
                  </a:solidFill>
                  <a:latin typeface="Calibri (MS) Bold"/>
                  <a:ea typeface="Calibri (MS) Bold"/>
                  <a:cs typeface="Calibri (MS) Bold"/>
                  <a:sym typeface="Calibri (MS) Bold"/>
                </a:rPr>
                <a:t>INTRODUCTION</a:t>
              </a:r>
            </a:p>
          </p:txBody>
        </p:sp>
      </p:grpSp>
      <p:grpSp>
        <p:nvGrpSpPr>
          <p:cNvPr name="Group 5" id="5"/>
          <p:cNvGrpSpPr/>
          <p:nvPr/>
        </p:nvGrpSpPr>
        <p:grpSpPr>
          <a:xfrm rot="0">
            <a:off x="822960" y="960120"/>
            <a:ext cx="16637508" cy="850392"/>
            <a:chOff x="0" y="0"/>
            <a:chExt cx="22183344" cy="1133856"/>
          </a:xfrm>
        </p:grpSpPr>
        <p:sp>
          <p:nvSpPr>
            <p:cNvPr name="Freeform 6" id="6"/>
            <p:cNvSpPr/>
            <p:nvPr/>
          </p:nvSpPr>
          <p:spPr>
            <a:xfrm flipH="false" flipV="false" rot="0">
              <a:off x="0" y="0"/>
              <a:ext cx="22183344" cy="1133856"/>
            </a:xfrm>
            <a:custGeom>
              <a:avLst/>
              <a:gdLst/>
              <a:ahLst/>
              <a:cxnLst/>
              <a:rect r="r" b="b" t="t" l="l"/>
              <a:pathLst>
                <a:path h="1133856" w="22183344">
                  <a:moveTo>
                    <a:pt x="0" y="0"/>
                  </a:moveTo>
                  <a:lnTo>
                    <a:pt x="22183344" y="0"/>
                  </a:lnTo>
                  <a:lnTo>
                    <a:pt x="22183344" y="1133856"/>
                  </a:lnTo>
                  <a:lnTo>
                    <a:pt x="0" y="1133856"/>
                  </a:lnTo>
                  <a:close/>
                </a:path>
              </a:pathLst>
            </a:custGeom>
            <a:blipFill>
              <a:blip r:embed="rId3">
                <a:alphaModFix amt="0"/>
              </a:blip>
              <a:stretch>
                <a:fillRect l="0" t="-331215" r="0" b="-331215"/>
              </a:stretch>
            </a:blipFill>
          </p:spPr>
        </p:sp>
        <p:sp>
          <p:nvSpPr>
            <p:cNvPr name="TextBox 7" id="7"/>
            <p:cNvSpPr txBox="true"/>
            <p:nvPr/>
          </p:nvSpPr>
          <p:spPr>
            <a:xfrm>
              <a:off x="0" y="-9525"/>
              <a:ext cx="22183344" cy="1143381"/>
            </a:xfrm>
            <a:prstGeom prst="rect">
              <a:avLst/>
            </a:prstGeom>
          </p:spPr>
          <p:txBody>
            <a:bodyPr anchor="ctr" rtlCol="false" tIns="0" lIns="0" bIns="0" rIns="0"/>
            <a:lstStyle/>
            <a:p>
              <a:pPr algn="l">
                <a:lnSpc>
                  <a:spcPts val="5220"/>
                </a:lnSpc>
              </a:pPr>
              <a:r>
                <a:rPr lang="en-US" sz="4350" b="true">
                  <a:solidFill>
                    <a:srgbClr val="1B2A33"/>
                  </a:solidFill>
                  <a:latin typeface="Cambria Bold"/>
                  <a:ea typeface="Cambria Bold"/>
                  <a:cs typeface="Cambria Bold"/>
                  <a:sym typeface="Cambria Bold"/>
                </a:rPr>
                <a:t>Why On-Board Battery Prognostics Matters</a:t>
              </a:r>
            </a:p>
          </p:txBody>
        </p:sp>
      </p:grpSp>
      <p:grpSp>
        <p:nvGrpSpPr>
          <p:cNvPr name="Group 8" id="8"/>
          <p:cNvGrpSpPr/>
          <p:nvPr/>
        </p:nvGrpSpPr>
        <p:grpSpPr>
          <a:xfrm rot="0">
            <a:off x="820293" y="2102739"/>
            <a:ext cx="8042910" cy="7288530"/>
            <a:chOff x="0" y="0"/>
            <a:chExt cx="10723880" cy="9718040"/>
          </a:xfrm>
        </p:grpSpPr>
        <p:sp>
          <p:nvSpPr>
            <p:cNvPr name="Freeform 9" id="9"/>
            <p:cNvSpPr/>
            <p:nvPr/>
          </p:nvSpPr>
          <p:spPr>
            <a:xfrm flipH="false" flipV="false" rot="0">
              <a:off x="0" y="0"/>
              <a:ext cx="10723880" cy="9718040"/>
            </a:xfrm>
            <a:custGeom>
              <a:avLst/>
              <a:gdLst/>
              <a:ahLst/>
              <a:cxnLst/>
              <a:rect r="r" b="b" t="t" l="l"/>
              <a:pathLst>
                <a:path h="9718040" w="10723880">
                  <a:moveTo>
                    <a:pt x="0" y="128397"/>
                  </a:moveTo>
                  <a:cubicBezTo>
                    <a:pt x="0" y="57531"/>
                    <a:pt x="57531" y="0"/>
                    <a:pt x="128397" y="0"/>
                  </a:cubicBezTo>
                  <a:lnTo>
                    <a:pt x="10595483" y="0"/>
                  </a:lnTo>
                  <a:cubicBezTo>
                    <a:pt x="10666349" y="0"/>
                    <a:pt x="10723880" y="57531"/>
                    <a:pt x="10723880" y="128397"/>
                  </a:cubicBezTo>
                  <a:lnTo>
                    <a:pt x="10723880" y="9589643"/>
                  </a:lnTo>
                  <a:cubicBezTo>
                    <a:pt x="10723880" y="9660510"/>
                    <a:pt x="10666349" y="9718040"/>
                    <a:pt x="10595483" y="9718040"/>
                  </a:cubicBezTo>
                  <a:lnTo>
                    <a:pt x="128397" y="9718040"/>
                  </a:lnTo>
                  <a:cubicBezTo>
                    <a:pt x="57531" y="9718040"/>
                    <a:pt x="0" y="9660509"/>
                    <a:pt x="0" y="9589643"/>
                  </a:cubicBezTo>
                  <a:close/>
                </a:path>
              </a:pathLst>
            </a:custGeom>
            <a:solidFill>
              <a:srgbClr val="FFFFFF"/>
            </a:solidFill>
            <a:ln w="19050" cap="sq">
              <a:solidFill>
                <a:srgbClr val="CFDBDC"/>
              </a:solidFill>
              <a:prstDash val="solid"/>
              <a:miter/>
            </a:ln>
          </p:spPr>
        </p:sp>
      </p:grpSp>
      <p:grpSp>
        <p:nvGrpSpPr>
          <p:cNvPr name="Group 10" id="10"/>
          <p:cNvGrpSpPr/>
          <p:nvPr/>
        </p:nvGrpSpPr>
        <p:grpSpPr>
          <a:xfrm rot="0">
            <a:off x="1207008" y="2441448"/>
            <a:ext cx="7269480" cy="411480"/>
            <a:chOff x="0" y="0"/>
            <a:chExt cx="9692640" cy="548640"/>
          </a:xfrm>
        </p:grpSpPr>
        <p:sp>
          <p:nvSpPr>
            <p:cNvPr name="Freeform 11" id="11"/>
            <p:cNvSpPr/>
            <p:nvPr/>
          </p:nvSpPr>
          <p:spPr>
            <a:xfrm flipH="false" flipV="false" rot="0">
              <a:off x="0" y="0"/>
              <a:ext cx="9692640" cy="548640"/>
            </a:xfrm>
            <a:custGeom>
              <a:avLst/>
              <a:gdLst/>
              <a:ahLst/>
              <a:cxnLst/>
              <a:rect r="r" b="b" t="t" l="l"/>
              <a:pathLst>
                <a:path h="548640" w="9692640">
                  <a:moveTo>
                    <a:pt x="0" y="0"/>
                  </a:moveTo>
                  <a:lnTo>
                    <a:pt x="9692640" y="0"/>
                  </a:lnTo>
                  <a:lnTo>
                    <a:pt x="9692640" y="548640"/>
                  </a:lnTo>
                  <a:lnTo>
                    <a:pt x="0" y="548640"/>
                  </a:lnTo>
                  <a:close/>
                </a:path>
              </a:pathLst>
            </a:custGeom>
            <a:blipFill>
              <a:blip r:embed="rId3">
                <a:alphaModFix amt="0"/>
              </a:blip>
              <a:stretch>
                <a:fillRect l="0" t="-294235" r="0" b="-294235"/>
              </a:stretch>
            </a:blipFill>
          </p:spPr>
        </p:sp>
        <p:sp>
          <p:nvSpPr>
            <p:cNvPr name="TextBox 12" id="12"/>
            <p:cNvSpPr txBox="true"/>
            <p:nvPr/>
          </p:nvSpPr>
          <p:spPr>
            <a:xfrm>
              <a:off x="0" y="-47625"/>
              <a:ext cx="9692640" cy="596265"/>
            </a:xfrm>
            <a:prstGeom prst="rect">
              <a:avLst/>
            </a:prstGeom>
          </p:spPr>
          <p:txBody>
            <a:bodyPr anchor="ctr" rtlCol="false" tIns="0" lIns="0" bIns="0" rIns="0"/>
            <a:lstStyle/>
            <a:p>
              <a:pPr algn="l">
                <a:lnSpc>
                  <a:spcPts val="2340"/>
                </a:lnSpc>
              </a:pPr>
              <a:r>
                <a:rPr lang="en-US" sz="1950" b="true">
                  <a:solidFill>
                    <a:srgbClr val="1A5B6E"/>
                  </a:solidFill>
                  <a:latin typeface="Calibri (MS) Bold"/>
                  <a:ea typeface="Calibri (MS) Bold"/>
                  <a:cs typeface="Calibri (MS) Bold"/>
                  <a:sym typeface="Calibri (MS) Bold"/>
                </a:rPr>
                <a:t>Two numbers every EV must know</a:t>
              </a:r>
            </a:p>
          </p:txBody>
        </p:sp>
      </p:grpSp>
      <p:grpSp>
        <p:nvGrpSpPr>
          <p:cNvPr name="Group 13" id="13"/>
          <p:cNvGrpSpPr/>
          <p:nvPr/>
        </p:nvGrpSpPr>
        <p:grpSpPr>
          <a:xfrm rot="0">
            <a:off x="1207008" y="2783205"/>
            <a:ext cx="7269480" cy="987552"/>
            <a:chOff x="0" y="0"/>
            <a:chExt cx="9692640" cy="1316736"/>
          </a:xfrm>
        </p:grpSpPr>
        <p:sp>
          <p:nvSpPr>
            <p:cNvPr name="Freeform 14" id="14"/>
            <p:cNvSpPr/>
            <p:nvPr/>
          </p:nvSpPr>
          <p:spPr>
            <a:xfrm flipH="false" flipV="false" rot="0">
              <a:off x="0" y="0"/>
              <a:ext cx="9692640" cy="1316736"/>
            </a:xfrm>
            <a:custGeom>
              <a:avLst/>
              <a:gdLst/>
              <a:ahLst/>
              <a:cxnLst/>
              <a:rect r="r" b="b" t="t" l="l"/>
              <a:pathLst>
                <a:path h="1316736" w="9692640">
                  <a:moveTo>
                    <a:pt x="0" y="0"/>
                  </a:moveTo>
                  <a:lnTo>
                    <a:pt x="9692640" y="0"/>
                  </a:lnTo>
                  <a:lnTo>
                    <a:pt x="9692640" y="1316736"/>
                  </a:lnTo>
                  <a:lnTo>
                    <a:pt x="0" y="1316736"/>
                  </a:lnTo>
                  <a:close/>
                </a:path>
              </a:pathLst>
            </a:custGeom>
            <a:blipFill>
              <a:blip r:embed="rId3">
                <a:alphaModFix amt="0"/>
              </a:blip>
              <a:stretch>
                <a:fillRect l="0" t="-93431" r="0" b="-93431"/>
              </a:stretch>
            </a:blipFill>
          </p:spPr>
        </p:sp>
        <p:sp>
          <p:nvSpPr>
            <p:cNvPr name="TextBox 15" id="15"/>
            <p:cNvSpPr txBox="true"/>
            <p:nvPr/>
          </p:nvSpPr>
          <p:spPr>
            <a:xfrm>
              <a:off x="0" y="-47625"/>
              <a:ext cx="9692640" cy="1364361"/>
            </a:xfrm>
            <a:prstGeom prst="rect">
              <a:avLst/>
            </a:prstGeom>
          </p:spPr>
          <p:txBody>
            <a:bodyPr anchor="ctr" rtlCol="false" tIns="0" lIns="0" bIns="0" rIns="0"/>
            <a:lstStyle/>
            <a:p>
              <a:pPr algn="l">
                <a:lnSpc>
                  <a:spcPts val="2299"/>
                </a:lnSpc>
              </a:pPr>
              <a:r>
                <a:rPr lang="en-US" sz="1824">
                  <a:solidFill>
                    <a:srgbClr val="39454E"/>
                  </a:solidFill>
                  <a:latin typeface="Calibri (MS)"/>
                  <a:ea typeface="Calibri (MS)"/>
                  <a:cs typeface="Calibri (MS)"/>
                  <a:sym typeface="Calibri (MS)"/>
                </a:rPr>
                <a:t>State of Health — today's capacity vs. rated. Remaining Useful Life — cycles left until end-of-life (SOH ≤ 80%).</a:t>
              </a:r>
            </a:p>
          </p:txBody>
        </p:sp>
      </p:grpSp>
      <p:grpSp>
        <p:nvGrpSpPr>
          <p:cNvPr name="Group 16" id="16"/>
          <p:cNvGrpSpPr/>
          <p:nvPr/>
        </p:nvGrpSpPr>
        <p:grpSpPr>
          <a:xfrm rot="0">
            <a:off x="1207008" y="4142232"/>
            <a:ext cx="7269480" cy="411480"/>
            <a:chOff x="0" y="0"/>
            <a:chExt cx="9692640" cy="548640"/>
          </a:xfrm>
        </p:grpSpPr>
        <p:sp>
          <p:nvSpPr>
            <p:cNvPr name="Freeform 17" id="17"/>
            <p:cNvSpPr/>
            <p:nvPr/>
          </p:nvSpPr>
          <p:spPr>
            <a:xfrm flipH="false" flipV="false" rot="0">
              <a:off x="0" y="0"/>
              <a:ext cx="9692640" cy="548640"/>
            </a:xfrm>
            <a:custGeom>
              <a:avLst/>
              <a:gdLst/>
              <a:ahLst/>
              <a:cxnLst/>
              <a:rect r="r" b="b" t="t" l="l"/>
              <a:pathLst>
                <a:path h="548640" w="9692640">
                  <a:moveTo>
                    <a:pt x="0" y="0"/>
                  </a:moveTo>
                  <a:lnTo>
                    <a:pt x="9692640" y="0"/>
                  </a:lnTo>
                  <a:lnTo>
                    <a:pt x="9692640" y="548640"/>
                  </a:lnTo>
                  <a:lnTo>
                    <a:pt x="0" y="548640"/>
                  </a:lnTo>
                  <a:close/>
                </a:path>
              </a:pathLst>
            </a:custGeom>
            <a:blipFill>
              <a:blip r:embed="rId3">
                <a:alphaModFix amt="0"/>
              </a:blip>
              <a:stretch>
                <a:fillRect l="0" t="-294235" r="0" b="-294235"/>
              </a:stretch>
            </a:blipFill>
          </p:spPr>
        </p:sp>
        <p:sp>
          <p:nvSpPr>
            <p:cNvPr name="TextBox 18" id="18"/>
            <p:cNvSpPr txBox="true"/>
            <p:nvPr/>
          </p:nvSpPr>
          <p:spPr>
            <a:xfrm>
              <a:off x="0" y="-47625"/>
              <a:ext cx="9692640" cy="596265"/>
            </a:xfrm>
            <a:prstGeom prst="rect">
              <a:avLst/>
            </a:prstGeom>
          </p:spPr>
          <p:txBody>
            <a:bodyPr anchor="ctr" rtlCol="false" tIns="0" lIns="0" bIns="0" rIns="0"/>
            <a:lstStyle/>
            <a:p>
              <a:pPr algn="l">
                <a:lnSpc>
                  <a:spcPts val="2340"/>
                </a:lnSpc>
              </a:pPr>
              <a:r>
                <a:rPr lang="en-US" sz="1950" b="true">
                  <a:solidFill>
                    <a:srgbClr val="1A5B6E"/>
                  </a:solidFill>
                  <a:latin typeface="Calibri (MS) Bold"/>
                  <a:ea typeface="Calibri (MS) Bold"/>
                  <a:cs typeface="Calibri (MS) Bold"/>
                  <a:sym typeface="Calibri (MS) Bold"/>
                </a:rPr>
                <a:t>Over-estimating RUL is a safety risk</a:t>
              </a:r>
            </a:p>
          </p:txBody>
        </p:sp>
      </p:grpSp>
      <p:grpSp>
        <p:nvGrpSpPr>
          <p:cNvPr name="Group 19" id="19"/>
          <p:cNvGrpSpPr/>
          <p:nvPr/>
        </p:nvGrpSpPr>
        <p:grpSpPr>
          <a:xfrm rot="0">
            <a:off x="1207008" y="4485132"/>
            <a:ext cx="7269480" cy="987552"/>
            <a:chOff x="0" y="0"/>
            <a:chExt cx="9692640" cy="1316736"/>
          </a:xfrm>
        </p:grpSpPr>
        <p:sp>
          <p:nvSpPr>
            <p:cNvPr name="Freeform 20" id="20"/>
            <p:cNvSpPr/>
            <p:nvPr/>
          </p:nvSpPr>
          <p:spPr>
            <a:xfrm flipH="false" flipV="false" rot="0">
              <a:off x="0" y="0"/>
              <a:ext cx="9692640" cy="1316736"/>
            </a:xfrm>
            <a:custGeom>
              <a:avLst/>
              <a:gdLst/>
              <a:ahLst/>
              <a:cxnLst/>
              <a:rect r="r" b="b" t="t" l="l"/>
              <a:pathLst>
                <a:path h="1316736" w="9692640">
                  <a:moveTo>
                    <a:pt x="0" y="0"/>
                  </a:moveTo>
                  <a:lnTo>
                    <a:pt x="9692640" y="0"/>
                  </a:lnTo>
                  <a:lnTo>
                    <a:pt x="9692640" y="1316736"/>
                  </a:lnTo>
                  <a:lnTo>
                    <a:pt x="0" y="1316736"/>
                  </a:lnTo>
                  <a:close/>
                </a:path>
              </a:pathLst>
            </a:custGeom>
            <a:blipFill>
              <a:blip r:embed="rId3">
                <a:alphaModFix amt="0"/>
              </a:blip>
              <a:stretch>
                <a:fillRect l="0" t="-93431" r="0" b="-93431"/>
              </a:stretch>
            </a:blipFill>
          </p:spPr>
        </p:sp>
        <p:sp>
          <p:nvSpPr>
            <p:cNvPr name="TextBox 21" id="21"/>
            <p:cNvSpPr txBox="true"/>
            <p:nvPr/>
          </p:nvSpPr>
          <p:spPr>
            <a:xfrm>
              <a:off x="0" y="-47625"/>
              <a:ext cx="9692640" cy="1364361"/>
            </a:xfrm>
            <a:prstGeom prst="rect">
              <a:avLst/>
            </a:prstGeom>
          </p:spPr>
          <p:txBody>
            <a:bodyPr anchor="ctr" rtlCol="false" tIns="0" lIns="0" bIns="0" rIns="0"/>
            <a:lstStyle/>
            <a:p>
              <a:pPr algn="l">
                <a:lnSpc>
                  <a:spcPts val="2299"/>
                </a:lnSpc>
              </a:pPr>
              <a:r>
                <a:rPr lang="en-US" sz="1824">
                  <a:solidFill>
                    <a:srgbClr val="39454E"/>
                  </a:solidFill>
                  <a:latin typeface="Calibri (MS)"/>
                  <a:ea typeface="Calibri (MS)"/>
                  <a:cs typeface="Calibri (MS)"/>
                  <a:sym typeface="Calibri (MS)"/>
                </a:rPr>
                <a:t>Charging a degraded cell too hard can cause lithium plating, internal shorts and thermal runaway.</a:t>
              </a:r>
            </a:p>
          </p:txBody>
        </p:sp>
      </p:grpSp>
      <p:grpSp>
        <p:nvGrpSpPr>
          <p:cNvPr name="Group 22" id="22"/>
          <p:cNvGrpSpPr/>
          <p:nvPr/>
        </p:nvGrpSpPr>
        <p:grpSpPr>
          <a:xfrm rot="0">
            <a:off x="1207008" y="5843016"/>
            <a:ext cx="7269480" cy="411480"/>
            <a:chOff x="0" y="0"/>
            <a:chExt cx="9692640" cy="548640"/>
          </a:xfrm>
        </p:grpSpPr>
        <p:sp>
          <p:nvSpPr>
            <p:cNvPr name="Freeform 23" id="23"/>
            <p:cNvSpPr/>
            <p:nvPr/>
          </p:nvSpPr>
          <p:spPr>
            <a:xfrm flipH="false" flipV="false" rot="0">
              <a:off x="0" y="0"/>
              <a:ext cx="9692640" cy="548640"/>
            </a:xfrm>
            <a:custGeom>
              <a:avLst/>
              <a:gdLst/>
              <a:ahLst/>
              <a:cxnLst/>
              <a:rect r="r" b="b" t="t" l="l"/>
              <a:pathLst>
                <a:path h="548640" w="9692640">
                  <a:moveTo>
                    <a:pt x="0" y="0"/>
                  </a:moveTo>
                  <a:lnTo>
                    <a:pt x="9692640" y="0"/>
                  </a:lnTo>
                  <a:lnTo>
                    <a:pt x="9692640" y="548640"/>
                  </a:lnTo>
                  <a:lnTo>
                    <a:pt x="0" y="548640"/>
                  </a:lnTo>
                  <a:close/>
                </a:path>
              </a:pathLst>
            </a:custGeom>
            <a:blipFill>
              <a:blip r:embed="rId3">
                <a:alphaModFix amt="0"/>
              </a:blip>
              <a:stretch>
                <a:fillRect l="0" t="-294235" r="0" b="-294235"/>
              </a:stretch>
            </a:blipFill>
          </p:spPr>
        </p:sp>
        <p:sp>
          <p:nvSpPr>
            <p:cNvPr name="TextBox 24" id="24"/>
            <p:cNvSpPr txBox="true"/>
            <p:nvPr/>
          </p:nvSpPr>
          <p:spPr>
            <a:xfrm>
              <a:off x="0" y="-47625"/>
              <a:ext cx="9692640" cy="596265"/>
            </a:xfrm>
            <a:prstGeom prst="rect">
              <a:avLst/>
            </a:prstGeom>
          </p:spPr>
          <p:txBody>
            <a:bodyPr anchor="ctr" rtlCol="false" tIns="0" lIns="0" bIns="0" rIns="0"/>
            <a:lstStyle/>
            <a:p>
              <a:pPr algn="l">
                <a:lnSpc>
                  <a:spcPts val="2340"/>
                </a:lnSpc>
              </a:pPr>
              <a:r>
                <a:rPr lang="en-US" sz="1950" b="true">
                  <a:solidFill>
                    <a:srgbClr val="1A5B6E"/>
                  </a:solidFill>
                  <a:latin typeface="Calibri (MS) Bold"/>
                  <a:ea typeface="Calibri (MS) Bold"/>
                  <a:cs typeface="Calibri (MS) Bold"/>
                  <a:sym typeface="Calibri (MS) Bold"/>
                </a:rPr>
                <a:t>Under-estimating RUL wastes money</a:t>
              </a:r>
            </a:p>
          </p:txBody>
        </p:sp>
      </p:grpSp>
      <p:grpSp>
        <p:nvGrpSpPr>
          <p:cNvPr name="Group 25" id="25"/>
          <p:cNvGrpSpPr/>
          <p:nvPr/>
        </p:nvGrpSpPr>
        <p:grpSpPr>
          <a:xfrm rot="0">
            <a:off x="1207008" y="6183630"/>
            <a:ext cx="7269480" cy="987552"/>
            <a:chOff x="0" y="0"/>
            <a:chExt cx="9692640" cy="1316736"/>
          </a:xfrm>
        </p:grpSpPr>
        <p:sp>
          <p:nvSpPr>
            <p:cNvPr name="Freeform 26" id="26"/>
            <p:cNvSpPr/>
            <p:nvPr/>
          </p:nvSpPr>
          <p:spPr>
            <a:xfrm flipH="false" flipV="false" rot="0">
              <a:off x="0" y="0"/>
              <a:ext cx="9692640" cy="1316736"/>
            </a:xfrm>
            <a:custGeom>
              <a:avLst/>
              <a:gdLst/>
              <a:ahLst/>
              <a:cxnLst/>
              <a:rect r="r" b="b" t="t" l="l"/>
              <a:pathLst>
                <a:path h="1316736" w="9692640">
                  <a:moveTo>
                    <a:pt x="0" y="0"/>
                  </a:moveTo>
                  <a:lnTo>
                    <a:pt x="9692640" y="0"/>
                  </a:lnTo>
                  <a:lnTo>
                    <a:pt x="9692640" y="1316736"/>
                  </a:lnTo>
                  <a:lnTo>
                    <a:pt x="0" y="1316736"/>
                  </a:lnTo>
                  <a:close/>
                </a:path>
              </a:pathLst>
            </a:custGeom>
            <a:blipFill>
              <a:blip r:embed="rId3">
                <a:alphaModFix amt="0"/>
              </a:blip>
              <a:stretch>
                <a:fillRect l="0" t="-93431" r="0" b="-93431"/>
              </a:stretch>
            </a:blipFill>
          </p:spPr>
        </p:sp>
        <p:sp>
          <p:nvSpPr>
            <p:cNvPr name="TextBox 27" id="27"/>
            <p:cNvSpPr txBox="true"/>
            <p:nvPr/>
          </p:nvSpPr>
          <p:spPr>
            <a:xfrm>
              <a:off x="0" y="-47625"/>
              <a:ext cx="9692640" cy="1364361"/>
            </a:xfrm>
            <a:prstGeom prst="rect">
              <a:avLst/>
            </a:prstGeom>
          </p:spPr>
          <p:txBody>
            <a:bodyPr anchor="ctr" rtlCol="false" tIns="0" lIns="0" bIns="0" rIns="0"/>
            <a:lstStyle/>
            <a:p>
              <a:pPr algn="l">
                <a:lnSpc>
                  <a:spcPts val="2299"/>
                </a:lnSpc>
              </a:pPr>
              <a:r>
                <a:rPr lang="en-US" sz="1824">
                  <a:solidFill>
                    <a:srgbClr val="39454E"/>
                  </a:solidFill>
                  <a:latin typeface="Calibri (MS)"/>
                  <a:ea typeface="Calibri (MS)"/>
                  <a:cs typeface="Calibri (MS)"/>
                  <a:sym typeface="Calibri (MS)"/>
                </a:rPr>
                <a:t>Healthy packs retired early raise ownership cost and waste lithium, cobalt and nickel.</a:t>
              </a:r>
            </a:p>
          </p:txBody>
        </p:sp>
      </p:grpSp>
      <p:grpSp>
        <p:nvGrpSpPr>
          <p:cNvPr name="Group 28" id="28"/>
          <p:cNvGrpSpPr/>
          <p:nvPr/>
        </p:nvGrpSpPr>
        <p:grpSpPr>
          <a:xfrm rot="0">
            <a:off x="1207008" y="7543800"/>
            <a:ext cx="7269480" cy="411480"/>
            <a:chOff x="0" y="0"/>
            <a:chExt cx="9692640" cy="548640"/>
          </a:xfrm>
        </p:grpSpPr>
        <p:sp>
          <p:nvSpPr>
            <p:cNvPr name="Freeform 29" id="29"/>
            <p:cNvSpPr/>
            <p:nvPr/>
          </p:nvSpPr>
          <p:spPr>
            <a:xfrm flipH="false" flipV="false" rot="0">
              <a:off x="0" y="0"/>
              <a:ext cx="9692640" cy="548640"/>
            </a:xfrm>
            <a:custGeom>
              <a:avLst/>
              <a:gdLst/>
              <a:ahLst/>
              <a:cxnLst/>
              <a:rect r="r" b="b" t="t" l="l"/>
              <a:pathLst>
                <a:path h="548640" w="9692640">
                  <a:moveTo>
                    <a:pt x="0" y="0"/>
                  </a:moveTo>
                  <a:lnTo>
                    <a:pt x="9692640" y="0"/>
                  </a:lnTo>
                  <a:lnTo>
                    <a:pt x="9692640" y="548640"/>
                  </a:lnTo>
                  <a:lnTo>
                    <a:pt x="0" y="548640"/>
                  </a:lnTo>
                  <a:close/>
                </a:path>
              </a:pathLst>
            </a:custGeom>
            <a:blipFill>
              <a:blip r:embed="rId3">
                <a:alphaModFix amt="0"/>
              </a:blip>
              <a:stretch>
                <a:fillRect l="0" t="-294235" r="0" b="-294235"/>
              </a:stretch>
            </a:blipFill>
          </p:spPr>
        </p:sp>
        <p:sp>
          <p:nvSpPr>
            <p:cNvPr name="TextBox 30" id="30"/>
            <p:cNvSpPr txBox="true"/>
            <p:nvPr/>
          </p:nvSpPr>
          <p:spPr>
            <a:xfrm>
              <a:off x="0" y="-47625"/>
              <a:ext cx="9692640" cy="596265"/>
            </a:xfrm>
            <a:prstGeom prst="rect">
              <a:avLst/>
            </a:prstGeom>
          </p:spPr>
          <p:txBody>
            <a:bodyPr anchor="ctr" rtlCol="false" tIns="0" lIns="0" bIns="0" rIns="0"/>
            <a:lstStyle/>
            <a:p>
              <a:pPr algn="l">
                <a:lnSpc>
                  <a:spcPts val="2340"/>
                </a:lnSpc>
              </a:pPr>
              <a:r>
                <a:rPr lang="en-US" sz="1950" b="true">
                  <a:solidFill>
                    <a:srgbClr val="1A5B6E"/>
                  </a:solidFill>
                  <a:latin typeface="Calibri (MS) Bold"/>
                  <a:ea typeface="Calibri (MS) Bold"/>
                  <a:cs typeface="Calibri (MS) Bold"/>
                  <a:sym typeface="Calibri (MS) Bold"/>
                </a:rPr>
                <a:t>One constraint shapes the design</a:t>
              </a:r>
            </a:p>
          </p:txBody>
        </p:sp>
      </p:grpSp>
      <p:grpSp>
        <p:nvGrpSpPr>
          <p:cNvPr name="Group 31" id="31"/>
          <p:cNvGrpSpPr/>
          <p:nvPr/>
        </p:nvGrpSpPr>
        <p:grpSpPr>
          <a:xfrm rot="0">
            <a:off x="1207008" y="7884414"/>
            <a:ext cx="7269480" cy="987552"/>
            <a:chOff x="0" y="0"/>
            <a:chExt cx="9692640" cy="1316736"/>
          </a:xfrm>
        </p:grpSpPr>
        <p:sp>
          <p:nvSpPr>
            <p:cNvPr name="Freeform 32" id="32"/>
            <p:cNvSpPr/>
            <p:nvPr/>
          </p:nvSpPr>
          <p:spPr>
            <a:xfrm flipH="false" flipV="false" rot="0">
              <a:off x="0" y="0"/>
              <a:ext cx="9692640" cy="1316736"/>
            </a:xfrm>
            <a:custGeom>
              <a:avLst/>
              <a:gdLst/>
              <a:ahLst/>
              <a:cxnLst/>
              <a:rect r="r" b="b" t="t" l="l"/>
              <a:pathLst>
                <a:path h="1316736" w="9692640">
                  <a:moveTo>
                    <a:pt x="0" y="0"/>
                  </a:moveTo>
                  <a:lnTo>
                    <a:pt x="9692640" y="0"/>
                  </a:lnTo>
                  <a:lnTo>
                    <a:pt x="9692640" y="1316736"/>
                  </a:lnTo>
                  <a:lnTo>
                    <a:pt x="0" y="1316736"/>
                  </a:lnTo>
                  <a:close/>
                </a:path>
              </a:pathLst>
            </a:custGeom>
            <a:blipFill>
              <a:blip r:embed="rId3">
                <a:alphaModFix amt="0"/>
              </a:blip>
              <a:stretch>
                <a:fillRect l="0" t="-93431" r="0" b="-93431"/>
              </a:stretch>
            </a:blipFill>
          </p:spPr>
        </p:sp>
        <p:sp>
          <p:nvSpPr>
            <p:cNvPr name="TextBox 33" id="33"/>
            <p:cNvSpPr txBox="true"/>
            <p:nvPr/>
          </p:nvSpPr>
          <p:spPr>
            <a:xfrm>
              <a:off x="0" y="-47625"/>
              <a:ext cx="9692640" cy="1364361"/>
            </a:xfrm>
            <a:prstGeom prst="rect">
              <a:avLst/>
            </a:prstGeom>
          </p:spPr>
          <p:txBody>
            <a:bodyPr anchor="ctr" rtlCol="false" tIns="0" lIns="0" bIns="0" rIns="0"/>
            <a:lstStyle/>
            <a:p>
              <a:pPr algn="l">
                <a:lnSpc>
                  <a:spcPts val="2299"/>
                </a:lnSpc>
              </a:pPr>
              <a:r>
                <a:rPr lang="en-US" sz="1824">
                  <a:solidFill>
                    <a:srgbClr val="39454E"/>
                  </a:solidFill>
                  <a:latin typeface="Calibri (MS)"/>
                  <a:ea typeface="Calibri (MS)"/>
                  <a:cs typeface="Calibri (MS)"/>
                  <a:sym typeface="Calibri (MS)"/>
                </a:rPr>
                <a:t>Train offline on a server, but run on-board a small BMS microcontroller (Cortex-M4 class).</a:t>
              </a:r>
            </a:p>
          </p:txBody>
        </p:sp>
      </p:grpSp>
      <p:grpSp>
        <p:nvGrpSpPr>
          <p:cNvPr name="Group 34" id="34"/>
          <p:cNvGrpSpPr/>
          <p:nvPr/>
        </p:nvGrpSpPr>
        <p:grpSpPr>
          <a:xfrm rot="0">
            <a:off x="9180195" y="2116455"/>
            <a:ext cx="8289798" cy="4819650"/>
            <a:chOff x="0" y="0"/>
            <a:chExt cx="11053064" cy="6426200"/>
          </a:xfrm>
        </p:grpSpPr>
        <p:sp>
          <p:nvSpPr>
            <p:cNvPr name="Freeform 35" id="35"/>
            <p:cNvSpPr/>
            <p:nvPr/>
          </p:nvSpPr>
          <p:spPr>
            <a:xfrm flipH="false" flipV="false" rot="0">
              <a:off x="0" y="0"/>
              <a:ext cx="11053064" cy="6426200"/>
            </a:xfrm>
            <a:custGeom>
              <a:avLst/>
              <a:gdLst/>
              <a:ahLst/>
              <a:cxnLst/>
              <a:rect r="r" b="b" t="t" l="l"/>
              <a:pathLst>
                <a:path h="6426200" w="11053064">
                  <a:moveTo>
                    <a:pt x="0" y="128524"/>
                  </a:moveTo>
                  <a:cubicBezTo>
                    <a:pt x="0" y="57531"/>
                    <a:pt x="57531" y="0"/>
                    <a:pt x="128524" y="0"/>
                  </a:cubicBezTo>
                  <a:lnTo>
                    <a:pt x="10924540" y="0"/>
                  </a:lnTo>
                  <a:cubicBezTo>
                    <a:pt x="10995533" y="0"/>
                    <a:pt x="11053064" y="57531"/>
                    <a:pt x="11053064" y="128524"/>
                  </a:cubicBezTo>
                  <a:lnTo>
                    <a:pt x="11053064" y="6297676"/>
                  </a:lnTo>
                  <a:cubicBezTo>
                    <a:pt x="11053064" y="6368669"/>
                    <a:pt x="10995533" y="6426200"/>
                    <a:pt x="10924540" y="6426200"/>
                  </a:cubicBezTo>
                  <a:lnTo>
                    <a:pt x="128524" y="6426200"/>
                  </a:lnTo>
                  <a:cubicBezTo>
                    <a:pt x="57531" y="6426200"/>
                    <a:pt x="0" y="6368669"/>
                    <a:pt x="0" y="6297676"/>
                  </a:cubicBezTo>
                  <a:close/>
                </a:path>
              </a:pathLst>
            </a:custGeom>
            <a:solidFill>
              <a:srgbClr val="FFFFFF"/>
            </a:solidFill>
            <a:ln w="19050" cap="sq">
              <a:solidFill>
                <a:srgbClr val="CFDBDC"/>
              </a:solidFill>
              <a:prstDash val="solid"/>
              <a:miter/>
            </a:ln>
          </p:spPr>
        </p:sp>
      </p:grpSp>
      <p:grpSp>
        <p:nvGrpSpPr>
          <p:cNvPr name="Group 36" id="36"/>
          <p:cNvGrpSpPr/>
          <p:nvPr/>
        </p:nvGrpSpPr>
        <p:grpSpPr>
          <a:xfrm rot="0">
            <a:off x="9409176" y="2442316"/>
            <a:ext cx="7735824" cy="4220307"/>
            <a:chOff x="0" y="0"/>
            <a:chExt cx="10442448" cy="5696915"/>
          </a:xfrm>
        </p:grpSpPr>
        <p:sp>
          <p:nvSpPr>
            <p:cNvPr name="Freeform 37" id="37" descr="/tmp/figs/fig1_1.jpg"/>
            <p:cNvSpPr/>
            <p:nvPr/>
          </p:nvSpPr>
          <p:spPr>
            <a:xfrm flipH="false" flipV="false" rot="0">
              <a:off x="0" y="0"/>
              <a:ext cx="10442448" cy="5696966"/>
            </a:xfrm>
            <a:custGeom>
              <a:avLst/>
              <a:gdLst/>
              <a:ahLst/>
              <a:cxnLst/>
              <a:rect r="r" b="b" t="t" l="l"/>
              <a:pathLst>
                <a:path h="5696966" w="10442448">
                  <a:moveTo>
                    <a:pt x="0" y="0"/>
                  </a:moveTo>
                  <a:lnTo>
                    <a:pt x="10442448" y="0"/>
                  </a:lnTo>
                  <a:lnTo>
                    <a:pt x="10442448" y="5696966"/>
                  </a:lnTo>
                  <a:lnTo>
                    <a:pt x="0" y="5696966"/>
                  </a:lnTo>
                  <a:lnTo>
                    <a:pt x="0" y="0"/>
                  </a:lnTo>
                  <a:close/>
                </a:path>
              </a:pathLst>
            </a:custGeom>
            <a:blipFill>
              <a:blip r:embed="rId4"/>
              <a:stretch>
                <a:fillRect l="-9" t="0" r="-9" b="0"/>
              </a:stretch>
            </a:blipFill>
          </p:spPr>
        </p:sp>
      </p:grpSp>
      <p:grpSp>
        <p:nvGrpSpPr>
          <p:cNvPr name="Group 38" id="38"/>
          <p:cNvGrpSpPr/>
          <p:nvPr/>
        </p:nvGrpSpPr>
        <p:grpSpPr>
          <a:xfrm rot="0">
            <a:off x="9189720" y="7008876"/>
            <a:ext cx="8270748" cy="685800"/>
            <a:chOff x="0" y="0"/>
            <a:chExt cx="11027664" cy="914400"/>
          </a:xfrm>
        </p:grpSpPr>
        <p:sp>
          <p:nvSpPr>
            <p:cNvPr name="Freeform 39" id="39"/>
            <p:cNvSpPr/>
            <p:nvPr/>
          </p:nvSpPr>
          <p:spPr>
            <a:xfrm flipH="false" flipV="false" rot="0">
              <a:off x="0" y="0"/>
              <a:ext cx="11027664" cy="914400"/>
            </a:xfrm>
            <a:custGeom>
              <a:avLst/>
              <a:gdLst/>
              <a:ahLst/>
              <a:cxnLst/>
              <a:rect r="r" b="b" t="t" l="l"/>
              <a:pathLst>
                <a:path h="914400" w="11027664">
                  <a:moveTo>
                    <a:pt x="0" y="0"/>
                  </a:moveTo>
                  <a:lnTo>
                    <a:pt x="11027664" y="0"/>
                  </a:lnTo>
                  <a:lnTo>
                    <a:pt x="11027664" y="914400"/>
                  </a:lnTo>
                  <a:lnTo>
                    <a:pt x="0" y="914400"/>
                  </a:lnTo>
                  <a:close/>
                </a:path>
              </a:pathLst>
            </a:custGeom>
            <a:blipFill>
              <a:blip r:embed="rId3">
                <a:alphaModFix amt="0"/>
              </a:blip>
              <a:stretch>
                <a:fillRect l="0" t="-184989" r="0" b="-184989"/>
              </a:stretch>
            </a:blipFill>
          </p:spPr>
        </p:sp>
        <p:sp>
          <p:nvSpPr>
            <p:cNvPr name="TextBox 40" id="40"/>
            <p:cNvSpPr txBox="true"/>
            <p:nvPr/>
          </p:nvSpPr>
          <p:spPr>
            <a:xfrm>
              <a:off x="0" y="-38100"/>
              <a:ext cx="11027664" cy="952500"/>
            </a:xfrm>
            <a:prstGeom prst="rect">
              <a:avLst/>
            </a:prstGeom>
          </p:spPr>
          <p:txBody>
            <a:bodyPr anchor="ctr" rtlCol="false" tIns="0" lIns="0" bIns="0" rIns="0"/>
            <a:lstStyle/>
            <a:p>
              <a:pPr algn="ctr">
                <a:lnSpc>
                  <a:spcPts val="1744"/>
                </a:lnSpc>
              </a:pPr>
              <a:r>
                <a:rPr lang="en-US" sz="1425" i="true">
                  <a:solidFill>
                    <a:srgbClr val="6E7A83"/>
                  </a:solidFill>
                  <a:latin typeface="Calibri (MS) Italics"/>
                  <a:ea typeface="Calibri (MS) Italics"/>
                  <a:cs typeface="Calibri (MS) Italics"/>
                  <a:sym typeface="Calibri (MS) Italics"/>
                </a:rPr>
                <a:t>Fig. 1.1 — Aging in two stages: linear fade from SEI growth (LLI), then an accelerated “knee-point” from loss of active material (LAM).</a:t>
              </a:r>
            </a:p>
          </p:txBody>
        </p:sp>
      </p:grpSp>
      <p:grpSp>
        <p:nvGrpSpPr>
          <p:cNvPr name="Group 41" id="41"/>
          <p:cNvGrpSpPr/>
          <p:nvPr/>
        </p:nvGrpSpPr>
        <p:grpSpPr>
          <a:xfrm rot="0">
            <a:off x="9180195" y="8014335"/>
            <a:ext cx="8289798" cy="1390650"/>
            <a:chOff x="0" y="0"/>
            <a:chExt cx="11053064" cy="1854200"/>
          </a:xfrm>
        </p:grpSpPr>
        <p:sp>
          <p:nvSpPr>
            <p:cNvPr name="Freeform 42" id="42"/>
            <p:cNvSpPr/>
            <p:nvPr/>
          </p:nvSpPr>
          <p:spPr>
            <a:xfrm flipH="false" flipV="false" rot="0">
              <a:off x="0" y="0"/>
              <a:ext cx="11053063" cy="1854200"/>
            </a:xfrm>
            <a:custGeom>
              <a:avLst/>
              <a:gdLst/>
              <a:ahLst/>
              <a:cxnLst/>
              <a:rect r="r" b="b" t="t" l="l"/>
              <a:pathLst>
                <a:path h="1854200" w="11053063">
                  <a:moveTo>
                    <a:pt x="0" y="129794"/>
                  </a:moveTo>
                  <a:cubicBezTo>
                    <a:pt x="0" y="58166"/>
                    <a:pt x="58166" y="0"/>
                    <a:pt x="129794" y="0"/>
                  </a:cubicBezTo>
                  <a:lnTo>
                    <a:pt x="10923270" y="0"/>
                  </a:lnTo>
                  <a:cubicBezTo>
                    <a:pt x="10994898" y="0"/>
                    <a:pt x="11053063" y="58166"/>
                    <a:pt x="11053063" y="129794"/>
                  </a:cubicBezTo>
                  <a:lnTo>
                    <a:pt x="11053063" y="1724406"/>
                  </a:lnTo>
                  <a:cubicBezTo>
                    <a:pt x="11053063" y="1796034"/>
                    <a:pt x="10994898" y="1854200"/>
                    <a:pt x="10923270" y="1854200"/>
                  </a:cubicBezTo>
                  <a:lnTo>
                    <a:pt x="129794" y="1854200"/>
                  </a:lnTo>
                  <a:cubicBezTo>
                    <a:pt x="58166" y="1854200"/>
                    <a:pt x="0" y="1796034"/>
                    <a:pt x="0" y="1724406"/>
                  </a:cubicBezTo>
                  <a:close/>
                </a:path>
              </a:pathLst>
            </a:custGeom>
            <a:solidFill>
              <a:srgbClr val="E0EBEC"/>
            </a:solidFill>
            <a:ln w="19050" cap="sq">
              <a:solidFill>
                <a:srgbClr val="CFDBDC"/>
              </a:solidFill>
              <a:prstDash val="solid"/>
              <a:miter/>
            </a:ln>
          </p:spPr>
        </p:sp>
      </p:grpSp>
      <p:grpSp>
        <p:nvGrpSpPr>
          <p:cNvPr name="Group 43" id="43"/>
          <p:cNvGrpSpPr/>
          <p:nvPr/>
        </p:nvGrpSpPr>
        <p:grpSpPr>
          <a:xfrm rot="0">
            <a:off x="9532620" y="8023860"/>
            <a:ext cx="7612380" cy="1371600"/>
            <a:chOff x="0" y="0"/>
            <a:chExt cx="10149840" cy="1828800"/>
          </a:xfrm>
        </p:grpSpPr>
        <p:sp>
          <p:nvSpPr>
            <p:cNvPr name="Freeform 44" id="44"/>
            <p:cNvSpPr/>
            <p:nvPr/>
          </p:nvSpPr>
          <p:spPr>
            <a:xfrm flipH="false" flipV="false" rot="0">
              <a:off x="0" y="0"/>
              <a:ext cx="10149840" cy="1828800"/>
            </a:xfrm>
            <a:custGeom>
              <a:avLst/>
              <a:gdLst/>
              <a:ahLst/>
              <a:cxnLst/>
              <a:rect r="r" b="b" t="t" l="l"/>
              <a:pathLst>
                <a:path h="1828800" w="10149840">
                  <a:moveTo>
                    <a:pt x="0" y="0"/>
                  </a:moveTo>
                  <a:lnTo>
                    <a:pt x="10149840" y="0"/>
                  </a:lnTo>
                  <a:lnTo>
                    <a:pt x="10149840" y="1828800"/>
                  </a:lnTo>
                  <a:lnTo>
                    <a:pt x="0" y="1828800"/>
                  </a:lnTo>
                  <a:close/>
                </a:path>
              </a:pathLst>
            </a:custGeom>
            <a:blipFill>
              <a:blip r:embed="rId3">
                <a:alphaModFix amt="0"/>
              </a:blip>
              <a:stretch>
                <a:fillRect l="0" t="-58141" r="0" b="-58141"/>
              </a:stretch>
            </a:blipFill>
          </p:spPr>
        </p:sp>
        <p:sp>
          <p:nvSpPr>
            <p:cNvPr name="TextBox 45" id="45"/>
            <p:cNvSpPr txBox="true"/>
            <p:nvPr/>
          </p:nvSpPr>
          <p:spPr>
            <a:xfrm>
              <a:off x="0" y="-47625"/>
              <a:ext cx="10149840" cy="1876425"/>
            </a:xfrm>
            <a:prstGeom prst="rect">
              <a:avLst/>
            </a:prstGeom>
          </p:spPr>
          <p:txBody>
            <a:bodyPr anchor="ctr" rtlCol="false" tIns="0" lIns="0" bIns="0" rIns="0"/>
            <a:lstStyle/>
            <a:p>
              <a:pPr algn="l">
                <a:lnSpc>
                  <a:spcPts val="2173"/>
                </a:lnSpc>
              </a:pPr>
              <a:r>
                <a:rPr lang="en-US" sz="1725" b="true">
                  <a:solidFill>
                    <a:srgbClr val="1B2A33"/>
                  </a:solidFill>
                  <a:latin typeface="Calibri (MS) Bold"/>
                  <a:ea typeface="Calibri (MS) Bold"/>
                  <a:cs typeface="Calibri (MS) Bold"/>
                  <a:sym typeface="Calibri (MS) Bold"/>
                </a:rPr>
                <a:t>The challenge.  </a:t>
              </a:r>
              <a:r>
                <a:rPr lang="en-US" sz="1725">
                  <a:solidFill>
                    <a:srgbClr val="39454E"/>
                  </a:solidFill>
                  <a:latin typeface="Calibri (MS)"/>
                  <a:ea typeface="Calibri (MS)"/>
                  <a:cs typeface="Calibri (MS)"/>
                  <a:sym typeface="Calibri (MS)"/>
                </a:rPr>
                <a:t>Capture this non-linear trajectory — including the knee — accurately, physically, and cheaply enough to fit on-board.</a:t>
              </a:r>
            </a:p>
          </p:txBody>
        </p:sp>
      </p:grpSp>
      <p:grpSp>
        <p:nvGrpSpPr>
          <p:cNvPr name="Group 46" id="46"/>
          <p:cNvGrpSpPr/>
          <p:nvPr/>
        </p:nvGrpSpPr>
        <p:grpSpPr>
          <a:xfrm rot="0">
            <a:off x="822960" y="9683496"/>
            <a:ext cx="8229600" cy="411480"/>
            <a:chOff x="0" y="0"/>
            <a:chExt cx="10972800" cy="548640"/>
          </a:xfrm>
        </p:grpSpPr>
        <p:sp>
          <p:nvSpPr>
            <p:cNvPr name="Freeform 47" id="47"/>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8" id="48"/>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6E7A83"/>
                  </a:solidFill>
                  <a:latin typeface="Calibri (MS)"/>
                  <a:ea typeface="Calibri (MS)"/>
                  <a:cs typeface="Calibri (MS)"/>
                  <a:sym typeface="Calibri (MS)"/>
                </a:rPr>
                <a:t>Rajat Sharma · CH24M559 · IIT Madras</a:t>
              </a:r>
            </a:p>
          </p:txBody>
        </p:sp>
      </p:grpSp>
      <p:grpSp>
        <p:nvGrpSpPr>
          <p:cNvPr name="Group 49" id="49"/>
          <p:cNvGrpSpPr/>
          <p:nvPr/>
        </p:nvGrpSpPr>
        <p:grpSpPr>
          <a:xfrm rot="0">
            <a:off x="16637508" y="9683496"/>
            <a:ext cx="822960" cy="411480"/>
            <a:chOff x="0" y="0"/>
            <a:chExt cx="1097280" cy="548640"/>
          </a:xfrm>
        </p:grpSpPr>
        <p:sp>
          <p:nvSpPr>
            <p:cNvPr name="Freeform 50" id="50"/>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3">
                <a:alphaModFix amt="0"/>
              </a:blip>
              <a:stretch>
                <a:fillRect l="-14151" t="0" r="-14151" b="0"/>
              </a:stretch>
            </a:blipFill>
          </p:spPr>
        </p:sp>
        <p:sp>
          <p:nvSpPr>
            <p:cNvPr name="TextBox 51" id="51"/>
            <p:cNvSpPr txBox="true"/>
            <p:nvPr/>
          </p:nvSpPr>
          <p:spPr>
            <a:xfrm>
              <a:off x="0" y="-38100"/>
              <a:ext cx="1097280" cy="586740"/>
            </a:xfrm>
            <a:prstGeom prst="rect">
              <a:avLst/>
            </a:prstGeom>
          </p:spPr>
          <p:txBody>
            <a:bodyPr anchor="ctr" rtlCol="false" tIns="0" lIns="0" bIns="0" rIns="0"/>
            <a:lstStyle/>
            <a:p>
              <a:pPr algn="r">
                <a:lnSpc>
                  <a:spcPts val="1709"/>
                </a:lnSpc>
              </a:pPr>
              <a:r>
                <a:rPr lang="en-US" sz="1425">
                  <a:solidFill>
                    <a:srgbClr val="6E7A83"/>
                  </a:solidFill>
                  <a:latin typeface="Calibri (MS)"/>
                  <a:ea typeface="Calibri (MS)"/>
                  <a:cs typeface="Calibri (MS)"/>
                  <a:sym typeface="Calibri (MS)"/>
                </a:rPr>
                <a:t>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BF0F1"/>
        </a:solidFill>
      </p:bgPr>
    </p:bg>
    <p:spTree>
      <p:nvGrpSpPr>
        <p:cNvPr id="1" name=""/>
        <p:cNvGrpSpPr/>
        <p:nvPr/>
      </p:nvGrpSpPr>
      <p:grpSpPr>
        <a:xfrm>
          <a:off x="0" y="0"/>
          <a:ext cx="0" cy="0"/>
          <a:chOff x="0" y="0"/>
          <a:chExt cx="0" cy="0"/>
        </a:xfrm>
      </p:grpSpPr>
      <p:grpSp>
        <p:nvGrpSpPr>
          <p:cNvPr name="Group 2" id="2"/>
          <p:cNvGrpSpPr/>
          <p:nvPr/>
        </p:nvGrpSpPr>
        <p:grpSpPr>
          <a:xfrm rot="0">
            <a:off x="788670" y="434340"/>
            <a:ext cx="16637508" cy="411480"/>
            <a:chOff x="0" y="0"/>
            <a:chExt cx="22183344" cy="548640"/>
          </a:xfrm>
        </p:grpSpPr>
        <p:sp>
          <p:nvSpPr>
            <p:cNvPr name="Freeform 3" id="3"/>
            <p:cNvSpPr/>
            <p:nvPr/>
          </p:nvSpPr>
          <p:spPr>
            <a:xfrm flipH="false" flipV="false" rot="0">
              <a:off x="0" y="0"/>
              <a:ext cx="22183344" cy="548640"/>
            </a:xfrm>
            <a:custGeom>
              <a:avLst/>
              <a:gdLst/>
              <a:ahLst/>
              <a:cxnLst/>
              <a:rect r="r" b="b" t="t" l="l"/>
              <a:pathLst>
                <a:path h="548640" w="22183344">
                  <a:moveTo>
                    <a:pt x="0" y="0"/>
                  </a:moveTo>
                  <a:lnTo>
                    <a:pt x="22183344" y="0"/>
                  </a:lnTo>
                  <a:lnTo>
                    <a:pt x="22183344" y="548640"/>
                  </a:lnTo>
                  <a:lnTo>
                    <a:pt x="0" y="548640"/>
                  </a:lnTo>
                  <a:close/>
                </a:path>
              </a:pathLst>
            </a:custGeom>
            <a:blipFill>
              <a:blip r:embed="rId3">
                <a:alphaModFix amt="0"/>
              </a:blip>
              <a:stretch>
                <a:fillRect l="0" t="-744511" r="0" b="-731178"/>
              </a:stretch>
            </a:blipFill>
          </p:spPr>
        </p:sp>
        <p:sp>
          <p:nvSpPr>
            <p:cNvPr name="TextBox 4" id="4"/>
            <p:cNvSpPr txBox="true"/>
            <p:nvPr/>
          </p:nvSpPr>
          <p:spPr>
            <a:xfrm>
              <a:off x="0" y="-38100"/>
              <a:ext cx="22183344" cy="586740"/>
            </a:xfrm>
            <a:prstGeom prst="rect">
              <a:avLst/>
            </a:prstGeom>
          </p:spPr>
          <p:txBody>
            <a:bodyPr anchor="ctr" rtlCol="false" tIns="0" lIns="0" bIns="0" rIns="0"/>
            <a:lstStyle/>
            <a:p>
              <a:pPr algn="l">
                <a:lnSpc>
                  <a:spcPts val="2459"/>
                </a:lnSpc>
              </a:pPr>
              <a:r>
                <a:rPr lang="en-US" b="true" sz="2049" spc="447">
                  <a:solidFill>
                    <a:srgbClr val="1A5B6E"/>
                  </a:solidFill>
                  <a:latin typeface="Calibri (MS) Bold"/>
                  <a:ea typeface="Calibri (MS) Bold"/>
                  <a:cs typeface="Calibri (MS) Bold"/>
                  <a:sym typeface="Calibri (MS) Bold"/>
                </a:rPr>
                <a:t>LITERATURE SURVEY</a:t>
              </a:r>
            </a:p>
          </p:txBody>
        </p:sp>
      </p:grpSp>
      <p:grpSp>
        <p:nvGrpSpPr>
          <p:cNvPr name="Group 5" id="5"/>
          <p:cNvGrpSpPr/>
          <p:nvPr/>
        </p:nvGrpSpPr>
        <p:grpSpPr>
          <a:xfrm rot="0">
            <a:off x="822960" y="960120"/>
            <a:ext cx="16637508" cy="850392"/>
            <a:chOff x="0" y="0"/>
            <a:chExt cx="22183344" cy="1133856"/>
          </a:xfrm>
        </p:grpSpPr>
        <p:sp>
          <p:nvSpPr>
            <p:cNvPr name="Freeform 6" id="6"/>
            <p:cNvSpPr/>
            <p:nvPr/>
          </p:nvSpPr>
          <p:spPr>
            <a:xfrm flipH="false" flipV="false" rot="0">
              <a:off x="0" y="0"/>
              <a:ext cx="22183344" cy="1133856"/>
            </a:xfrm>
            <a:custGeom>
              <a:avLst/>
              <a:gdLst/>
              <a:ahLst/>
              <a:cxnLst/>
              <a:rect r="r" b="b" t="t" l="l"/>
              <a:pathLst>
                <a:path h="1133856" w="22183344">
                  <a:moveTo>
                    <a:pt x="0" y="0"/>
                  </a:moveTo>
                  <a:lnTo>
                    <a:pt x="22183344" y="0"/>
                  </a:lnTo>
                  <a:lnTo>
                    <a:pt x="22183344" y="1133856"/>
                  </a:lnTo>
                  <a:lnTo>
                    <a:pt x="0" y="1133856"/>
                  </a:lnTo>
                  <a:close/>
                </a:path>
              </a:pathLst>
            </a:custGeom>
            <a:blipFill>
              <a:blip r:embed="rId3">
                <a:alphaModFix amt="0"/>
              </a:blip>
              <a:stretch>
                <a:fillRect l="0" t="-331215" r="0" b="-331215"/>
              </a:stretch>
            </a:blipFill>
          </p:spPr>
        </p:sp>
        <p:sp>
          <p:nvSpPr>
            <p:cNvPr name="TextBox 7" id="7"/>
            <p:cNvSpPr txBox="true"/>
            <p:nvPr/>
          </p:nvSpPr>
          <p:spPr>
            <a:xfrm>
              <a:off x="0" y="-9525"/>
              <a:ext cx="22183344" cy="1143381"/>
            </a:xfrm>
            <a:prstGeom prst="rect">
              <a:avLst/>
            </a:prstGeom>
          </p:spPr>
          <p:txBody>
            <a:bodyPr anchor="ctr" rtlCol="false" tIns="0" lIns="0" bIns="0" rIns="0"/>
            <a:lstStyle/>
            <a:p>
              <a:pPr algn="l">
                <a:lnSpc>
                  <a:spcPts val="5220"/>
                </a:lnSpc>
              </a:pPr>
              <a:r>
                <a:rPr lang="en-US" sz="4350" b="true">
                  <a:solidFill>
                    <a:srgbClr val="1B2A33"/>
                  </a:solidFill>
                  <a:latin typeface="Cambria Bold"/>
                  <a:ea typeface="Cambria Bold"/>
                  <a:cs typeface="Cambria Bold"/>
                  <a:sym typeface="Cambria Bold"/>
                </a:rPr>
                <a:t>Three Families of Methods — and the Gap</a:t>
              </a:r>
            </a:p>
          </p:txBody>
        </p:sp>
      </p:grpSp>
      <p:grpSp>
        <p:nvGrpSpPr>
          <p:cNvPr name="Group 8" id="8"/>
          <p:cNvGrpSpPr/>
          <p:nvPr/>
        </p:nvGrpSpPr>
        <p:grpSpPr>
          <a:xfrm rot="0">
            <a:off x="813435" y="2116455"/>
            <a:ext cx="5340858" cy="4202430"/>
            <a:chOff x="0" y="0"/>
            <a:chExt cx="7121144" cy="5603240"/>
          </a:xfrm>
        </p:grpSpPr>
        <p:sp>
          <p:nvSpPr>
            <p:cNvPr name="Freeform 9" id="9"/>
            <p:cNvSpPr/>
            <p:nvPr/>
          </p:nvSpPr>
          <p:spPr>
            <a:xfrm flipH="false" flipV="false" rot="0">
              <a:off x="0" y="0"/>
              <a:ext cx="7121144" cy="5603240"/>
            </a:xfrm>
            <a:custGeom>
              <a:avLst/>
              <a:gdLst/>
              <a:ahLst/>
              <a:cxnLst/>
              <a:rect r="r" b="b" t="t" l="l"/>
              <a:pathLst>
                <a:path h="5603240" w="7121144">
                  <a:moveTo>
                    <a:pt x="0" y="128651"/>
                  </a:moveTo>
                  <a:cubicBezTo>
                    <a:pt x="0" y="57531"/>
                    <a:pt x="57531" y="0"/>
                    <a:pt x="128651" y="0"/>
                  </a:cubicBezTo>
                  <a:lnTo>
                    <a:pt x="6992493" y="0"/>
                  </a:lnTo>
                  <a:cubicBezTo>
                    <a:pt x="7063487" y="0"/>
                    <a:pt x="7121144" y="57531"/>
                    <a:pt x="7121144" y="128651"/>
                  </a:cubicBezTo>
                  <a:lnTo>
                    <a:pt x="7121144" y="5474589"/>
                  </a:lnTo>
                  <a:cubicBezTo>
                    <a:pt x="7121144" y="5545582"/>
                    <a:pt x="7063613" y="5603240"/>
                    <a:pt x="6992493" y="5603240"/>
                  </a:cubicBezTo>
                  <a:lnTo>
                    <a:pt x="128651" y="5603240"/>
                  </a:lnTo>
                  <a:cubicBezTo>
                    <a:pt x="57531" y="5603240"/>
                    <a:pt x="0" y="5545709"/>
                    <a:pt x="0" y="5474589"/>
                  </a:cubicBezTo>
                  <a:close/>
                </a:path>
              </a:pathLst>
            </a:custGeom>
            <a:solidFill>
              <a:srgbClr val="FFFFFF"/>
            </a:solidFill>
            <a:ln w="19050" cap="sq">
              <a:solidFill>
                <a:srgbClr val="CFDBDC"/>
              </a:solidFill>
              <a:prstDash val="solid"/>
              <a:miter/>
            </a:ln>
          </p:spPr>
        </p:sp>
      </p:grpSp>
      <p:grpSp>
        <p:nvGrpSpPr>
          <p:cNvPr name="Group 10" id="10"/>
          <p:cNvGrpSpPr/>
          <p:nvPr/>
        </p:nvGrpSpPr>
        <p:grpSpPr>
          <a:xfrm rot="0">
            <a:off x="1179576" y="2386584"/>
            <a:ext cx="4663440" cy="466344"/>
            <a:chOff x="0" y="0"/>
            <a:chExt cx="6217920" cy="621792"/>
          </a:xfrm>
        </p:grpSpPr>
        <p:sp>
          <p:nvSpPr>
            <p:cNvPr name="Freeform 11" id="11"/>
            <p:cNvSpPr/>
            <p:nvPr/>
          </p:nvSpPr>
          <p:spPr>
            <a:xfrm flipH="false" flipV="false" rot="0">
              <a:off x="0" y="0"/>
              <a:ext cx="6217920" cy="621792"/>
            </a:xfrm>
            <a:custGeom>
              <a:avLst/>
              <a:gdLst/>
              <a:ahLst/>
              <a:cxnLst/>
              <a:rect r="r" b="b" t="t" l="l"/>
              <a:pathLst>
                <a:path h="621792" w="6217920">
                  <a:moveTo>
                    <a:pt x="0" y="0"/>
                  </a:moveTo>
                  <a:lnTo>
                    <a:pt x="6217920" y="0"/>
                  </a:lnTo>
                  <a:lnTo>
                    <a:pt x="6217920" y="621792"/>
                  </a:lnTo>
                  <a:lnTo>
                    <a:pt x="0" y="621792"/>
                  </a:lnTo>
                  <a:close/>
                </a:path>
              </a:pathLst>
            </a:custGeom>
            <a:blipFill>
              <a:blip r:embed="rId3">
                <a:alphaModFix amt="0"/>
              </a:blip>
              <a:stretch>
                <a:fillRect l="0" t="-144850" r="0" b="-144850"/>
              </a:stretch>
            </a:blipFill>
          </p:spPr>
        </p:sp>
        <p:sp>
          <p:nvSpPr>
            <p:cNvPr name="TextBox 12" id="12"/>
            <p:cNvSpPr txBox="true"/>
            <p:nvPr/>
          </p:nvSpPr>
          <p:spPr>
            <a:xfrm>
              <a:off x="0" y="0"/>
              <a:ext cx="6217920" cy="621792"/>
            </a:xfrm>
            <a:prstGeom prst="rect">
              <a:avLst/>
            </a:prstGeom>
          </p:spPr>
          <p:txBody>
            <a:bodyPr anchor="ctr" rtlCol="false" tIns="0" lIns="0" bIns="0" rIns="0"/>
            <a:lstStyle/>
            <a:p>
              <a:pPr algn="l">
                <a:lnSpc>
                  <a:spcPts val="2790"/>
                </a:lnSpc>
              </a:pPr>
              <a:r>
                <a:rPr lang="en-US" sz="2325" b="true">
                  <a:solidFill>
                    <a:srgbClr val="1A5B6E"/>
                  </a:solidFill>
                  <a:latin typeface="Cambria Bold"/>
                  <a:ea typeface="Cambria Bold"/>
                  <a:cs typeface="Cambria Bold"/>
                  <a:sym typeface="Cambria Bold"/>
                </a:rPr>
                <a:t>Model-based</a:t>
              </a:r>
            </a:p>
          </p:txBody>
        </p:sp>
      </p:grpSp>
      <p:grpSp>
        <p:nvGrpSpPr>
          <p:cNvPr name="Group 13" id="13"/>
          <p:cNvGrpSpPr/>
          <p:nvPr/>
        </p:nvGrpSpPr>
        <p:grpSpPr>
          <a:xfrm rot="0">
            <a:off x="1179576" y="2962656"/>
            <a:ext cx="4663440" cy="1179576"/>
            <a:chOff x="0" y="0"/>
            <a:chExt cx="6217920" cy="1572768"/>
          </a:xfrm>
        </p:grpSpPr>
        <p:sp>
          <p:nvSpPr>
            <p:cNvPr name="Freeform 14" id="14"/>
            <p:cNvSpPr/>
            <p:nvPr/>
          </p:nvSpPr>
          <p:spPr>
            <a:xfrm flipH="false" flipV="false" rot="0">
              <a:off x="0" y="0"/>
              <a:ext cx="6217920" cy="1572768"/>
            </a:xfrm>
            <a:custGeom>
              <a:avLst/>
              <a:gdLst/>
              <a:ahLst/>
              <a:cxnLst/>
              <a:rect r="r" b="b" t="t" l="l"/>
              <a:pathLst>
                <a:path h="1572768" w="6217920">
                  <a:moveTo>
                    <a:pt x="0" y="0"/>
                  </a:moveTo>
                  <a:lnTo>
                    <a:pt x="6217920" y="0"/>
                  </a:lnTo>
                  <a:lnTo>
                    <a:pt x="6217920" y="1572768"/>
                  </a:lnTo>
                  <a:lnTo>
                    <a:pt x="0" y="1572768"/>
                  </a:lnTo>
                  <a:close/>
                </a:path>
              </a:pathLst>
            </a:custGeom>
            <a:blipFill>
              <a:blip r:embed="rId3">
                <a:alphaModFix amt="0"/>
              </a:blip>
              <a:stretch>
                <a:fillRect l="0" t="-27033" r="0" b="-27033"/>
              </a:stretch>
            </a:blipFill>
          </p:spPr>
        </p:sp>
        <p:sp>
          <p:nvSpPr>
            <p:cNvPr name="TextBox 15" id="15"/>
            <p:cNvSpPr txBox="true"/>
            <p:nvPr/>
          </p:nvSpPr>
          <p:spPr>
            <a:xfrm>
              <a:off x="0" y="-38100"/>
              <a:ext cx="6217920" cy="1610868"/>
            </a:xfrm>
            <a:prstGeom prst="rect">
              <a:avLst/>
            </a:prstGeom>
          </p:spPr>
          <p:txBody>
            <a:bodyPr anchor="ctr" rtlCol="false" tIns="0" lIns="0" bIns="0" rIns="0"/>
            <a:lstStyle/>
            <a:p>
              <a:pPr algn="l">
                <a:lnSpc>
                  <a:spcPts val="2059"/>
                </a:lnSpc>
              </a:pPr>
              <a:r>
                <a:rPr lang="en-US" sz="1650">
                  <a:solidFill>
                    <a:srgbClr val="39454E"/>
                  </a:solidFill>
                  <a:latin typeface="Calibri (MS)"/>
                  <a:ea typeface="Calibri (MS)"/>
                  <a:cs typeface="Calibri (MS)"/>
                  <a:sym typeface="Calibri (MS)"/>
                </a:rPr>
                <a:t>Electrochemical PDEs (DFN / P2D) and empirical ODEs (Verhulst, double-exponential).</a:t>
              </a:r>
            </a:p>
          </p:txBody>
        </p:sp>
      </p:grpSp>
      <p:sp>
        <p:nvSpPr>
          <p:cNvPr name="TextBox 16" id="16"/>
          <p:cNvSpPr txBox="true"/>
          <p:nvPr/>
        </p:nvSpPr>
        <p:spPr>
          <a:xfrm rot="0">
            <a:off x="1179576" y="4141089"/>
            <a:ext cx="4663440" cy="851535"/>
          </a:xfrm>
          <a:prstGeom prst="rect">
            <a:avLst/>
          </a:prstGeom>
        </p:spPr>
        <p:txBody>
          <a:bodyPr anchor="t" rtlCol="false" tIns="0" lIns="0" bIns="0" rIns="0">
            <a:spAutoFit/>
          </a:bodyPr>
          <a:lstStyle/>
          <a:p>
            <a:pPr algn="l">
              <a:lnSpc>
                <a:spcPts val="1927"/>
              </a:lnSpc>
            </a:pPr>
            <a:r>
              <a:rPr lang="en-US" sz="1575" b="true">
                <a:solidFill>
                  <a:srgbClr val="1A5B6E"/>
                </a:solidFill>
                <a:latin typeface="Calibri (MS) Bold"/>
                <a:ea typeface="Calibri (MS) Bold"/>
                <a:cs typeface="Calibri (MS) Bold"/>
                <a:sym typeface="Calibri (MS) Bold"/>
              </a:rPr>
              <a:t>Strength   </a:t>
            </a:r>
            <a:r>
              <a:rPr lang="en-US" sz="1575">
                <a:solidFill>
                  <a:srgbClr val="39454E"/>
                </a:solidFill>
                <a:latin typeface="Calibri (MS)"/>
                <a:ea typeface="Calibri (MS)"/>
                <a:cs typeface="Calibri (MS)"/>
                <a:sym typeface="Calibri (MS)"/>
              </a:rPr>
              <a:t>Interpretable and physically grounded.</a:t>
            </a:r>
          </a:p>
        </p:txBody>
      </p:sp>
      <p:sp>
        <p:nvSpPr>
          <p:cNvPr name="TextBox 17" id="17"/>
          <p:cNvSpPr txBox="true"/>
          <p:nvPr/>
        </p:nvSpPr>
        <p:spPr>
          <a:xfrm rot="0">
            <a:off x="1179576" y="4991481"/>
            <a:ext cx="4663440" cy="1153287"/>
          </a:xfrm>
          <a:prstGeom prst="rect">
            <a:avLst/>
          </a:prstGeom>
        </p:spPr>
        <p:txBody>
          <a:bodyPr anchor="t" rtlCol="false" tIns="0" lIns="0" bIns="0" rIns="0">
            <a:spAutoFit/>
          </a:bodyPr>
          <a:lstStyle/>
          <a:p>
            <a:pPr algn="l">
              <a:lnSpc>
                <a:spcPts val="1927"/>
              </a:lnSpc>
            </a:pPr>
            <a:r>
              <a:rPr lang="en-US" sz="1575" b="true">
                <a:solidFill>
                  <a:srgbClr val="9A5B2A"/>
                </a:solidFill>
                <a:latin typeface="Calibri (MS) Bold"/>
                <a:ea typeface="Calibri (MS) Bold"/>
                <a:cs typeface="Calibri (MS) Bold"/>
                <a:sym typeface="Calibri (MS) Bold"/>
              </a:rPr>
              <a:t>Limitation   </a:t>
            </a:r>
            <a:r>
              <a:rPr lang="en-US" sz="1575">
                <a:solidFill>
                  <a:srgbClr val="39454E"/>
                </a:solidFill>
                <a:latin typeface="Calibri (MS)"/>
                <a:ea typeface="Calibri (MS)"/>
                <a:cs typeface="Calibri (MS)"/>
                <a:sym typeface="Calibri (MS)"/>
              </a:rPr>
              <a:t>PDEs need 20+ parameters — too heavy for an MCU; fixed ODE shapes are rigid.</a:t>
            </a:r>
          </a:p>
        </p:txBody>
      </p:sp>
      <p:grpSp>
        <p:nvGrpSpPr>
          <p:cNvPr name="Group 18" id="18"/>
          <p:cNvGrpSpPr/>
          <p:nvPr/>
        </p:nvGrpSpPr>
        <p:grpSpPr>
          <a:xfrm rot="0">
            <a:off x="6409563" y="2116455"/>
            <a:ext cx="5340858" cy="4202430"/>
            <a:chOff x="0" y="0"/>
            <a:chExt cx="7121144" cy="5603240"/>
          </a:xfrm>
        </p:grpSpPr>
        <p:sp>
          <p:nvSpPr>
            <p:cNvPr name="Freeform 19" id="19"/>
            <p:cNvSpPr/>
            <p:nvPr/>
          </p:nvSpPr>
          <p:spPr>
            <a:xfrm flipH="false" flipV="false" rot="0">
              <a:off x="0" y="0"/>
              <a:ext cx="7121144" cy="5603240"/>
            </a:xfrm>
            <a:custGeom>
              <a:avLst/>
              <a:gdLst/>
              <a:ahLst/>
              <a:cxnLst/>
              <a:rect r="r" b="b" t="t" l="l"/>
              <a:pathLst>
                <a:path h="5603240" w="7121144">
                  <a:moveTo>
                    <a:pt x="0" y="128651"/>
                  </a:moveTo>
                  <a:cubicBezTo>
                    <a:pt x="0" y="57531"/>
                    <a:pt x="57531" y="0"/>
                    <a:pt x="128651" y="0"/>
                  </a:cubicBezTo>
                  <a:lnTo>
                    <a:pt x="6992493" y="0"/>
                  </a:lnTo>
                  <a:cubicBezTo>
                    <a:pt x="7063487" y="0"/>
                    <a:pt x="7121144" y="57531"/>
                    <a:pt x="7121144" y="128651"/>
                  </a:cubicBezTo>
                  <a:lnTo>
                    <a:pt x="7121144" y="5474589"/>
                  </a:lnTo>
                  <a:cubicBezTo>
                    <a:pt x="7121144" y="5545582"/>
                    <a:pt x="7063613" y="5603240"/>
                    <a:pt x="6992493" y="5603240"/>
                  </a:cubicBezTo>
                  <a:lnTo>
                    <a:pt x="128651" y="5603240"/>
                  </a:lnTo>
                  <a:cubicBezTo>
                    <a:pt x="57531" y="5603240"/>
                    <a:pt x="0" y="5545709"/>
                    <a:pt x="0" y="5474589"/>
                  </a:cubicBezTo>
                  <a:close/>
                </a:path>
              </a:pathLst>
            </a:custGeom>
            <a:solidFill>
              <a:srgbClr val="FFFFFF"/>
            </a:solidFill>
            <a:ln w="19050" cap="sq">
              <a:solidFill>
                <a:srgbClr val="CFDBDC"/>
              </a:solidFill>
              <a:prstDash val="solid"/>
              <a:miter/>
            </a:ln>
          </p:spPr>
        </p:sp>
      </p:grpSp>
      <p:grpSp>
        <p:nvGrpSpPr>
          <p:cNvPr name="Group 20" id="20"/>
          <p:cNvGrpSpPr/>
          <p:nvPr/>
        </p:nvGrpSpPr>
        <p:grpSpPr>
          <a:xfrm rot="0">
            <a:off x="6775704" y="2386584"/>
            <a:ext cx="4663440" cy="466344"/>
            <a:chOff x="0" y="0"/>
            <a:chExt cx="6217920" cy="621792"/>
          </a:xfrm>
        </p:grpSpPr>
        <p:sp>
          <p:nvSpPr>
            <p:cNvPr name="Freeform 21" id="21"/>
            <p:cNvSpPr/>
            <p:nvPr/>
          </p:nvSpPr>
          <p:spPr>
            <a:xfrm flipH="false" flipV="false" rot="0">
              <a:off x="0" y="0"/>
              <a:ext cx="6217920" cy="621792"/>
            </a:xfrm>
            <a:custGeom>
              <a:avLst/>
              <a:gdLst/>
              <a:ahLst/>
              <a:cxnLst/>
              <a:rect r="r" b="b" t="t" l="l"/>
              <a:pathLst>
                <a:path h="621792" w="6217920">
                  <a:moveTo>
                    <a:pt x="0" y="0"/>
                  </a:moveTo>
                  <a:lnTo>
                    <a:pt x="6217920" y="0"/>
                  </a:lnTo>
                  <a:lnTo>
                    <a:pt x="6217920" y="621792"/>
                  </a:lnTo>
                  <a:lnTo>
                    <a:pt x="0" y="621792"/>
                  </a:lnTo>
                  <a:close/>
                </a:path>
              </a:pathLst>
            </a:custGeom>
            <a:blipFill>
              <a:blip r:embed="rId3">
                <a:alphaModFix amt="0"/>
              </a:blip>
              <a:stretch>
                <a:fillRect l="0" t="-144850" r="0" b="-144850"/>
              </a:stretch>
            </a:blipFill>
          </p:spPr>
        </p:sp>
        <p:sp>
          <p:nvSpPr>
            <p:cNvPr name="TextBox 22" id="22"/>
            <p:cNvSpPr txBox="true"/>
            <p:nvPr/>
          </p:nvSpPr>
          <p:spPr>
            <a:xfrm>
              <a:off x="0" y="0"/>
              <a:ext cx="6217920" cy="621792"/>
            </a:xfrm>
            <a:prstGeom prst="rect">
              <a:avLst/>
            </a:prstGeom>
          </p:spPr>
          <p:txBody>
            <a:bodyPr anchor="ctr" rtlCol="false" tIns="0" lIns="0" bIns="0" rIns="0"/>
            <a:lstStyle/>
            <a:p>
              <a:pPr algn="l">
                <a:lnSpc>
                  <a:spcPts val="2790"/>
                </a:lnSpc>
              </a:pPr>
              <a:r>
                <a:rPr lang="en-US" sz="2325" b="true">
                  <a:solidFill>
                    <a:srgbClr val="1A5B6E"/>
                  </a:solidFill>
                  <a:latin typeface="Cambria Bold"/>
                  <a:ea typeface="Cambria Bold"/>
                  <a:cs typeface="Cambria Bold"/>
                  <a:sym typeface="Cambria Bold"/>
                </a:rPr>
                <a:t>Data-driven</a:t>
              </a:r>
            </a:p>
          </p:txBody>
        </p:sp>
      </p:grpSp>
      <p:grpSp>
        <p:nvGrpSpPr>
          <p:cNvPr name="Group 23" id="23"/>
          <p:cNvGrpSpPr/>
          <p:nvPr/>
        </p:nvGrpSpPr>
        <p:grpSpPr>
          <a:xfrm rot="0">
            <a:off x="6775704" y="2962656"/>
            <a:ext cx="4663440" cy="1179576"/>
            <a:chOff x="0" y="0"/>
            <a:chExt cx="6217920" cy="1572768"/>
          </a:xfrm>
        </p:grpSpPr>
        <p:sp>
          <p:nvSpPr>
            <p:cNvPr name="Freeform 24" id="24"/>
            <p:cNvSpPr/>
            <p:nvPr/>
          </p:nvSpPr>
          <p:spPr>
            <a:xfrm flipH="false" flipV="false" rot="0">
              <a:off x="0" y="0"/>
              <a:ext cx="6217920" cy="1572768"/>
            </a:xfrm>
            <a:custGeom>
              <a:avLst/>
              <a:gdLst/>
              <a:ahLst/>
              <a:cxnLst/>
              <a:rect r="r" b="b" t="t" l="l"/>
              <a:pathLst>
                <a:path h="1572768" w="6217920">
                  <a:moveTo>
                    <a:pt x="0" y="0"/>
                  </a:moveTo>
                  <a:lnTo>
                    <a:pt x="6217920" y="0"/>
                  </a:lnTo>
                  <a:lnTo>
                    <a:pt x="6217920" y="1572768"/>
                  </a:lnTo>
                  <a:lnTo>
                    <a:pt x="0" y="1572768"/>
                  </a:lnTo>
                  <a:close/>
                </a:path>
              </a:pathLst>
            </a:custGeom>
            <a:blipFill>
              <a:blip r:embed="rId3">
                <a:alphaModFix amt="0"/>
              </a:blip>
              <a:stretch>
                <a:fillRect l="0" t="-27033" r="0" b="-27033"/>
              </a:stretch>
            </a:blipFill>
          </p:spPr>
        </p:sp>
        <p:sp>
          <p:nvSpPr>
            <p:cNvPr name="TextBox 25" id="25"/>
            <p:cNvSpPr txBox="true"/>
            <p:nvPr/>
          </p:nvSpPr>
          <p:spPr>
            <a:xfrm>
              <a:off x="0" y="-38100"/>
              <a:ext cx="6217920" cy="1610868"/>
            </a:xfrm>
            <a:prstGeom prst="rect">
              <a:avLst/>
            </a:prstGeom>
          </p:spPr>
          <p:txBody>
            <a:bodyPr anchor="ctr" rtlCol="false" tIns="0" lIns="0" bIns="0" rIns="0"/>
            <a:lstStyle/>
            <a:p>
              <a:pPr algn="l">
                <a:lnSpc>
                  <a:spcPts val="2059"/>
                </a:lnSpc>
              </a:pPr>
              <a:r>
                <a:rPr lang="en-US" sz="1650">
                  <a:solidFill>
                    <a:srgbClr val="39454E"/>
                  </a:solidFill>
                  <a:latin typeface="Calibri (MS)"/>
                  <a:ea typeface="Calibri (MS)"/>
                  <a:cs typeface="Calibri (MS)"/>
                  <a:sym typeface="Calibri (MS)"/>
                </a:rPr>
                <a:t>LSTM / GRU networks and Transformers (e.g. SGEformer).</a:t>
              </a:r>
            </a:p>
          </p:txBody>
        </p:sp>
      </p:grpSp>
      <p:sp>
        <p:nvSpPr>
          <p:cNvPr name="TextBox 26" id="26"/>
          <p:cNvSpPr txBox="true"/>
          <p:nvPr/>
        </p:nvSpPr>
        <p:spPr>
          <a:xfrm rot="0">
            <a:off x="6775704" y="4141089"/>
            <a:ext cx="4663440" cy="851535"/>
          </a:xfrm>
          <a:prstGeom prst="rect">
            <a:avLst/>
          </a:prstGeom>
        </p:spPr>
        <p:txBody>
          <a:bodyPr anchor="t" rtlCol="false" tIns="0" lIns="0" bIns="0" rIns="0">
            <a:spAutoFit/>
          </a:bodyPr>
          <a:lstStyle/>
          <a:p>
            <a:pPr algn="l">
              <a:lnSpc>
                <a:spcPts val="1927"/>
              </a:lnSpc>
            </a:pPr>
            <a:r>
              <a:rPr lang="en-US" sz="1575" b="true">
                <a:solidFill>
                  <a:srgbClr val="1A5B6E"/>
                </a:solidFill>
                <a:latin typeface="Calibri (MS) Bold"/>
                <a:ea typeface="Calibri (MS) Bold"/>
                <a:cs typeface="Calibri (MS) Bold"/>
                <a:sym typeface="Calibri (MS) Bold"/>
              </a:rPr>
              <a:t>Strength   </a:t>
            </a:r>
            <a:r>
              <a:rPr lang="en-US" sz="1575">
                <a:solidFill>
                  <a:srgbClr val="39454E"/>
                </a:solidFill>
                <a:latin typeface="Calibri (MS)"/>
                <a:ea typeface="Calibri (MS)"/>
                <a:cs typeface="Calibri (MS)"/>
                <a:sym typeface="Calibri (MS)"/>
              </a:rPr>
              <a:t>Accurate when training data is plentiful.</a:t>
            </a:r>
          </a:p>
        </p:txBody>
      </p:sp>
      <p:sp>
        <p:nvSpPr>
          <p:cNvPr name="TextBox 27" id="27"/>
          <p:cNvSpPr txBox="true"/>
          <p:nvPr/>
        </p:nvSpPr>
        <p:spPr>
          <a:xfrm rot="0">
            <a:off x="6775704" y="4991481"/>
            <a:ext cx="4663440" cy="1153287"/>
          </a:xfrm>
          <a:prstGeom prst="rect">
            <a:avLst/>
          </a:prstGeom>
        </p:spPr>
        <p:txBody>
          <a:bodyPr anchor="t" rtlCol="false" tIns="0" lIns="0" bIns="0" rIns="0">
            <a:spAutoFit/>
          </a:bodyPr>
          <a:lstStyle/>
          <a:p>
            <a:pPr algn="l">
              <a:lnSpc>
                <a:spcPts val="1927"/>
              </a:lnSpc>
            </a:pPr>
            <a:r>
              <a:rPr lang="en-US" sz="1575" b="true">
                <a:solidFill>
                  <a:srgbClr val="9A5B2A"/>
                </a:solidFill>
                <a:latin typeface="Calibri (MS) Bold"/>
                <a:ea typeface="Calibri (MS) Bold"/>
                <a:cs typeface="Calibri (MS) Bold"/>
                <a:sym typeface="Calibri (MS) Bold"/>
              </a:rPr>
              <a:t>Limitation   </a:t>
            </a:r>
            <a:r>
              <a:rPr lang="en-US" sz="1575">
                <a:solidFill>
                  <a:srgbClr val="39454E"/>
                </a:solidFill>
                <a:latin typeface="Calibri (MS)"/>
                <a:ea typeface="Calibri (MS)"/>
                <a:cs typeface="Calibri (MS)"/>
                <a:sym typeface="Calibri (MS)"/>
              </a:rPr>
              <a:t>Can predict impossible “self-healing”; data-hungry; attention is O(L²) in memory.</a:t>
            </a:r>
          </a:p>
        </p:txBody>
      </p:sp>
      <p:grpSp>
        <p:nvGrpSpPr>
          <p:cNvPr name="Group 28" id="28"/>
          <p:cNvGrpSpPr/>
          <p:nvPr/>
        </p:nvGrpSpPr>
        <p:grpSpPr>
          <a:xfrm rot="0">
            <a:off x="12005691" y="2116455"/>
            <a:ext cx="5340858" cy="4202430"/>
            <a:chOff x="0" y="0"/>
            <a:chExt cx="7121144" cy="5603240"/>
          </a:xfrm>
        </p:grpSpPr>
        <p:sp>
          <p:nvSpPr>
            <p:cNvPr name="Freeform 29" id="29"/>
            <p:cNvSpPr/>
            <p:nvPr/>
          </p:nvSpPr>
          <p:spPr>
            <a:xfrm flipH="false" flipV="false" rot="0">
              <a:off x="0" y="0"/>
              <a:ext cx="7121144" cy="5603240"/>
            </a:xfrm>
            <a:custGeom>
              <a:avLst/>
              <a:gdLst/>
              <a:ahLst/>
              <a:cxnLst/>
              <a:rect r="r" b="b" t="t" l="l"/>
              <a:pathLst>
                <a:path h="5603240" w="7121144">
                  <a:moveTo>
                    <a:pt x="0" y="128651"/>
                  </a:moveTo>
                  <a:cubicBezTo>
                    <a:pt x="0" y="57531"/>
                    <a:pt x="57531" y="0"/>
                    <a:pt x="128651" y="0"/>
                  </a:cubicBezTo>
                  <a:lnTo>
                    <a:pt x="6992493" y="0"/>
                  </a:lnTo>
                  <a:cubicBezTo>
                    <a:pt x="7063487" y="0"/>
                    <a:pt x="7121144" y="57531"/>
                    <a:pt x="7121144" y="128651"/>
                  </a:cubicBezTo>
                  <a:lnTo>
                    <a:pt x="7121144" y="5474589"/>
                  </a:lnTo>
                  <a:cubicBezTo>
                    <a:pt x="7121144" y="5545582"/>
                    <a:pt x="7063613" y="5603240"/>
                    <a:pt x="6992493" y="5603240"/>
                  </a:cubicBezTo>
                  <a:lnTo>
                    <a:pt x="128651" y="5603240"/>
                  </a:lnTo>
                  <a:cubicBezTo>
                    <a:pt x="57531" y="5603240"/>
                    <a:pt x="0" y="5545709"/>
                    <a:pt x="0" y="5474589"/>
                  </a:cubicBezTo>
                  <a:close/>
                </a:path>
              </a:pathLst>
            </a:custGeom>
            <a:solidFill>
              <a:srgbClr val="FFFFFF"/>
            </a:solidFill>
            <a:ln w="19050" cap="sq">
              <a:solidFill>
                <a:srgbClr val="CFDBDC"/>
              </a:solidFill>
              <a:prstDash val="solid"/>
              <a:miter/>
            </a:ln>
          </p:spPr>
        </p:sp>
      </p:grpSp>
      <p:grpSp>
        <p:nvGrpSpPr>
          <p:cNvPr name="Group 30" id="30"/>
          <p:cNvGrpSpPr/>
          <p:nvPr/>
        </p:nvGrpSpPr>
        <p:grpSpPr>
          <a:xfrm rot="0">
            <a:off x="12371832" y="2386584"/>
            <a:ext cx="4663440" cy="466344"/>
            <a:chOff x="0" y="0"/>
            <a:chExt cx="6217920" cy="621792"/>
          </a:xfrm>
        </p:grpSpPr>
        <p:sp>
          <p:nvSpPr>
            <p:cNvPr name="Freeform 31" id="31"/>
            <p:cNvSpPr/>
            <p:nvPr/>
          </p:nvSpPr>
          <p:spPr>
            <a:xfrm flipH="false" flipV="false" rot="0">
              <a:off x="0" y="0"/>
              <a:ext cx="6217920" cy="621792"/>
            </a:xfrm>
            <a:custGeom>
              <a:avLst/>
              <a:gdLst/>
              <a:ahLst/>
              <a:cxnLst/>
              <a:rect r="r" b="b" t="t" l="l"/>
              <a:pathLst>
                <a:path h="621792" w="6217920">
                  <a:moveTo>
                    <a:pt x="0" y="0"/>
                  </a:moveTo>
                  <a:lnTo>
                    <a:pt x="6217920" y="0"/>
                  </a:lnTo>
                  <a:lnTo>
                    <a:pt x="6217920" y="621792"/>
                  </a:lnTo>
                  <a:lnTo>
                    <a:pt x="0" y="621792"/>
                  </a:lnTo>
                  <a:close/>
                </a:path>
              </a:pathLst>
            </a:custGeom>
            <a:blipFill>
              <a:blip r:embed="rId3">
                <a:alphaModFix amt="0"/>
              </a:blip>
              <a:stretch>
                <a:fillRect l="0" t="-144850" r="0" b="-144850"/>
              </a:stretch>
            </a:blipFill>
          </p:spPr>
        </p:sp>
        <p:sp>
          <p:nvSpPr>
            <p:cNvPr name="TextBox 32" id="32"/>
            <p:cNvSpPr txBox="true"/>
            <p:nvPr/>
          </p:nvSpPr>
          <p:spPr>
            <a:xfrm>
              <a:off x="0" y="0"/>
              <a:ext cx="6217920" cy="621792"/>
            </a:xfrm>
            <a:prstGeom prst="rect">
              <a:avLst/>
            </a:prstGeom>
          </p:spPr>
          <p:txBody>
            <a:bodyPr anchor="ctr" rtlCol="false" tIns="0" lIns="0" bIns="0" rIns="0"/>
            <a:lstStyle/>
            <a:p>
              <a:pPr algn="l">
                <a:lnSpc>
                  <a:spcPts val="2790"/>
                </a:lnSpc>
              </a:pPr>
              <a:r>
                <a:rPr lang="en-US" sz="2325" b="true">
                  <a:solidFill>
                    <a:srgbClr val="1A5B6E"/>
                  </a:solidFill>
                  <a:latin typeface="Cambria Bold"/>
                  <a:ea typeface="Cambria Bold"/>
                  <a:cs typeface="Cambria Bold"/>
                  <a:sym typeface="Cambria Bold"/>
                </a:rPr>
                <a:t>Hybrid (PIML)</a:t>
              </a:r>
            </a:p>
          </p:txBody>
        </p:sp>
      </p:grpSp>
      <p:grpSp>
        <p:nvGrpSpPr>
          <p:cNvPr name="Group 33" id="33"/>
          <p:cNvGrpSpPr/>
          <p:nvPr/>
        </p:nvGrpSpPr>
        <p:grpSpPr>
          <a:xfrm rot="0">
            <a:off x="12371832" y="2962656"/>
            <a:ext cx="4663440" cy="1179576"/>
            <a:chOff x="0" y="0"/>
            <a:chExt cx="6217920" cy="1572768"/>
          </a:xfrm>
        </p:grpSpPr>
        <p:sp>
          <p:nvSpPr>
            <p:cNvPr name="Freeform 34" id="34"/>
            <p:cNvSpPr/>
            <p:nvPr/>
          </p:nvSpPr>
          <p:spPr>
            <a:xfrm flipH="false" flipV="false" rot="0">
              <a:off x="0" y="0"/>
              <a:ext cx="6217920" cy="1572768"/>
            </a:xfrm>
            <a:custGeom>
              <a:avLst/>
              <a:gdLst/>
              <a:ahLst/>
              <a:cxnLst/>
              <a:rect r="r" b="b" t="t" l="l"/>
              <a:pathLst>
                <a:path h="1572768" w="6217920">
                  <a:moveTo>
                    <a:pt x="0" y="0"/>
                  </a:moveTo>
                  <a:lnTo>
                    <a:pt x="6217920" y="0"/>
                  </a:lnTo>
                  <a:lnTo>
                    <a:pt x="6217920" y="1572768"/>
                  </a:lnTo>
                  <a:lnTo>
                    <a:pt x="0" y="1572768"/>
                  </a:lnTo>
                  <a:close/>
                </a:path>
              </a:pathLst>
            </a:custGeom>
            <a:blipFill>
              <a:blip r:embed="rId3">
                <a:alphaModFix amt="0"/>
              </a:blip>
              <a:stretch>
                <a:fillRect l="0" t="-27033" r="0" b="-27033"/>
              </a:stretch>
            </a:blipFill>
          </p:spPr>
        </p:sp>
        <p:sp>
          <p:nvSpPr>
            <p:cNvPr name="TextBox 35" id="35"/>
            <p:cNvSpPr txBox="true"/>
            <p:nvPr/>
          </p:nvSpPr>
          <p:spPr>
            <a:xfrm>
              <a:off x="0" y="-38100"/>
              <a:ext cx="6217920" cy="1610868"/>
            </a:xfrm>
            <a:prstGeom prst="rect">
              <a:avLst/>
            </a:prstGeom>
          </p:spPr>
          <p:txBody>
            <a:bodyPr anchor="ctr" rtlCol="false" tIns="0" lIns="0" bIns="0" rIns="0"/>
            <a:lstStyle/>
            <a:p>
              <a:pPr algn="l">
                <a:lnSpc>
                  <a:spcPts val="2059"/>
                </a:lnSpc>
              </a:pPr>
              <a:r>
                <a:rPr lang="en-US" sz="1650">
                  <a:solidFill>
                    <a:srgbClr val="39454E"/>
                  </a:solidFill>
                  <a:latin typeface="Calibri (MS)"/>
                  <a:ea typeface="Calibri (MS)"/>
                  <a:cs typeface="Calibri (MS)"/>
                  <a:sym typeface="Calibri (MS)"/>
                </a:rPr>
                <a:t>PDE-PINNs (Raissi 2019; Xue 2023) and ODE-regularized nets (Wen 2024).</a:t>
              </a:r>
            </a:p>
          </p:txBody>
        </p:sp>
      </p:grpSp>
      <p:sp>
        <p:nvSpPr>
          <p:cNvPr name="TextBox 36" id="36"/>
          <p:cNvSpPr txBox="true"/>
          <p:nvPr/>
        </p:nvSpPr>
        <p:spPr>
          <a:xfrm rot="0">
            <a:off x="12371832" y="4141089"/>
            <a:ext cx="4663440" cy="851535"/>
          </a:xfrm>
          <a:prstGeom prst="rect">
            <a:avLst/>
          </a:prstGeom>
        </p:spPr>
        <p:txBody>
          <a:bodyPr anchor="t" rtlCol="false" tIns="0" lIns="0" bIns="0" rIns="0">
            <a:spAutoFit/>
          </a:bodyPr>
          <a:lstStyle/>
          <a:p>
            <a:pPr algn="l">
              <a:lnSpc>
                <a:spcPts val="1927"/>
              </a:lnSpc>
            </a:pPr>
            <a:r>
              <a:rPr lang="en-US" sz="1575" b="true">
                <a:solidFill>
                  <a:srgbClr val="1A5B6E"/>
                </a:solidFill>
                <a:latin typeface="Calibri (MS) Bold"/>
                <a:ea typeface="Calibri (MS) Bold"/>
                <a:cs typeface="Calibri (MS) Bold"/>
                <a:sym typeface="Calibri (MS) Bold"/>
              </a:rPr>
              <a:t>Strength   </a:t>
            </a:r>
            <a:r>
              <a:rPr lang="en-US" sz="1575">
                <a:solidFill>
                  <a:srgbClr val="39454E"/>
                </a:solidFill>
                <a:latin typeface="Calibri (MS)"/>
                <a:ea typeface="Calibri (MS)"/>
                <a:cs typeface="Calibri (MS)"/>
                <a:sym typeface="Calibri (MS)"/>
              </a:rPr>
              <a:t>Combine physics with learning.</a:t>
            </a:r>
          </a:p>
        </p:txBody>
      </p:sp>
      <p:sp>
        <p:nvSpPr>
          <p:cNvPr name="TextBox 37" id="37"/>
          <p:cNvSpPr txBox="true"/>
          <p:nvPr/>
        </p:nvSpPr>
        <p:spPr>
          <a:xfrm rot="0">
            <a:off x="12371832" y="4991481"/>
            <a:ext cx="4663440" cy="1153287"/>
          </a:xfrm>
          <a:prstGeom prst="rect">
            <a:avLst/>
          </a:prstGeom>
        </p:spPr>
        <p:txBody>
          <a:bodyPr anchor="t" rtlCol="false" tIns="0" lIns="0" bIns="0" rIns="0">
            <a:spAutoFit/>
          </a:bodyPr>
          <a:lstStyle/>
          <a:p>
            <a:pPr algn="l">
              <a:lnSpc>
                <a:spcPts val="1927"/>
              </a:lnSpc>
            </a:pPr>
            <a:r>
              <a:rPr lang="en-US" sz="1575" b="true">
                <a:solidFill>
                  <a:srgbClr val="9A5B2A"/>
                </a:solidFill>
                <a:latin typeface="Calibri (MS) Bold"/>
                <a:ea typeface="Calibri (MS) Bold"/>
                <a:cs typeface="Calibri (MS) Bold"/>
                <a:sym typeface="Calibri (MS) Bold"/>
              </a:rPr>
              <a:t>Limitation   </a:t>
            </a:r>
            <a:r>
              <a:rPr lang="en-US" sz="1575">
                <a:solidFill>
                  <a:srgbClr val="39454E"/>
                </a:solidFill>
                <a:latin typeface="Calibri (MS)"/>
                <a:ea typeface="Calibri (MS)"/>
                <a:cs typeface="Calibri (MS)"/>
                <a:sym typeface="Calibri (MS)"/>
              </a:rPr>
              <a:t>Most work embeds heavy PDEs; light ODE hybrids are barely explored.</a:t>
            </a:r>
          </a:p>
        </p:txBody>
      </p:sp>
      <p:grpSp>
        <p:nvGrpSpPr>
          <p:cNvPr name="Group 38" id="38"/>
          <p:cNvGrpSpPr/>
          <p:nvPr/>
        </p:nvGrpSpPr>
        <p:grpSpPr>
          <a:xfrm rot="0">
            <a:off x="751713" y="6715125"/>
            <a:ext cx="16656558" cy="2693670"/>
            <a:chOff x="0" y="0"/>
            <a:chExt cx="22208744" cy="3591560"/>
          </a:xfrm>
        </p:grpSpPr>
        <p:sp>
          <p:nvSpPr>
            <p:cNvPr name="Freeform 39" id="39"/>
            <p:cNvSpPr/>
            <p:nvPr/>
          </p:nvSpPr>
          <p:spPr>
            <a:xfrm flipH="false" flipV="false" rot="0">
              <a:off x="0" y="0"/>
              <a:ext cx="22208744" cy="3591560"/>
            </a:xfrm>
            <a:custGeom>
              <a:avLst/>
              <a:gdLst/>
              <a:ahLst/>
              <a:cxnLst/>
              <a:rect r="r" b="b" t="t" l="l"/>
              <a:pathLst>
                <a:path h="3591560" w="22208744">
                  <a:moveTo>
                    <a:pt x="0" y="128905"/>
                  </a:moveTo>
                  <a:cubicBezTo>
                    <a:pt x="0" y="57785"/>
                    <a:pt x="57785" y="0"/>
                    <a:pt x="128905" y="0"/>
                  </a:cubicBezTo>
                  <a:lnTo>
                    <a:pt x="22079838" y="0"/>
                  </a:lnTo>
                  <a:cubicBezTo>
                    <a:pt x="22151085" y="0"/>
                    <a:pt x="22208744" y="57785"/>
                    <a:pt x="22208744" y="128905"/>
                  </a:cubicBezTo>
                  <a:lnTo>
                    <a:pt x="22208744" y="3462655"/>
                  </a:lnTo>
                  <a:cubicBezTo>
                    <a:pt x="22208744" y="3533902"/>
                    <a:pt x="22150958" y="3591560"/>
                    <a:pt x="22079838" y="3591560"/>
                  </a:cubicBezTo>
                  <a:lnTo>
                    <a:pt x="128905" y="3591560"/>
                  </a:lnTo>
                  <a:cubicBezTo>
                    <a:pt x="57785" y="3591560"/>
                    <a:pt x="0" y="3533775"/>
                    <a:pt x="0" y="3462655"/>
                  </a:cubicBezTo>
                  <a:close/>
                </a:path>
              </a:pathLst>
            </a:custGeom>
            <a:solidFill>
              <a:srgbClr val="E0EBEC"/>
            </a:solidFill>
            <a:ln w="19050" cap="sq">
              <a:solidFill>
                <a:srgbClr val="CFDBDC"/>
              </a:solidFill>
              <a:prstDash val="solid"/>
              <a:miter/>
            </a:ln>
          </p:spPr>
        </p:sp>
      </p:grpSp>
      <p:grpSp>
        <p:nvGrpSpPr>
          <p:cNvPr name="Group 40" id="40"/>
          <p:cNvGrpSpPr/>
          <p:nvPr/>
        </p:nvGrpSpPr>
        <p:grpSpPr>
          <a:xfrm rot="0">
            <a:off x="1117854" y="7214235"/>
            <a:ext cx="16047720" cy="2194560"/>
            <a:chOff x="0" y="0"/>
            <a:chExt cx="21396960" cy="2926080"/>
          </a:xfrm>
        </p:grpSpPr>
        <p:grpSp>
          <p:nvGrpSpPr>
            <p:cNvPr name="Group 41" id="41"/>
            <p:cNvGrpSpPr/>
            <p:nvPr/>
          </p:nvGrpSpPr>
          <p:grpSpPr>
            <a:xfrm rot="0">
              <a:off x="0" y="0"/>
              <a:ext cx="21086064" cy="621792"/>
              <a:chOff x="0" y="0"/>
              <a:chExt cx="21086064" cy="621792"/>
            </a:xfrm>
          </p:grpSpPr>
          <p:sp>
            <p:nvSpPr>
              <p:cNvPr name="Freeform 42" id="42"/>
              <p:cNvSpPr/>
              <p:nvPr/>
            </p:nvSpPr>
            <p:spPr>
              <a:xfrm flipH="false" flipV="false" rot="0">
                <a:off x="0" y="0"/>
                <a:ext cx="21086065" cy="621792"/>
              </a:xfrm>
              <a:custGeom>
                <a:avLst/>
                <a:gdLst/>
                <a:ahLst/>
                <a:cxnLst/>
                <a:rect r="r" b="b" t="t" l="l"/>
                <a:pathLst>
                  <a:path h="621792" w="21086065">
                    <a:moveTo>
                      <a:pt x="0" y="0"/>
                    </a:moveTo>
                    <a:lnTo>
                      <a:pt x="21086065" y="0"/>
                    </a:lnTo>
                    <a:lnTo>
                      <a:pt x="21086065" y="621792"/>
                    </a:lnTo>
                    <a:lnTo>
                      <a:pt x="0" y="621792"/>
                    </a:lnTo>
                    <a:close/>
                  </a:path>
                </a:pathLst>
              </a:custGeom>
              <a:blipFill>
                <a:blip r:embed="rId3">
                  <a:alphaModFix amt="0"/>
                </a:blip>
                <a:stretch>
                  <a:fillRect l="0" t="-610772" r="0" b="-610772"/>
                </a:stretch>
              </a:blipFill>
            </p:spPr>
          </p:sp>
          <p:sp>
            <p:nvSpPr>
              <p:cNvPr name="TextBox 43" id="43"/>
              <p:cNvSpPr txBox="true"/>
              <p:nvPr/>
            </p:nvSpPr>
            <p:spPr>
              <a:xfrm>
                <a:off x="0" y="-19050"/>
                <a:ext cx="21086064" cy="640842"/>
              </a:xfrm>
              <a:prstGeom prst="rect">
                <a:avLst/>
              </a:prstGeom>
            </p:spPr>
            <p:txBody>
              <a:bodyPr anchor="ctr" rtlCol="false" tIns="0" lIns="0" bIns="0" rIns="0"/>
              <a:lstStyle/>
              <a:p>
                <a:pPr algn="l">
                  <a:lnSpc>
                    <a:spcPts val="2700"/>
                  </a:lnSpc>
                </a:pPr>
                <a:r>
                  <a:rPr lang="en-US" sz="2250" b="true">
                    <a:solidFill>
                      <a:srgbClr val="1B2A33"/>
                    </a:solidFill>
                    <a:latin typeface="Cambria Bold"/>
                    <a:ea typeface="Cambria Bold"/>
                    <a:cs typeface="Cambria Bold"/>
                    <a:sym typeface="Cambria Bold"/>
                  </a:rPr>
                  <a:t>Research gap — the three contributions of this thesis</a:t>
                </a:r>
              </a:p>
            </p:txBody>
          </p:sp>
        </p:grpSp>
        <p:sp>
          <p:nvSpPr>
            <p:cNvPr name="TextBox 44" id="44"/>
            <p:cNvSpPr txBox="true"/>
            <p:nvPr/>
          </p:nvSpPr>
          <p:spPr>
            <a:xfrm rot="0">
              <a:off x="0" y="749046"/>
              <a:ext cx="822960" cy="1756410"/>
            </a:xfrm>
            <a:prstGeom prst="rect">
              <a:avLst/>
            </a:prstGeom>
          </p:spPr>
          <p:txBody>
            <a:bodyPr anchor="t" rtlCol="false" tIns="0" lIns="0" bIns="0" rIns="0">
              <a:spAutoFit/>
            </a:bodyPr>
            <a:lstStyle/>
            <a:p>
              <a:pPr algn="l">
                <a:lnSpc>
                  <a:spcPts val="5400"/>
                </a:lnSpc>
              </a:pPr>
              <a:r>
                <a:rPr lang="en-US" sz="4500" b="true">
                  <a:solidFill>
                    <a:srgbClr val="1A5B6E"/>
                  </a:solidFill>
                  <a:latin typeface="Cambria Bold"/>
                  <a:ea typeface="Cambria Bold"/>
                  <a:cs typeface="Cambria Bold"/>
                  <a:sym typeface="Cambria Bold"/>
                </a:rPr>
                <a:t>1</a:t>
              </a:r>
            </a:p>
          </p:txBody>
        </p:sp>
        <p:sp>
          <p:nvSpPr>
            <p:cNvPr name="TextBox 45" id="45"/>
            <p:cNvSpPr txBox="true"/>
            <p:nvPr/>
          </p:nvSpPr>
          <p:spPr>
            <a:xfrm rot="0">
              <a:off x="950976" y="866775"/>
              <a:ext cx="5998464" cy="2059305"/>
            </a:xfrm>
            <a:prstGeom prst="rect">
              <a:avLst/>
            </a:prstGeom>
          </p:spPr>
          <p:txBody>
            <a:bodyPr anchor="t" rtlCol="false" tIns="0" lIns="0" bIns="0" rIns="0">
              <a:spAutoFit/>
            </a:bodyPr>
            <a:lstStyle/>
            <a:p>
              <a:pPr algn="l">
                <a:lnSpc>
                  <a:spcPts val="2194"/>
                </a:lnSpc>
              </a:pPr>
              <a:r>
                <a:rPr lang="en-US" sz="1725">
                  <a:solidFill>
                    <a:srgbClr val="39454E"/>
                  </a:solidFill>
                  <a:latin typeface="Calibri (MS)"/>
                  <a:ea typeface="Calibri (MS)"/>
                  <a:cs typeface="Calibri (MS)"/>
                  <a:sym typeface="Calibri (MS)"/>
                </a:rPr>
                <a:t>Fixed vs. learnable ODE parameters compared head-to-head under leave-one-cell-out.</a:t>
              </a:r>
            </a:p>
          </p:txBody>
        </p:sp>
        <p:sp>
          <p:nvSpPr>
            <p:cNvPr name="TextBox 46" id="46"/>
            <p:cNvSpPr txBox="true"/>
            <p:nvPr/>
          </p:nvSpPr>
          <p:spPr>
            <a:xfrm rot="0">
              <a:off x="7223760" y="749046"/>
              <a:ext cx="822960" cy="1756410"/>
            </a:xfrm>
            <a:prstGeom prst="rect">
              <a:avLst/>
            </a:prstGeom>
          </p:spPr>
          <p:txBody>
            <a:bodyPr anchor="t" rtlCol="false" tIns="0" lIns="0" bIns="0" rIns="0">
              <a:spAutoFit/>
            </a:bodyPr>
            <a:lstStyle/>
            <a:p>
              <a:pPr algn="l">
                <a:lnSpc>
                  <a:spcPts val="5400"/>
                </a:lnSpc>
              </a:pPr>
              <a:r>
                <a:rPr lang="en-US" sz="4500" b="true">
                  <a:solidFill>
                    <a:srgbClr val="1A5B6E"/>
                  </a:solidFill>
                  <a:latin typeface="Cambria Bold"/>
                  <a:ea typeface="Cambria Bold"/>
                  <a:cs typeface="Cambria Bold"/>
                  <a:sym typeface="Cambria Bold"/>
                </a:rPr>
                <a:t>2</a:t>
              </a:r>
            </a:p>
          </p:txBody>
        </p:sp>
        <p:sp>
          <p:nvSpPr>
            <p:cNvPr name="TextBox 47" id="47"/>
            <p:cNvSpPr txBox="true"/>
            <p:nvPr/>
          </p:nvSpPr>
          <p:spPr>
            <a:xfrm rot="0">
              <a:off x="8174736" y="866775"/>
              <a:ext cx="5998464" cy="2059305"/>
            </a:xfrm>
            <a:prstGeom prst="rect">
              <a:avLst/>
            </a:prstGeom>
          </p:spPr>
          <p:txBody>
            <a:bodyPr anchor="t" rtlCol="false" tIns="0" lIns="0" bIns="0" rIns="0">
              <a:spAutoFit/>
            </a:bodyPr>
            <a:lstStyle/>
            <a:p>
              <a:pPr algn="l">
                <a:lnSpc>
                  <a:spcPts val="2194"/>
                </a:lnSpc>
              </a:pPr>
              <a:r>
                <a:rPr lang="en-US" sz="1725">
                  <a:solidFill>
                    <a:srgbClr val="39454E"/>
                  </a:solidFill>
                  <a:latin typeface="Calibri (MS)"/>
                  <a:ea typeface="Calibri (MS)"/>
                  <a:cs typeface="Calibri (MS)"/>
                  <a:sym typeface="Calibri (MS)"/>
                </a:rPr>
                <a:t>Uncertainty weighting tested honestly against a tuned fixed loss weight.</a:t>
              </a:r>
            </a:p>
          </p:txBody>
        </p:sp>
        <p:sp>
          <p:nvSpPr>
            <p:cNvPr name="TextBox 48" id="48"/>
            <p:cNvSpPr txBox="true"/>
            <p:nvPr/>
          </p:nvSpPr>
          <p:spPr>
            <a:xfrm rot="0">
              <a:off x="14447520" y="749046"/>
              <a:ext cx="822960" cy="1756410"/>
            </a:xfrm>
            <a:prstGeom prst="rect">
              <a:avLst/>
            </a:prstGeom>
          </p:spPr>
          <p:txBody>
            <a:bodyPr anchor="t" rtlCol="false" tIns="0" lIns="0" bIns="0" rIns="0">
              <a:spAutoFit/>
            </a:bodyPr>
            <a:lstStyle/>
            <a:p>
              <a:pPr algn="l">
                <a:lnSpc>
                  <a:spcPts val="5400"/>
                </a:lnSpc>
              </a:pPr>
              <a:r>
                <a:rPr lang="en-US" sz="4500" b="true">
                  <a:solidFill>
                    <a:srgbClr val="1A5B6E"/>
                  </a:solidFill>
                  <a:latin typeface="Cambria Bold"/>
                  <a:ea typeface="Cambria Bold"/>
                  <a:cs typeface="Cambria Bold"/>
                  <a:sym typeface="Cambria Bold"/>
                </a:rPr>
                <a:t>3</a:t>
              </a:r>
            </a:p>
          </p:txBody>
        </p:sp>
        <p:sp>
          <p:nvSpPr>
            <p:cNvPr name="TextBox 49" id="49"/>
            <p:cNvSpPr txBox="true"/>
            <p:nvPr/>
          </p:nvSpPr>
          <p:spPr>
            <a:xfrm rot="0">
              <a:off x="15398496" y="866775"/>
              <a:ext cx="5998464" cy="2059305"/>
            </a:xfrm>
            <a:prstGeom prst="rect">
              <a:avLst/>
            </a:prstGeom>
          </p:spPr>
          <p:txBody>
            <a:bodyPr anchor="t" rtlCol="false" tIns="0" lIns="0" bIns="0" rIns="0">
              <a:spAutoFit/>
            </a:bodyPr>
            <a:lstStyle/>
            <a:p>
              <a:pPr algn="l">
                <a:lnSpc>
                  <a:spcPts val="2194"/>
                </a:lnSpc>
              </a:pPr>
              <a:r>
                <a:rPr lang="en-US" sz="1725">
                  <a:solidFill>
                    <a:srgbClr val="39454E"/>
                  </a:solidFill>
                  <a:latin typeface="Calibri (MS)"/>
                  <a:ea typeface="Calibri (MS)"/>
                  <a:cs typeface="Calibri (MS)"/>
                  <a:sym typeface="Calibri (MS)"/>
                </a:rPr>
                <a:t>A measured (not estimated) Cortex-M4 deployment profile of the full framework.</a:t>
              </a:r>
            </a:p>
          </p:txBody>
        </p:sp>
      </p:grpSp>
      <p:grpSp>
        <p:nvGrpSpPr>
          <p:cNvPr name="Group 50" id="50"/>
          <p:cNvGrpSpPr/>
          <p:nvPr/>
        </p:nvGrpSpPr>
        <p:grpSpPr>
          <a:xfrm rot="0">
            <a:off x="822960" y="9683496"/>
            <a:ext cx="8229600" cy="411480"/>
            <a:chOff x="0" y="0"/>
            <a:chExt cx="10972800" cy="548640"/>
          </a:xfrm>
        </p:grpSpPr>
        <p:sp>
          <p:nvSpPr>
            <p:cNvPr name="Freeform 51" id="51"/>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52" id="52"/>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6E7A83"/>
                  </a:solidFill>
                  <a:latin typeface="Calibri (MS)"/>
                  <a:ea typeface="Calibri (MS)"/>
                  <a:cs typeface="Calibri (MS)"/>
                  <a:sym typeface="Calibri (MS)"/>
                </a:rPr>
                <a:t>Rajat Sharma · CH24M559 · IIT Madras</a:t>
              </a:r>
            </a:p>
          </p:txBody>
        </p:sp>
      </p:grpSp>
      <p:grpSp>
        <p:nvGrpSpPr>
          <p:cNvPr name="Group 53" id="53"/>
          <p:cNvGrpSpPr/>
          <p:nvPr/>
        </p:nvGrpSpPr>
        <p:grpSpPr>
          <a:xfrm rot="0">
            <a:off x="16637508" y="9683496"/>
            <a:ext cx="822960" cy="411480"/>
            <a:chOff x="0" y="0"/>
            <a:chExt cx="1097280" cy="548640"/>
          </a:xfrm>
        </p:grpSpPr>
        <p:sp>
          <p:nvSpPr>
            <p:cNvPr name="Freeform 54" id="54"/>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3">
                <a:alphaModFix amt="0"/>
              </a:blip>
              <a:stretch>
                <a:fillRect l="-14151" t="0" r="-14151" b="0"/>
              </a:stretch>
            </a:blipFill>
          </p:spPr>
        </p:sp>
        <p:sp>
          <p:nvSpPr>
            <p:cNvPr name="TextBox 55" id="55"/>
            <p:cNvSpPr txBox="true"/>
            <p:nvPr/>
          </p:nvSpPr>
          <p:spPr>
            <a:xfrm>
              <a:off x="0" y="-38100"/>
              <a:ext cx="1097280" cy="586740"/>
            </a:xfrm>
            <a:prstGeom prst="rect">
              <a:avLst/>
            </a:prstGeom>
          </p:spPr>
          <p:txBody>
            <a:bodyPr anchor="ctr" rtlCol="false" tIns="0" lIns="0" bIns="0" rIns="0"/>
            <a:lstStyle/>
            <a:p>
              <a:pPr algn="r">
                <a:lnSpc>
                  <a:spcPts val="1709"/>
                </a:lnSpc>
              </a:pPr>
              <a:r>
                <a:rPr lang="en-US" sz="1425">
                  <a:solidFill>
                    <a:srgbClr val="6E7A83"/>
                  </a:solidFill>
                  <a:latin typeface="Calibri (MS)"/>
                  <a:ea typeface="Calibri (MS)"/>
                  <a:cs typeface="Calibri (MS)"/>
                  <a:sym typeface="Calibri (MS)"/>
                </a:rPr>
                <a:t>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BF0F1"/>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16637508" cy="391408"/>
            <a:chOff x="0" y="0"/>
            <a:chExt cx="22183344" cy="521878"/>
          </a:xfrm>
        </p:grpSpPr>
        <p:sp>
          <p:nvSpPr>
            <p:cNvPr name="Freeform 3" id="3"/>
            <p:cNvSpPr/>
            <p:nvPr/>
          </p:nvSpPr>
          <p:spPr>
            <a:xfrm flipH="false" flipV="false" rot="0">
              <a:off x="0" y="0"/>
              <a:ext cx="22183344" cy="521878"/>
            </a:xfrm>
            <a:custGeom>
              <a:avLst/>
              <a:gdLst/>
              <a:ahLst/>
              <a:cxnLst/>
              <a:rect r="r" b="b" t="t" l="l"/>
              <a:pathLst>
                <a:path h="521878" w="22183344">
                  <a:moveTo>
                    <a:pt x="0" y="0"/>
                  </a:moveTo>
                  <a:lnTo>
                    <a:pt x="22183344" y="0"/>
                  </a:lnTo>
                  <a:lnTo>
                    <a:pt x="22183344" y="521878"/>
                  </a:lnTo>
                  <a:lnTo>
                    <a:pt x="0" y="521878"/>
                  </a:lnTo>
                  <a:close/>
                </a:path>
              </a:pathLst>
            </a:custGeom>
            <a:blipFill>
              <a:blip r:embed="rId3">
                <a:alphaModFix amt="0"/>
              </a:blip>
              <a:stretch>
                <a:fillRect l="0" t="-782690" r="0" b="-773801"/>
              </a:stretch>
            </a:blipFill>
          </p:spPr>
        </p:sp>
        <p:sp>
          <p:nvSpPr>
            <p:cNvPr name="TextBox 4" id="4"/>
            <p:cNvSpPr txBox="true"/>
            <p:nvPr/>
          </p:nvSpPr>
          <p:spPr>
            <a:xfrm>
              <a:off x="0" y="-47625"/>
              <a:ext cx="22183344" cy="569503"/>
            </a:xfrm>
            <a:prstGeom prst="rect">
              <a:avLst/>
            </a:prstGeom>
          </p:spPr>
          <p:txBody>
            <a:bodyPr anchor="ctr" rtlCol="false" tIns="0" lIns="0" bIns="0" rIns="0"/>
            <a:lstStyle/>
            <a:p>
              <a:pPr algn="l">
                <a:lnSpc>
                  <a:spcPts val="2339"/>
                </a:lnSpc>
              </a:pPr>
              <a:r>
                <a:rPr lang="en-US" b="true" sz="1949" spc="425">
                  <a:solidFill>
                    <a:srgbClr val="1A5B6E"/>
                  </a:solidFill>
                  <a:latin typeface="Calibri (MS) Bold"/>
                  <a:ea typeface="Calibri (MS) Bold"/>
                  <a:cs typeface="Calibri (MS) Bold"/>
                  <a:sym typeface="Calibri (MS) Bold"/>
                </a:rPr>
                <a:t>PROBLEM STATEMENT</a:t>
              </a:r>
            </a:p>
          </p:txBody>
        </p:sp>
      </p:grpSp>
      <p:grpSp>
        <p:nvGrpSpPr>
          <p:cNvPr name="Group 5" id="5"/>
          <p:cNvGrpSpPr/>
          <p:nvPr/>
        </p:nvGrpSpPr>
        <p:grpSpPr>
          <a:xfrm rot="0">
            <a:off x="822960" y="960120"/>
            <a:ext cx="16637508" cy="850392"/>
            <a:chOff x="0" y="0"/>
            <a:chExt cx="22183344" cy="1133856"/>
          </a:xfrm>
        </p:grpSpPr>
        <p:sp>
          <p:nvSpPr>
            <p:cNvPr name="Freeform 6" id="6"/>
            <p:cNvSpPr/>
            <p:nvPr/>
          </p:nvSpPr>
          <p:spPr>
            <a:xfrm flipH="false" flipV="false" rot="0">
              <a:off x="0" y="0"/>
              <a:ext cx="22183344" cy="1133856"/>
            </a:xfrm>
            <a:custGeom>
              <a:avLst/>
              <a:gdLst/>
              <a:ahLst/>
              <a:cxnLst/>
              <a:rect r="r" b="b" t="t" l="l"/>
              <a:pathLst>
                <a:path h="1133856" w="22183344">
                  <a:moveTo>
                    <a:pt x="0" y="0"/>
                  </a:moveTo>
                  <a:lnTo>
                    <a:pt x="22183344" y="0"/>
                  </a:lnTo>
                  <a:lnTo>
                    <a:pt x="22183344" y="1133856"/>
                  </a:lnTo>
                  <a:lnTo>
                    <a:pt x="0" y="1133856"/>
                  </a:lnTo>
                  <a:close/>
                </a:path>
              </a:pathLst>
            </a:custGeom>
            <a:blipFill>
              <a:blip r:embed="rId3">
                <a:alphaModFix amt="0"/>
              </a:blip>
              <a:stretch>
                <a:fillRect l="0" t="-331215" r="0" b="-331215"/>
              </a:stretch>
            </a:blipFill>
          </p:spPr>
        </p:sp>
        <p:sp>
          <p:nvSpPr>
            <p:cNvPr name="TextBox 7" id="7"/>
            <p:cNvSpPr txBox="true"/>
            <p:nvPr/>
          </p:nvSpPr>
          <p:spPr>
            <a:xfrm>
              <a:off x="0" y="-9525"/>
              <a:ext cx="22183344" cy="1143381"/>
            </a:xfrm>
            <a:prstGeom prst="rect">
              <a:avLst/>
            </a:prstGeom>
          </p:spPr>
          <p:txBody>
            <a:bodyPr anchor="ctr" rtlCol="false" tIns="0" lIns="0" bIns="0" rIns="0"/>
            <a:lstStyle/>
            <a:p>
              <a:pPr algn="l">
                <a:lnSpc>
                  <a:spcPts val="5220"/>
                </a:lnSpc>
              </a:pPr>
              <a:r>
                <a:rPr lang="en-US" sz="4350" b="true">
                  <a:solidFill>
                    <a:srgbClr val="1B2A33"/>
                  </a:solidFill>
                  <a:latin typeface="Cambria Bold"/>
                  <a:ea typeface="Cambria Bold"/>
                  <a:cs typeface="Cambria Bold"/>
                  <a:sym typeface="Cambria Bold"/>
                </a:rPr>
                <a:t>Formal Definitions and the Research Question</a:t>
              </a:r>
            </a:p>
          </p:txBody>
        </p:sp>
      </p:grpSp>
      <p:grpSp>
        <p:nvGrpSpPr>
          <p:cNvPr name="Group 8" id="8"/>
          <p:cNvGrpSpPr/>
          <p:nvPr/>
        </p:nvGrpSpPr>
        <p:grpSpPr>
          <a:xfrm rot="0">
            <a:off x="813435" y="2116455"/>
            <a:ext cx="7946390" cy="7288530"/>
            <a:chOff x="0" y="0"/>
            <a:chExt cx="10595187" cy="9718040"/>
          </a:xfrm>
        </p:grpSpPr>
        <p:sp>
          <p:nvSpPr>
            <p:cNvPr name="Freeform 9" id="9"/>
            <p:cNvSpPr/>
            <p:nvPr/>
          </p:nvSpPr>
          <p:spPr>
            <a:xfrm flipH="false" flipV="false" rot="0">
              <a:off x="0" y="0"/>
              <a:ext cx="10595187" cy="9718040"/>
            </a:xfrm>
            <a:custGeom>
              <a:avLst/>
              <a:gdLst/>
              <a:ahLst/>
              <a:cxnLst/>
              <a:rect r="r" b="b" t="t" l="l"/>
              <a:pathLst>
                <a:path h="9718040" w="10595187">
                  <a:moveTo>
                    <a:pt x="0" y="128397"/>
                  </a:moveTo>
                  <a:cubicBezTo>
                    <a:pt x="0" y="57531"/>
                    <a:pt x="54074" y="0"/>
                    <a:pt x="120682" y="0"/>
                  </a:cubicBezTo>
                  <a:lnTo>
                    <a:pt x="10474505" y="0"/>
                  </a:lnTo>
                  <a:cubicBezTo>
                    <a:pt x="10541112" y="0"/>
                    <a:pt x="10595187" y="57531"/>
                    <a:pt x="10595187" y="128397"/>
                  </a:cubicBezTo>
                  <a:lnTo>
                    <a:pt x="10595187" y="9589643"/>
                  </a:lnTo>
                  <a:cubicBezTo>
                    <a:pt x="10595187" y="9660510"/>
                    <a:pt x="10541112" y="9718040"/>
                    <a:pt x="10474505" y="9718040"/>
                  </a:cubicBezTo>
                  <a:lnTo>
                    <a:pt x="120682" y="9718040"/>
                  </a:lnTo>
                  <a:cubicBezTo>
                    <a:pt x="54074" y="9718040"/>
                    <a:pt x="0" y="9660509"/>
                    <a:pt x="0" y="9589643"/>
                  </a:cubicBezTo>
                  <a:close/>
                </a:path>
              </a:pathLst>
            </a:custGeom>
            <a:solidFill>
              <a:srgbClr val="FFFFFF"/>
            </a:solidFill>
            <a:ln w="19050" cap="sq">
              <a:solidFill>
                <a:srgbClr val="CFDBDC"/>
              </a:solidFill>
              <a:prstDash val="solid"/>
              <a:miter/>
            </a:ln>
          </p:spPr>
        </p:sp>
      </p:grpSp>
      <p:grpSp>
        <p:nvGrpSpPr>
          <p:cNvPr name="Group 10" id="10"/>
          <p:cNvGrpSpPr/>
          <p:nvPr/>
        </p:nvGrpSpPr>
        <p:grpSpPr>
          <a:xfrm rot="0">
            <a:off x="1207008" y="2386584"/>
            <a:ext cx="7680960" cy="393873"/>
            <a:chOff x="0" y="0"/>
            <a:chExt cx="10241280" cy="525165"/>
          </a:xfrm>
        </p:grpSpPr>
        <p:sp>
          <p:nvSpPr>
            <p:cNvPr name="Freeform 11" id="11"/>
            <p:cNvSpPr/>
            <p:nvPr/>
          </p:nvSpPr>
          <p:spPr>
            <a:xfrm flipH="false" flipV="false" rot="0">
              <a:off x="0" y="0"/>
              <a:ext cx="10241280" cy="525165"/>
            </a:xfrm>
            <a:custGeom>
              <a:avLst/>
              <a:gdLst/>
              <a:ahLst/>
              <a:cxnLst/>
              <a:rect r="r" b="b" t="t" l="l"/>
              <a:pathLst>
                <a:path h="525165" w="10241280">
                  <a:moveTo>
                    <a:pt x="0" y="0"/>
                  </a:moveTo>
                  <a:lnTo>
                    <a:pt x="10241280" y="0"/>
                  </a:lnTo>
                  <a:lnTo>
                    <a:pt x="10241280" y="525165"/>
                  </a:lnTo>
                  <a:lnTo>
                    <a:pt x="0" y="525165"/>
                  </a:lnTo>
                  <a:close/>
                </a:path>
              </a:pathLst>
            </a:custGeom>
            <a:blipFill>
              <a:blip r:embed="rId3">
                <a:alphaModFix amt="0"/>
              </a:blip>
              <a:stretch>
                <a:fillRect l="0" t="-331226" r="0" b="-328732"/>
              </a:stretch>
            </a:blipFill>
          </p:spPr>
        </p:sp>
        <p:sp>
          <p:nvSpPr>
            <p:cNvPr name="TextBox 12" id="12"/>
            <p:cNvSpPr txBox="true"/>
            <p:nvPr/>
          </p:nvSpPr>
          <p:spPr>
            <a:xfrm>
              <a:off x="0" y="-47625"/>
              <a:ext cx="10241280" cy="572790"/>
            </a:xfrm>
            <a:prstGeom prst="rect">
              <a:avLst/>
            </a:prstGeom>
          </p:spPr>
          <p:txBody>
            <a:bodyPr anchor="ctr" rtlCol="false" tIns="0" lIns="0" bIns="0" rIns="0"/>
            <a:lstStyle/>
            <a:p>
              <a:pPr algn="l">
                <a:lnSpc>
                  <a:spcPts val="2399"/>
                </a:lnSpc>
              </a:pPr>
              <a:r>
                <a:rPr lang="en-US" sz="1999" b="true">
                  <a:solidFill>
                    <a:srgbClr val="1A5B6E"/>
                  </a:solidFill>
                  <a:latin typeface="Calibri (MS) Bold"/>
                  <a:ea typeface="Calibri (MS) Bold"/>
                  <a:cs typeface="Calibri (MS) Bold"/>
                  <a:sym typeface="Calibri (MS) Bold"/>
                </a:rPr>
                <a:t>State of Health (SOH)</a:t>
              </a:r>
            </a:p>
          </p:txBody>
        </p:sp>
      </p:grpSp>
      <p:grpSp>
        <p:nvGrpSpPr>
          <p:cNvPr name="Group 13" id="13"/>
          <p:cNvGrpSpPr/>
          <p:nvPr/>
        </p:nvGrpSpPr>
        <p:grpSpPr>
          <a:xfrm rot="0">
            <a:off x="1207008" y="3041467"/>
            <a:ext cx="3259048" cy="707567"/>
            <a:chOff x="0" y="0"/>
            <a:chExt cx="2527033" cy="548640"/>
          </a:xfrm>
        </p:grpSpPr>
        <p:sp>
          <p:nvSpPr>
            <p:cNvPr name="Freeform 14" id="14" descr="/tmp/deck/eq/soh.png"/>
            <p:cNvSpPr/>
            <p:nvPr/>
          </p:nvSpPr>
          <p:spPr>
            <a:xfrm flipH="false" flipV="false" rot="0">
              <a:off x="0" y="0"/>
              <a:ext cx="2527046" cy="548640"/>
            </a:xfrm>
            <a:custGeom>
              <a:avLst/>
              <a:gdLst/>
              <a:ahLst/>
              <a:cxnLst/>
              <a:rect r="r" b="b" t="t" l="l"/>
              <a:pathLst>
                <a:path h="548640" w="2527046">
                  <a:moveTo>
                    <a:pt x="0" y="0"/>
                  </a:moveTo>
                  <a:lnTo>
                    <a:pt x="2527046" y="0"/>
                  </a:lnTo>
                  <a:lnTo>
                    <a:pt x="2527046" y="548640"/>
                  </a:lnTo>
                  <a:lnTo>
                    <a:pt x="0" y="548640"/>
                  </a:lnTo>
                  <a:lnTo>
                    <a:pt x="0" y="0"/>
                  </a:lnTo>
                  <a:close/>
                </a:path>
              </a:pathLst>
            </a:custGeom>
            <a:blipFill>
              <a:blip r:embed="rId4"/>
              <a:stretch>
                <a:fillRect l="0" t="0" r="0" b="0"/>
              </a:stretch>
            </a:blipFill>
          </p:spPr>
        </p:sp>
      </p:grpSp>
      <p:grpSp>
        <p:nvGrpSpPr>
          <p:cNvPr name="Group 15" id="15"/>
          <p:cNvGrpSpPr/>
          <p:nvPr/>
        </p:nvGrpSpPr>
        <p:grpSpPr>
          <a:xfrm rot="0">
            <a:off x="1207008" y="4142232"/>
            <a:ext cx="7680960" cy="393873"/>
            <a:chOff x="0" y="0"/>
            <a:chExt cx="10241280" cy="525165"/>
          </a:xfrm>
        </p:grpSpPr>
        <p:sp>
          <p:nvSpPr>
            <p:cNvPr name="Freeform 16" id="16"/>
            <p:cNvSpPr/>
            <p:nvPr/>
          </p:nvSpPr>
          <p:spPr>
            <a:xfrm flipH="false" flipV="false" rot="0">
              <a:off x="0" y="0"/>
              <a:ext cx="10241280" cy="525165"/>
            </a:xfrm>
            <a:custGeom>
              <a:avLst/>
              <a:gdLst/>
              <a:ahLst/>
              <a:cxnLst/>
              <a:rect r="r" b="b" t="t" l="l"/>
              <a:pathLst>
                <a:path h="525165" w="10241280">
                  <a:moveTo>
                    <a:pt x="0" y="0"/>
                  </a:moveTo>
                  <a:lnTo>
                    <a:pt x="10241280" y="0"/>
                  </a:lnTo>
                  <a:lnTo>
                    <a:pt x="10241280" y="525165"/>
                  </a:lnTo>
                  <a:lnTo>
                    <a:pt x="0" y="525165"/>
                  </a:lnTo>
                  <a:close/>
                </a:path>
              </a:pathLst>
            </a:custGeom>
            <a:blipFill>
              <a:blip r:embed="rId3">
                <a:alphaModFix amt="0"/>
              </a:blip>
              <a:stretch>
                <a:fillRect l="0" t="-331226" r="0" b="-328732"/>
              </a:stretch>
            </a:blipFill>
          </p:spPr>
        </p:sp>
        <p:sp>
          <p:nvSpPr>
            <p:cNvPr name="TextBox 17" id="17"/>
            <p:cNvSpPr txBox="true"/>
            <p:nvPr/>
          </p:nvSpPr>
          <p:spPr>
            <a:xfrm>
              <a:off x="0" y="-47625"/>
              <a:ext cx="10241280" cy="572790"/>
            </a:xfrm>
            <a:prstGeom prst="rect">
              <a:avLst/>
            </a:prstGeom>
          </p:spPr>
          <p:txBody>
            <a:bodyPr anchor="ctr" rtlCol="false" tIns="0" lIns="0" bIns="0" rIns="0"/>
            <a:lstStyle/>
            <a:p>
              <a:pPr algn="l">
                <a:lnSpc>
                  <a:spcPts val="2399"/>
                </a:lnSpc>
              </a:pPr>
              <a:r>
                <a:rPr lang="en-US" sz="1999" b="true">
                  <a:solidFill>
                    <a:srgbClr val="1A5B6E"/>
                  </a:solidFill>
                  <a:latin typeface="Calibri (MS) Bold"/>
                  <a:ea typeface="Calibri (MS) Bold"/>
                  <a:cs typeface="Calibri (MS) Bold"/>
                  <a:sym typeface="Calibri (MS) Bold"/>
                </a:rPr>
                <a:t>Learning task</a:t>
              </a:r>
            </a:p>
          </p:txBody>
        </p:sp>
      </p:grpSp>
      <p:grpSp>
        <p:nvGrpSpPr>
          <p:cNvPr name="Group 18" id="18"/>
          <p:cNvGrpSpPr/>
          <p:nvPr/>
        </p:nvGrpSpPr>
        <p:grpSpPr>
          <a:xfrm rot="0">
            <a:off x="1207008" y="4621570"/>
            <a:ext cx="2579152" cy="339050"/>
            <a:chOff x="0" y="0"/>
            <a:chExt cx="4173499" cy="548640"/>
          </a:xfrm>
        </p:grpSpPr>
        <p:sp>
          <p:nvSpPr>
            <p:cNvPr name="Freeform 19" id="19" descr="/tmp/deck/eq/task.png"/>
            <p:cNvSpPr/>
            <p:nvPr/>
          </p:nvSpPr>
          <p:spPr>
            <a:xfrm flipH="false" flipV="false" rot="0">
              <a:off x="0" y="0"/>
              <a:ext cx="4173474" cy="548640"/>
            </a:xfrm>
            <a:custGeom>
              <a:avLst/>
              <a:gdLst/>
              <a:ahLst/>
              <a:cxnLst/>
              <a:rect r="r" b="b" t="t" l="l"/>
              <a:pathLst>
                <a:path h="548640" w="4173474">
                  <a:moveTo>
                    <a:pt x="0" y="0"/>
                  </a:moveTo>
                  <a:lnTo>
                    <a:pt x="4173474" y="0"/>
                  </a:lnTo>
                  <a:lnTo>
                    <a:pt x="4173474" y="548640"/>
                  </a:lnTo>
                  <a:lnTo>
                    <a:pt x="0" y="548640"/>
                  </a:lnTo>
                  <a:lnTo>
                    <a:pt x="0" y="0"/>
                  </a:lnTo>
                  <a:close/>
                </a:path>
              </a:pathLst>
            </a:custGeom>
            <a:blipFill>
              <a:blip r:embed="rId5"/>
              <a:stretch>
                <a:fillRect l="0" t="0" r="-1" b="0"/>
              </a:stretch>
            </a:blipFill>
          </p:spPr>
        </p:sp>
      </p:grpSp>
      <p:grpSp>
        <p:nvGrpSpPr>
          <p:cNvPr name="Group 20" id="20"/>
          <p:cNvGrpSpPr/>
          <p:nvPr/>
        </p:nvGrpSpPr>
        <p:grpSpPr>
          <a:xfrm rot="0">
            <a:off x="1207008" y="5074920"/>
            <a:ext cx="7680960" cy="576072"/>
            <a:chOff x="0" y="0"/>
            <a:chExt cx="10241280" cy="768096"/>
          </a:xfrm>
        </p:grpSpPr>
        <p:sp>
          <p:nvSpPr>
            <p:cNvPr name="Freeform 21" id="21"/>
            <p:cNvSpPr/>
            <p:nvPr/>
          </p:nvSpPr>
          <p:spPr>
            <a:xfrm flipH="false" flipV="false" rot="0">
              <a:off x="0" y="0"/>
              <a:ext cx="10241280" cy="768096"/>
            </a:xfrm>
            <a:custGeom>
              <a:avLst/>
              <a:gdLst/>
              <a:ahLst/>
              <a:cxnLst/>
              <a:rect r="r" b="b" t="t" l="l"/>
              <a:pathLst>
                <a:path h="768096" w="10241280">
                  <a:moveTo>
                    <a:pt x="0" y="0"/>
                  </a:moveTo>
                  <a:lnTo>
                    <a:pt x="10241280" y="0"/>
                  </a:lnTo>
                  <a:lnTo>
                    <a:pt x="10241280" y="768096"/>
                  </a:lnTo>
                  <a:lnTo>
                    <a:pt x="0" y="768096"/>
                  </a:lnTo>
                  <a:close/>
                </a:path>
              </a:pathLst>
            </a:custGeom>
            <a:blipFill>
              <a:blip r:embed="rId3">
                <a:alphaModFix amt="0"/>
              </a:blip>
              <a:stretch>
                <a:fillRect l="0" t="-209800" r="0" b="-209800"/>
              </a:stretch>
            </a:blipFill>
          </p:spPr>
        </p:sp>
        <p:sp>
          <p:nvSpPr>
            <p:cNvPr name="TextBox 22" id="22"/>
            <p:cNvSpPr txBox="true"/>
            <p:nvPr/>
          </p:nvSpPr>
          <p:spPr>
            <a:xfrm>
              <a:off x="0" y="-28575"/>
              <a:ext cx="10241280" cy="796671"/>
            </a:xfrm>
            <a:prstGeom prst="rect">
              <a:avLst/>
            </a:prstGeom>
          </p:spPr>
          <p:txBody>
            <a:bodyPr anchor="ctr" rtlCol="false" tIns="0" lIns="0" bIns="0" rIns="0"/>
            <a:lstStyle/>
            <a:p>
              <a:pPr algn="l">
                <a:lnSpc>
                  <a:spcPts val="1980"/>
                </a:lnSpc>
              </a:pPr>
              <a:r>
                <a:rPr lang="en-US" sz="1650">
                  <a:solidFill>
                    <a:srgbClr val="39454E"/>
                  </a:solidFill>
                  <a:latin typeface="Calibri (MS)"/>
                  <a:ea typeface="Calibri (MS)"/>
                  <a:cs typeface="Calibri (MS)"/>
                  <a:sym typeface="Calibri (MS)"/>
                </a:rPr>
                <a:t>Sequence-to-one regression: a window of T cycles of features → today's SOH.</a:t>
              </a:r>
            </a:p>
          </p:txBody>
        </p:sp>
      </p:grpSp>
      <p:grpSp>
        <p:nvGrpSpPr>
          <p:cNvPr name="Group 23" id="23"/>
          <p:cNvGrpSpPr/>
          <p:nvPr/>
        </p:nvGrpSpPr>
        <p:grpSpPr>
          <a:xfrm rot="0">
            <a:off x="1207008" y="5897880"/>
            <a:ext cx="7680960" cy="393873"/>
            <a:chOff x="0" y="0"/>
            <a:chExt cx="10241280" cy="525165"/>
          </a:xfrm>
        </p:grpSpPr>
        <p:sp>
          <p:nvSpPr>
            <p:cNvPr name="Freeform 24" id="24"/>
            <p:cNvSpPr/>
            <p:nvPr/>
          </p:nvSpPr>
          <p:spPr>
            <a:xfrm flipH="false" flipV="false" rot="0">
              <a:off x="0" y="0"/>
              <a:ext cx="10241280" cy="525165"/>
            </a:xfrm>
            <a:custGeom>
              <a:avLst/>
              <a:gdLst/>
              <a:ahLst/>
              <a:cxnLst/>
              <a:rect r="r" b="b" t="t" l="l"/>
              <a:pathLst>
                <a:path h="525165" w="10241280">
                  <a:moveTo>
                    <a:pt x="0" y="0"/>
                  </a:moveTo>
                  <a:lnTo>
                    <a:pt x="10241280" y="0"/>
                  </a:lnTo>
                  <a:lnTo>
                    <a:pt x="10241280" y="525165"/>
                  </a:lnTo>
                  <a:lnTo>
                    <a:pt x="0" y="525165"/>
                  </a:lnTo>
                  <a:close/>
                </a:path>
              </a:pathLst>
            </a:custGeom>
            <a:blipFill>
              <a:blip r:embed="rId3">
                <a:alphaModFix amt="0"/>
              </a:blip>
              <a:stretch>
                <a:fillRect l="0" t="-331226" r="0" b="-328732"/>
              </a:stretch>
            </a:blipFill>
          </p:spPr>
        </p:sp>
        <p:sp>
          <p:nvSpPr>
            <p:cNvPr name="TextBox 25" id="25"/>
            <p:cNvSpPr txBox="true"/>
            <p:nvPr/>
          </p:nvSpPr>
          <p:spPr>
            <a:xfrm>
              <a:off x="0" y="-47625"/>
              <a:ext cx="10241280" cy="572790"/>
            </a:xfrm>
            <a:prstGeom prst="rect">
              <a:avLst/>
            </a:prstGeom>
          </p:spPr>
          <p:txBody>
            <a:bodyPr anchor="ctr" rtlCol="false" tIns="0" lIns="0" bIns="0" rIns="0"/>
            <a:lstStyle/>
            <a:p>
              <a:pPr algn="l">
                <a:lnSpc>
                  <a:spcPts val="2399"/>
                </a:lnSpc>
              </a:pPr>
              <a:r>
                <a:rPr lang="en-US" sz="1999" b="true">
                  <a:solidFill>
                    <a:srgbClr val="1A5B6E"/>
                  </a:solidFill>
                  <a:latin typeface="Calibri (MS) Bold"/>
                  <a:ea typeface="Calibri (MS) Bold"/>
                  <a:cs typeface="Calibri (MS) Bold"/>
                  <a:sym typeface="Calibri (MS) Bold"/>
                </a:rPr>
                <a:t>End of Life (EOL)</a:t>
              </a:r>
            </a:p>
          </p:txBody>
        </p:sp>
      </p:grpSp>
      <p:grpSp>
        <p:nvGrpSpPr>
          <p:cNvPr name="Group 26" id="26"/>
          <p:cNvGrpSpPr/>
          <p:nvPr/>
        </p:nvGrpSpPr>
        <p:grpSpPr>
          <a:xfrm rot="0">
            <a:off x="1207008" y="6405372"/>
            <a:ext cx="1712444" cy="342900"/>
            <a:chOff x="0" y="0"/>
            <a:chExt cx="2739911" cy="548640"/>
          </a:xfrm>
        </p:grpSpPr>
        <p:sp>
          <p:nvSpPr>
            <p:cNvPr name="Freeform 27" id="27" descr="/tmp/deck/eq/eol.png"/>
            <p:cNvSpPr/>
            <p:nvPr/>
          </p:nvSpPr>
          <p:spPr>
            <a:xfrm flipH="false" flipV="false" rot="0">
              <a:off x="0" y="0"/>
              <a:ext cx="2739898" cy="548640"/>
            </a:xfrm>
            <a:custGeom>
              <a:avLst/>
              <a:gdLst/>
              <a:ahLst/>
              <a:cxnLst/>
              <a:rect r="r" b="b" t="t" l="l"/>
              <a:pathLst>
                <a:path h="548640" w="2739898">
                  <a:moveTo>
                    <a:pt x="0" y="0"/>
                  </a:moveTo>
                  <a:lnTo>
                    <a:pt x="2739898" y="0"/>
                  </a:lnTo>
                  <a:lnTo>
                    <a:pt x="2739898" y="548640"/>
                  </a:lnTo>
                  <a:lnTo>
                    <a:pt x="0" y="548640"/>
                  </a:lnTo>
                  <a:lnTo>
                    <a:pt x="0" y="0"/>
                  </a:lnTo>
                  <a:close/>
                </a:path>
              </a:pathLst>
            </a:custGeom>
            <a:blipFill>
              <a:blip r:embed="rId6"/>
              <a:stretch>
                <a:fillRect l="0" t="0" r="0" b="0"/>
              </a:stretch>
            </a:blipFill>
          </p:spPr>
        </p:sp>
      </p:grpSp>
      <p:grpSp>
        <p:nvGrpSpPr>
          <p:cNvPr name="Group 28" id="28"/>
          <p:cNvGrpSpPr/>
          <p:nvPr/>
        </p:nvGrpSpPr>
        <p:grpSpPr>
          <a:xfrm rot="0">
            <a:off x="3508829" y="6309360"/>
            <a:ext cx="4389120" cy="411480"/>
            <a:chOff x="0" y="0"/>
            <a:chExt cx="5852160" cy="548640"/>
          </a:xfrm>
        </p:grpSpPr>
        <p:sp>
          <p:nvSpPr>
            <p:cNvPr name="Freeform 29" id="29"/>
            <p:cNvSpPr/>
            <p:nvPr/>
          </p:nvSpPr>
          <p:spPr>
            <a:xfrm flipH="false" flipV="false" rot="0">
              <a:off x="0" y="0"/>
              <a:ext cx="5852160" cy="548640"/>
            </a:xfrm>
            <a:custGeom>
              <a:avLst/>
              <a:gdLst/>
              <a:ahLst/>
              <a:cxnLst/>
              <a:rect r="r" b="b" t="t" l="l"/>
              <a:pathLst>
                <a:path h="548640" w="5852160">
                  <a:moveTo>
                    <a:pt x="0" y="0"/>
                  </a:moveTo>
                  <a:lnTo>
                    <a:pt x="5852160" y="0"/>
                  </a:lnTo>
                  <a:lnTo>
                    <a:pt x="5852160" y="548640"/>
                  </a:lnTo>
                  <a:lnTo>
                    <a:pt x="0" y="548640"/>
                  </a:lnTo>
                  <a:close/>
                </a:path>
              </a:pathLst>
            </a:custGeom>
            <a:blipFill>
              <a:blip r:embed="rId3">
                <a:alphaModFix amt="0"/>
              </a:blip>
              <a:stretch>
                <a:fillRect l="0" t="-157840" r="0" b="-157840"/>
              </a:stretch>
            </a:blipFill>
          </p:spPr>
        </p:sp>
        <p:sp>
          <p:nvSpPr>
            <p:cNvPr name="TextBox 30" id="30"/>
            <p:cNvSpPr txBox="true"/>
            <p:nvPr/>
          </p:nvSpPr>
          <p:spPr>
            <a:xfrm>
              <a:off x="0" y="-38100"/>
              <a:ext cx="5852160" cy="586740"/>
            </a:xfrm>
            <a:prstGeom prst="rect">
              <a:avLst/>
            </a:prstGeom>
          </p:spPr>
          <p:txBody>
            <a:bodyPr anchor="ctr" rtlCol="false" tIns="0" lIns="0" bIns="0" rIns="0"/>
            <a:lstStyle/>
            <a:p>
              <a:pPr algn="l">
                <a:lnSpc>
                  <a:spcPts val="2070"/>
                </a:lnSpc>
              </a:pPr>
              <a:r>
                <a:rPr lang="en-US" sz="1725" i="true">
                  <a:solidFill>
                    <a:srgbClr val="39454E"/>
                  </a:solidFill>
                  <a:latin typeface="Calibri (MS) Italics"/>
                  <a:ea typeface="Calibri (MS) Italics"/>
                  <a:cs typeface="Calibri (MS) Italics"/>
                  <a:sym typeface="Calibri (MS) Italics"/>
                </a:rPr>
                <a:t>for ≥ 5 consecutive cycles</a:t>
              </a:r>
            </a:p>
          </p:txBody>
        </p:sp>
      </p:grpSp>
      <p:grpSp>
        <p:nvGrpSpPr>
          <p:cNvPr name="Group 31" id="31"/>
          <p:cNvGrpSpPr/>
          <p:nvPr/>
        </p:nvGrpSpPr>
        <p:grpSpPr>
          <a:xfrm rot="0">
            <a:off x="1207008" y="6830568"/>
            <a:ext cx="7680960" cy="576072"/>
            <a:chOff x="0" y="0"/>
            <a:chExt cx="10241280" cy="768096"/>
          </a:xfrm>
        </p:grpSpPr>
        <p:sp>
          <p:nvSpPr>
            <p:cNvPr name="Freeform 32" id="32"/>
            <p:cNvSpPr/>
            <p:nvPr/>
          </p:nvSpPr>
          <p:spPr>
            <a:xfrm flipH="false" flipV="false" rot="0">
              <a:off x="0" y="0"/>
              <a:ext cx="10241280" cy="768096"/>
            </a:xfrm>
            <a:custGeom>
              <a:avLst/>
              <a:gdLst/>
              <a:ahLst/>
              <a:cxnLst/>
              <a:rect r="r" b="b" t="t" l="l"/>
              <a:pathLst>
                <a:path h="768096" w="10241280">
                  <a:moveTo>
                    <a:pt x="0" y="0"/>
                  </a:moveTo>
                  <a:lnTo>
                    <a:pt x="10241280" y="0"/>
                  </a:lnTo>
                  <a:lnTo>
                    <a:pt x="10241280" y="768096"/>
                  </a:lnTo>
                  <a:lnTo>
                    <a:pt x="0" y="768096"/>
                  </a:lnTo>
                  <a:close/>
                </a:path>
              </a:pathLst>
            </a:custGeom>
            <a:blipFill>
              <a:blip r:embed="rId3">
                <a:alphaModFix amt="0"/>
              </a:blip>
              <a:stretch>
                <a:fillRect l="0" t="-209800" r="0" b="-209800"/>
              </a:stretch>
            </a:blipFill>
          </p:spPr>
        </p:sp>
        <p:sp>
          <p:nvSpPr>
            <p:cNvPr name="TextBox 33" id="33"/>
            <p:cNvSpPr txBox="true"/>
            <p:nvPr/>
          </p:nvSpPr>
          <p:spPr>
            <a:xfrm>
              <a:off x="0" y="-28575"/>
              <a:ext cx="10241280" cy="796671"/>
            </a:xfrm>
            <a:prstGeom prst="rect">
              <a:avLst/>
            </a:prstGeom>
          </p:spPr>
          <p:txBody>
            <a:bodyPr anchor="ctr" rtlCol="false" tIns="0" lIns="0" bIns="0" rIns="0"/>
            <a:lstStyle/>
            <a:p>
              <a:pPr algn="l">
                <a:lnSpc>
                  <a:spcPts val="1980"/>
                </a:lnSpc>
              </a:pPr>
              <a:r>
                <a:rPr lang="en-US" sz="1650">
                  <a:solidFill>
                    <a:srgbClr val="39454E"/>
                  </a:solidFill>
                  <a:latin typeface="Calibri (MS)"/>
                  <a:ea typeface="Calibri (MS)"/>
                  <a:cs typeface="Calibri (MS)"/>
                  <a:sym typeface="Calibri (MS)"/>
                </a:rPr>
                <a:t>The persistence rule prevents a single noisy dip from triggering a false EOL.</a:t>
              </a:r>
            </a:p>
          </p:txBody>
        </p:sp>
      </p:grpSp>
      <p:grpSp>
        <p:nvGrpSpPr>
          <p:cNvPr name="Group 34" id="34"/>
          <p:cNvGrpSpPr/>
          <p:nvPr/>
        </p:nvGrpSpPr>
        <p:grpSpPr>
          <a:xfrm rot="0">
            <a:off x="1207008" y="7653528"/>
            <a:ext cx="7680960" cy="393873"/>
            <a:chOff x="0" y="0"/>
            <a:chExt cx="10241280" cy="525165"/>
          </a:xfrm>
        </p:grpSpPr>
        <p:sp>
          <p:nvSpPr>
            <p:cNvPr name="Freeform 35" id="35"/>
            <p:cNvSpPr/>
            <p:nvPr/>
          </p:nvSpPr>
          <p:spPr>
            <a:xfrm flipH="false" flipV="false" rot="0">
              <a:off x="0" y="0"/>
              <a:ext cx="10241280" cy="525165"/>
            </a:xfrm>
            <a:custGeom>
              <a:avLst/>
              <a:gdLst/>
              <a:ahLst/>
              <a:cxnLst/>
              <a:rect r="r" b="b" t="t" l="l"/>
              <a:pathLst>
                <a:path h="525165" w="10241280">
                  <a:moveTo>
                    <a:pt x="0" y="0"/>
                  </a:moveTo>
                  <a:lnTo>
                    <a:pt x="10241280" y="0"/>
                  </a:lnTo>
                  <a:lnTo>
                    <a:pt x="10241280" y="525165"/>
                  </a:lnTo>
                  <a:lnTo>
                    <a:pt x="0" y="525165"/>
                  </a:lnTo>
                  <a:close/>
                </a:path>
              </a:pathLst>
            </a:custGeom>
            <a:blipFill>
              <a:blip r:embed="rId3">
                <a:alphaModFix amt="0"/>
              </a:blip>
              <a:stretch>
                <a:fillRect l="0" t="-331226" r="0" b="-328732"/>
              </a:stretch>
            </a:blipFill>
          </p:spPr>
        </p:sp>
        <p:sp>
          <p:nvSpPr>
            <p:cNvPr name="TextBox 36" id="36"/>
            <p:cNvSpPr txBox="true"/>
            <p:nvPr/>
          </p:nvSpPr>
          <p:spPr>
            <a:xfrm>
              <a:off x="0" y="-47625"/>
              <a:ext cx="10241280" cy="572790"/>
            </a:xfrm>
            <a:prstGeom prst="rect">
              <a:avLst/>
            </a:prstGeom>
          </p:spPr>
          <p:txBody>
            <a:bodyPr anchor="ctr" rtlCol="false" tIns="0" lIns="0" bIns="0" rIns="0"/>
            <a:lstStyle/>
            <a:p>
              <a:pPr algn="l">
                <a:lnSpc>
                  <a:spcPts val="2399"/>
                </a:lnSpc>
              </a:pPr>
              <a:r>
                <a:rPr lang="en-US" sz="1999" b="true">
                  <a:solidFill>
                    <a:srgbClr val="1A5B6E"/>
                  </a:solidFill>
                  <a:latin typeface="Calibri (MS) Bold"/>
                  <a:ea typeface="Calibri (MS) Bold"/>
                  <a:cs typeface="Calibri (MS) Bold"/>
                  <a:sym typeface="Calibri (MS) Bold"/>
                </a:rPr>
                <a:t>Remaining Useful Life</a:t>
              </a:r>
            </a:p>
          </p:txBody>
        </p:sp>
      </p:grpSp>
      <p:grpSp>
        <p:nvGrpSpPr>
          <p:cNvPr name="Group 37" id="37"/>
          <p:cNvGrpSpPr/>
          <p:nvPr/>
        </p:nvGrpSpPr>
        <p:grpSpPr>
          <a:xfrm rot="0">
            <a:off x="1207008" y="8151876"/>
            <a:ext cx="2579152" cy="348864"/>
            <a:chOff x="0" y="0"/>
            <a:chExt cx="4056101" cy="548640"/>
          </a:xfrm>
        </p:grpSpPr>
        <p:sp>
          <p:nvSpPr>
            <p:cNvPr name="Freeform 38" id="38" descr="/tmp/deck/eq/rul.png"/>
            <p:cNvSpPr/>
            <p:nvPr/>
          </p:nvSpPr>
          <p:spPr>
            <a:xfrm flipH="false" flipV="false" rot="0">
              <a:off x="0" y="0"/>
              <a:ext cx="4056126" cy="548640"/>
            </a:xfrm>
            <a:custGeom>
              <a:avLst/>
              <a:gdLst/>
              <a:ahLst/>
              <a:cxnLst/>
              <a:rect r="r" b="b" t="t" l="l"/>
              <a:pathLst>
                <a:path h="548640" w="4056126">
                  <a:moveTo>
                    <a:pt x="0" y="0"/>
                  </a:moveTo>
                  <a:lnTo>
                    <a:pt x="4056126" y="0"/>
                  </a:lnTo>
                  <a:lnTo>
                    <a:pt x="4056126" y="548640"/>
                  </a:lnTo>
                  <a:lnTo>
                    <a:pt x="0" y="548640"/>
                  </a:lnTo>
                  <a:lnTo>
                    <a:pt x="0" y="0"/>
                  </a:lnTo>
                  <a:close/>
                </a:path>
              </a:pathLst>
            </a:custGeom>
            <a:blipFill>
              <a:blip r:embed="rId7"/>
              <a:stretch>
                <a:fillRect l="0" t="0" r="0" b="-1"/>
              </a:stretch>
            </a:blipFill>
          </p:spPr>
        </p:sp>
      </p:grpSp>
      <p:grpSp>
        <p:nvGrpSpPr>
          <p:cNvPr name="Group 39" id="39"/>
          <p:cNvGrpSpPr/>
          <p:nvPr/>
        </p:nvGrpSpPr>
        <p:grpSpPr>
          <a:xfrm rot="0">
            <a:off x="1207008" y="8586216"/>
            <a:ext cx="7680960" cy="576072"/>
            <a:chOff x="0" y="0"/>
            <a:chExt cx="10241280" cy="768096"/>
          </a:xfrm>
        </p:grpSpPr>
        <p:sp>
          <p:nvSpPr>
            <p:cNvPr name="Freeform 40" id="40"/>
            <p:cNvSpPr/>
            <p:nvPr/>
          </p:nvSpPr>
          <p:spPr>
            <a:xfrm flipH="false" flipV="false" rot="0">
              <a:off x="0" y="0"/>
              <a:ext cx="10241280" cy="768096"/>
            </a:xfrm>
            <a:custGeom>
              <a:avLst/>
              <a:gdLst/>
              <a:ahLst/>
              <a:cxnLst/>
              <a:rect r="r" b="b" t="t" l="l"/>
              <a:pathLst>
                <a:path h="768096" w="10241280">
                  <a:moveTo>
                    <a:pt x="0" y="0"/>
                  </a:moveTo>
                  <a:lnTo>
                    <a:pt x="10241280" y="0"/>
                  </a:lnTo>
                  <a:lnTo>
                    <a:pt x="10241280" y="768096"/>
                  </a:lnTo>
                  <a:lnTo>
                    <a:pt x="0" y="768096"/>
                  </a:lnTo>
                  <a:close/>
                </a:path>
              </a:pathLst>
            </a:custGeom>
            <a:blipFill>
              <a:blip r:embed="rId3">
                <a:alphaModFix amt="0"/>
              </a:blip>
              <a:stretch>
                <a:fillRect l="0" t="-209800" r="0" b="-209800"/>
              </a:stretch>
            </a:blipFill>
          </p:spPr>
        </p:sp>
        <p:sp>
          <p:nvSpPr>
            <p:cNvPr name="TextBox 41" id="41"/>
            <p:cNvSpPr txBox="true"/>
            <p:nvPr/>
          </p:nvSpPr>
          <p:spPr>
            <a:xfrm>
              <a:off x="0" y="-28575"/>
              <a:ext cx="10241280" cy="796671"/>
            </a:xfrm>
            <a:prstGeom prst="rect">
              <a:avLst/>
            </a:prstGeom>
          </p:spPr>
          <p:txBody>
            <a:bodyPr anchor="ctr" rtlCol="false" tIns="0" lIns="0" bIns="0" rIns="0"/>
            <a:lstStyle/>
            <a:p>
              <a:pPr algn="l">
                <a:lnSpc>
                  <a:spcPts val="1980"/>
                </a:lnSpc>
              </a:pPr>
              <a:r>
                <a:rPr lang="en-US" sz="1650">
                  <a:solidFill>
                    <a:srgbClr val="39454E"/>
                  </a:solidFill>
                  <a:latin typeface="Calibri (MS)"/>
                  <a:ea typeface="Calibri (MS)"/>
                  <a:cs typeface="Calibri (MS)"/>
                  <a:sym typeface="Calibri (MS)"/>
                </a:rPr>
                <a:t>Cycles remaining from the current cycle to the EOL cycle.</a:t>
              </a:r>
            </a:p>
          </p:txBody>
        </p:sp>
      </p:grpSp>
      <p:grpSp>
        <p:nvGrpSpPr>
          <p:cNvPr name="Group 42" id="42"/>
          <p:cNvGrpSpPr/>
          <p:nvPr/>
        </p:nvGrpSpPr>
        <p:grpSpPr>
          <a:xfrm rot="0">
            <a:off x="9666393" y="2116455"/>
            <a:ext cx="7803600" cy="3516630"/>
            <a:chOff x="0" y="0"/>
            <a:chExt cx="10404800" cy="4688840"/>
          </a:xfrm>
        </p:grpSpPr>
        <p:sp>
          <p:nvSpPr>
            <p:cNvPr name="Freeform 43" id="43"/>
            <p:cNvSpPr/>
            <p:nvPr/>
          </p:nvSpPr>
          <p:spPr>
            <a:xfrm flipH="false" flipV="false" rot="0">
              <a:off x="0" y="0"/>
              <a:ext cx="10404800" cy="4688840"/>
            </a:xfrm>
            <a:custGeom>
              <a:avLst/>
              <a:gdLst/>
              <a:ahLst/>
              <a:cxnLst/>
              <a:rect r="r" b="b" t="t" l="l"/>
              <a:pathLst>
                <a:path h="4688840" w="10404800">
                  <a:moveTo>
                    <a:pt x="0" y="128651"/>
                  </a:moveTo>
                  <a:cubicBezTo>
                    <a:pt x="0" y="57658"/>
                    <a:pt x="56618" y="0"/>
                    <a:pt x="126331" y="0"/>
                  </a:cubicBezTo>
                  <a:lnTo>
                    <a:pt x="10278469" y="0"/>
                  </a:lnTo>
                  <a:cubicBezTo>
                    <a:pt x="10348306" y="0"/>
                    <a:pt x="10404800" y="57658"/>
                    <a:pt x="10404800" y="128651"/>
                  </a:cubicBezTo>
                  <a:lnTo>
                    <a:pt x="10404800" y="4560189"/>
                  </a:lnTo>
                  <a:cubicBezTo>
                    <a:pt x="10404800" y="4631309"/>
                    <a:pt x="10348182" y="4688840"/>
                    <a:pt x="10278469" y="4688840"/>
                  </a:cubicBezTo>
                  <a:lnTo>
                    <a:pt x="126331" y="4688840"/>
                  </a:lnTo>
                  <a:cubicBezTo>
                    <a:pt x="56618" y="4688840"/>
                    <a:pt x="0" y="4631182"/>
                    <a:pt x="0" y="4560189"/>
                  </a:cubicBezTo>
                  <a:close/>
                </a:path>
              </a:pathLst>
            </a:custGeom>
            <a:solidFill>
              <a:srgbClr val="E0EBEC"/>
            </a:solidFill>
            <a:ln w="19050" cap="sq">
              <a:solidFill>
                <a:srgbClr val="CFDBDC"/>
              </a:solidFill>
              <a:prstDash val="solid"/>
              <a:miter/>
            </a:ln>
          </p:spPr>
        </p:sp>
      </p:grpSp>
      <p:grpSp>
        <p:nvGrpSpPr>
          <p:cNvPr name="Group 44" id="44"/>
          <p:cNvGrpSpPr/>
          <p:nvPr/>
        </p:nvGrpSpPr>
        <p:grpSpPr>
          <a:xfrm rot="0">
            <a:off x="9916668" y="2441448"/>
            <a:ext cx="7132320" cy="411480"/>
            <a:chOff x="0" y="0"/>
            <a:chExt cx="9509760" cy="548640"/>
          </a:xfrm>
        </p:grpSpPr>
        <p:sp>
          <p:nvSpPr>
            <p:cNvPr name="Freeform 45" id="45"/>
            <p:cNvSpPr/>
            <p:nvPr/>
          </p:nvSpPr>
          <p:spPr>
            <a:xfrm flipH="false" flipV="false" rot="0">
              <a:off x="0" y="0"/>
              <a:ext cx="9509760" cy="548640"/>
            </a:xfrm>
            <a:custGeom>
              <a:avLst/>
              <a:gdLst/>
              <a:ahLst/>
              <a:cxnLst/>
              <a:rect r="r" b="b" t="t" l="l"/>
              <a:pathLst>
                <a:path h="548640" w="9509760">
                  <a:moveTo>
                    <a:pt x="0" y="0"/>
                  </a:moveTo>
                  <a:lnTo>
                    <a:pt x="9509760" y="0"/>
                  </a:lnTo>
                  <a:lnTo>
                    <a:pt x="9509760" y="548640"/>
                  </a:lnTo>
                  <a:lnTo>
                    <a:pt x="0" y="548640"/>
                  </a:lnTo>
                  <a:close/>
                </a:path>
              </a:pathLst>
            </a:custGeom>
            <a:blipFill>
              <a:blip r:embed="rId3">
                <a:alphaModFix amt="0"/>
              </a:blip>
              <a:stretch>
                <a:fillRect l="0" t="-287740" r="0" b="-287740"/>
              </a:stretch>
            </a:blipFill>
          </p:spPr>
        </p:sp>
        <p:sp>
          <p:nvSpPr>
            <p:cNvPr name="TextBox 46" id="46"/>
            <p:cNvSpPr txBox="true"/>
            <p:nvPr/>
          </p:nvSpPr>
          <p:spPr>
            <a:xfrm>
              <a:off x="0" y="-38100"/>
              <a:ext cx="9509760" cy="586740"/>
            </a:xfrm>
            <a:prstGeom prst="rect">
              <a:avLst/>
            </a:prstGeom>
          </p:spPr>
          <p:txBody>
            <a:bodyPr anchor="ctr" rtlCol="false" tIns="0" lIns="0" bIns="0" rIns="0"/>
            <a:lstStyle/>
            <a:p>
              <a:pPr algn="l">
                <a:lnSpc>
                  <a:spcPts val="2160"/>
                </a:lnSpc>
              </a:pPr>
              <a:r>
                <a:rPr lang="en-US" b="true" sz="1800" spc="149">
                  <a:solidFill>
                    <a:srgbClr val="1A5B6E"/>
                  </a:solidFill>
                  <a:latin typeface="Calibri (MS) Bold"/>
                  <a:ea typeface="Calibri (MS) Bold"/>
                  <a:cs typeface="Calibri (MS) Bold"/>
                  <a:sym typeface="Calibri (MS) Bold"/>
                </a:rPr>
                <a:t>Core research question</a:t>
              </a:r>
            </a:p>
          </p:txBody>
        </p:sp>
      </p:grpSp>
      <p:grpSp>
        <p:nvGrpSpPr>
          <p:cNvPr name="Group 47" id="47"/>
          <p:cNvGrpSpPr/>
          <p:nvPr/>
        </p:nvGrpSpPr>
        <p:grpSpPr>
          <a:xfrm rot="0">
            <a:off x="9916668" y="3017520"/>
            <a:ext cx="7159752" cy="2400300"/>
            <a:chOff x="0" y="0"/>
            <a:chExt cx="9546336" cy="3200400"/>
          </a:xfrm>
        </p:grpSpPr>
        <p:sp>
          <p:nvSpPr>
            <p:cNvPr name="Freeform 48" id="48"/>
            <p:cNvSpPr/>
            <p:nvPr/>
          </p:nvSpPr>
          <p:spPr>
            <a:xfrm flipH="false" flipV="false" rot="0">
              <a:off x="0" y="0"/>
              <a:ext cx="9546336" cy="3200400"/>
            </a:xfrm>
            <a:custGeom>
              <a:avLst/>
              <a:gdLst/>
              <a:ahLst/>
              <a:cxnLst/>
              <a:rect r="r" b="b" t="t" l="l"/>
              <a:pathLst>
                <a:path h="3200400" w="9546336">
                  <a:moveTo>
                    <a:pt x="0" y="0"/>
                  </a:moveTo>
                  <a:lnTo>
                    <a:pt x="9546336" y="0"/>
                  </a:lnTo>
                  <a:lnTo>
                    <a:pt x="9546336" y="3200400"/>
                  </a:lnTo>
                  <a:lnTo>
                    <a:pt x="0" y="3200400"/>
                  </a:lnTo>
                  <a:close/>
                </a:path>
              </a:pathLst>
            </a:custGeom>
            <a:blipFill>
              <a:blip r:embed="rId3">
                <a:alphaModFix amt="0"/>
              </a:blip>
              <a:stretch>
                <a:fillRect l="0" t="-8121" r="0" b="-8121"/>
              </a:stretch>
            </a:blipFill>
          </p:spPr>
        </p:sp>
        <p:sp>
          <p:nvSpPr>
            <p:cNvPr name="TextBox 49" id="49"/>
            <p:cNvSpPr txBox="true"/>
            <p:nvPr/>
          </p:nvSpPr>
          <p:spPr>
            <a:xfrm>
              <a:off x="0" y="-47625"/>
              <a:ext cx="9546336" cy="3248025"/>
            </a:xfrm>
            <a:prstGeom prst="rect">
              <a:avLst/>
            </a:prstGeom>
          </p:spPr>
          <p:txBody>
            <a:bodyPr anchor="ctr" rtlCol="false" tIns="0" lIns="0" bIns="0" rIns="0"/>
            <a:lstStyle/>
            <a:p>
              <a:pPr algn="l">
                <a:lnSpc>
                  <a:spcPts val="3385"/>
                </a:lnSpc>
              </a:pPr>
              <a:r>
                <a:rPr lang="en-US" sz="2475" b="true">
                  <a:solidFill>
                    <a:srgbClr val="1B2A33"/>
                  </a:solidFill>
                  <a:latin typeface="Cambria Bold"/>
                  <a:ea typeface="Cambria Bold"/>
                  <a:cs typeface="Cambria Bold"/>
                  <a:sym typeface="Cambria Bold"/>
                </a:rPr>
                <a:t>How can we estimate SOH and RUL with high accuracy and physical consistency, on resource-constrained hardware, from limited and noisy data?</a:t>
              </a:r>
            </a:p>
          </p:txBody>
        </p:sp>
      </p:grpSp>
      <p:grpSp>
        <p:nvGrpSpPr>
          <p:cNvPr name="Group 50" id="50"/>
          <p:cNvGrpSpPr/>
          <p:nvPr/>
        </p:nvGrpSpPr>
        <p:grpSpPr>
          <a:xfrm rot="0">
            <a:off x="9666393" y="7118604"/>
            <a:ext cx="8621607" cy="1421123"/>
            <a:chOff x="0" y="0"/>
            <a:chExt cx="11495476" cy="1894831"/>
          </a:xfrm>
        </p:grpSpPr>
        <p:sp>
          <p:nvSpPr>
            <p:cNvPr name="TextBox 51" id="51"/>
            <p:cNvSpPr txBox="true"/>
            <p:nvPr/>
          </p:nvSpPr>
          <p:spPr>
            <a:xfrm rot="0">
              <a:off x="0" y="-38100"/>
              <a:ext cx="11495476" cy="468884"/>
            </a:xfrm>
            <a:prstGeom prst="rect">
              <a:avLst/>
            </a:prstGeom>
          </p:spPr>
          <p:txBody>
            <a:bodyPr anchor="t" rtlCol="false" tIns="0" lIns="0" bIns="0" rIns="0">
              <a:spAutoFit/>
            </a:bodyPr>
            <a:lstStyle/>
            <a:p>
              <a:pPr algn="just">
                <a:lnSpc>
                  <a:spcPts val="2561"/>
                </a:lnSpc>
              </a:pPr>
              <a:r>
                <a:rPr lang="en-US" sz="2134" b="true">
                  <a:solidFill>
                    <a:srgbClr val="1B2A33"/>
                  </a:solidFill>
                  <a:latin typeface="Calibri (MS) Bold"/>
                  <a:ea typeface="Calibri (MS) Bold"/>
                  <a:cs typeface="Calibri (MS) Bold"/>
                  <a:sym typeface="Calibri (MS) Bold"/>
                </a:rPr>
                <a:t>Accurate   </a:t>
              </a:r>
              <a:r>
                <a:rPr lang="en-US" sz="2134">
                  <a:solidFill>
                    <a:srgbClr val="6E7A83"/>
                  </a:solidFill>
                  <a:latin typeface="Calibri (MS)"/>
                  <a:ea typeface="Calibri (MS)"/>
                  <a:cs typeface="Calibri (MS)"/>
                  <a:sym typeface="Calibri (MS)"/>
                </a:rPr>
                <a:t>beats strong baselines</a:t>
              </a:r>
            </a:p>
          </p:txBody>
        </p:sp>
        <p:sp>
          <p:nvSpPr>
            <p:cNvPr name="TextBox 52" id="52"/>
            <p:cNvSpPr txBox="true"/>
            <p:nvPr/>
          </p:nvSpPr>
          <p:spPr>
            <a:xfrm rot="0">
              <a:off x="0" y="670560"/>
              <a:ext cx="11495476" cy="468884"/>
            </a:xfrm>
            <a:prstGeom prst="rect">
              <a:avLst/>
            </a:prstGeom>
          </p:spPr>
          <p:txBody>
            <a:bodyPr anchor="t" rtlCol="false" tIns="0" lIns="0" bIns="0" rIns="0">
              <a:spAutoFit/>
            </a:bodyPr>
            <a:lstStyle/>
            <a:p>
              <a:pPr algn="just">
                <a:lnSpc>
                  <a:spcPts val="2561"/>
                </a:lnSpc>
              </a:pPr>
              <a:r>
                <a:rPr lang="en-US" sz="2134" b="true">
                  <a:solidFill>
                    <a:srgbClr val="1B2A33"/>
                  </a:solidFill>
                  <a:latin typeface="Calibri (MS) Bold"/>
                  <a:ea typeface="Calibri (MS) Bold"/>
                  <a:cs typeface="Calibri (MS) Bold"/>
                  <a:sym typeface="Calibri (MS) Bold"/>
                </a:rPr>
                <a:t>Physically consistent   </a:t>
              </a:r>
              <a:r>
                <a:rPr lang="en-US" sz="2134">
                  <a:solidFill>
                    <a:srgbClr val="6E7A83"/>
                  </a:solidFill>
                  <a:latin typeface="Calibri (MS)"/>
                  <a:ea typeface="Calibri (MS)"/>
                  <a:cs typeface="Calibri (MS)"/>
                  <a:sym typeface="Calibri (MS)"/>
                </a:rPr>
                <a:t>no “self-healing” predictions</a:t>
              </a:r>
            </a:p>
          </p:txBody>
        </p:sp>
        <p:sp>
          <p:nvSpPr>
            <p:cNvPr name="TextBox 53" id="53"/>
            <p:cNvSpPr txBox="true"/>
            <p:nvPr/>
          </p:nvSpPr>
          <p:spPr>
            <a:xfrm rot="0">
              <a:off x="0" y="1425946"/>
              <a:ext cx="11495476" cy="468884"/>
            </a:xfrm>
            <a:prstGeom prst="rect">
              <a:avLst/>
            </a:prstGeom>
          </p:spPr>
          <p:txBody>
            <a:bodyPr anchor="t" rtlCol="false" tIns="0" lIns="0" bIns="0" rIns="0">
              <a:spAutoFit/>
            </a:bodyPr>
            <a:lstStyle/>
            <a:p>
              <a:pPr algn="just">
                <a:lnSpc>
                  <a:spcPts val="2561"/>
                </a:lnSpc>
              </a:pPr>
              <a:r>
                <a:rPr lang="en-US" sz="2134" b="true">
                  <a:solidFill>
                    <a:srgbClr val="1B2A33"/>
                  </a:solidFill>
                  <a:latin typeface="Calibri (MS) Bold"/>
                  <a:ea typeface="Calibri (MS) Bold"/>
                  <a:cs typeface="Calibri (MS) Bold"/>
                  <a:sym typeface="Calibri (MS) Bold"/>
                </a:rPr>
                <a:t>Small footprint   </a:t>
              </a:r>
              <a:r>
                <a:rPr lang="en-US" sz="2134">
                  <a:solidFill>
                    <a:srgbClr val="6E7A83"/>
                  </a:solidFill>
                  <a:latin typeface="Calibri (MS)"/>
                  <a:ea typeface="Calibri (MS)"/>
                  <a:cs typeface="Calibri (MS)"/>
                  <a:sym typeface="Calibri (MS)"/>
                </a:rPr>
                <a:t>fits a BMS microcontroller</a:t>
              </a:r>
            </a:p>
          </p:txBody>
        </p:sp>
      </p:grpSp>
      <p:grpSp>
        <p:nvGrpSpPr>
          <p:cNvPr name="Group 54" id="54"/>
          <p:cNvGrpSpPr/>
          <p:nvPr/>
        </p:nvGrpSpPr>
        <p:grpSpPr>
          <a:xfrm rot="0">
            <a:off x="822960" y="9683496"/>
            <a:ext cx="8229600" cy="411480"/>
            <a:chOff x="0" y="0"/>
            <a:chExt cx="10972800" cy="548640"/>
          </a:xfrm>
        </p:grpSpPr>
        <p:sp>
          <p:nvSpPr>
            <p:cNvPr name="Freeform 55" id="55"/>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56" id="56"/>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6E7A83"/>
                  </a:solidFill>
                  <a:latin typeface="Calibri (MS)"/>
                  <a:ea typeface="Calibri (MS)"/>
                  <a:cs typeface="Calibri (MS)"/>
                  <a:sym typeface="Calibri (MS)"/>
                </a:rPr>
                <a:t>Rajat Sharma · CH24M559 · IIT Madras</a:t>
              </a:r>
            </a:p>
          </p:txBody>
        </p:sp>
      </p:grpSp>
      <p:grpSp>
        <p:nvGrpSpPr>
          <p:cNvPr name="Group 57" id="57"/>
          <p:cNvGrpSpPr/>
          <p:nvPr/>
        </p:nvGrpSpPr>
        <p:grpSpPr>
          <a:xfrm rot="0">
            <a:off x="16637508" y="9683496"/>
            <a:ext cx="822960" cy="411480"/>
            <a:chOff x="0" y="0"/>
            <a:chExt cx="1097280" cy="548640"/>
          </a:xfrm>
        </p:grpSpPr>
        <p:sp>
          <p:nvSpPr>
            <p:cNvPr name="Freeform 58" id="58"/>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3">
                <a:alphaModFix amt="0"/>
              </a:blip>
              <a:stretch>
                <a:fillRect l="-14151" t="0" r="-14151" b="0"/>
              </a:stretch>
            </a:blipFill>
          </p:spPr>
        </p:sp>
        <p:sp>
          <p:nvSpPr>
            <p:cNvPr name="TextBox 59" id="59"/>
            <p:cNvSpPr txBox="true"/>
            <p:nvPr/>
          </p:nvSpPr>
          <p:spPr>
            <a:xfrm>
              <a:off x="0" y="-38100"/>
              <a:ext cx="1097280" cy="586740"/>
            </a:xfrm>
            <a:prstGeom prst="rect">
              <a:avLst/>
            </a:prstGeom>
          </p:spPr>
          <p:txBody>
            <a:bodyPr anchor="ctr" rtlCol="false" tIns="0" lIns="0" bIns="0" rIns="0"/>
            <a:lstStyle/>
            <a:p>
              <a:pPr algn="r">
                <a:lnSpc>
                  <a:spcPts val="1709"/>
                </a:lnSpc>
              </a:pPr>
              <a:r>
                <a:rPr lang="en-US" sz="1425">
                  <a:solidFill>
                    <a:srgbClr val="6E7A83"/>
                  </a:solidFill>
                  <a:latin typeface="Calibri (MS)"/>
                  <a:ea typeface="Calibri (MS)"/>
                  <a:cs typeface="Calibri (MS)"/>
                  <a:sym typeface="Calibri (MS)"/>
                </a:rPr>
                <a:t>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BF0F1"/>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16637508" cy="391408"/>
            <a:chOff x="0" y="0"/>
            <a:chExt cx="22183344" cy="521878"/>
          </a:xfrm>
        </p:grpSpPr>
        <p:sp>
          <p:nvSpPr>
            <p:cNvPr name="Freeform 3" id="3"/>
            <p:cNvSpPr/>
            <p:nvPr/>
          </p:nvSpPr>
          <p:spPr>
            <a:xfrm flipH="false" flipV="false" rot="0">
              <a:off x="0" y="0"/>
              <a:ext cx="22183344" cy="521878"/>
            </a:xfrm>
            <a:custGeom>
              <a:avLst/>
              <a:gdLst/>
              <a:ahLst/>
              <a:cxnLst/>
              <a:rect r="r" b="b" t="t" l="l"/>
              <a:pathLst>
                <a:path h="521878" w="22183344">
                  <a:moveTo>
                    <a:pt x="0" y="0"/>
                  </a:moveTo>
                  <a:lnTo>
                    <a:pt x="22183344" y="0"/>
                  </a:lnTo>
                  <a:lnTo>
                    <a:pt x="22183344" y="521878"/>
                  </a:lnTo>
                  <a:lnTo>
                    <a:pt x="0" y="521878"/>
                  </a:lnTo>
                  <a:close/>
                </a:path>
              </a:pathLst>
            </a:custGeom>
            <a:blipFill>
              <a:blip r:embed="rId3">
                <a:alphaModFix amt="0"/>
              </a:blip>
              <a:stretch>
                <a:fillRect l="0" t="-782690" r="0" b="-773801"/>
              </a:stretch>
            </a:blipFill>
          </p:spPr>
        </p:sp>
        <p:sp>
          <p:nvSpPr>
            <p:cNvPr name="TextBox 4" id="4"/>
            <p:cNvSpPr txBox="true"/>
            <p:nvPr/>
          </p:nvSpPr>
          <p:spPr>
            <a:xfrm>
              <a:off x="0" y="-47625"/>
              <a:ext cx="22183344" cy="569503"/>
            </a:xfrm>
            <a:prstGeom prst="rect">
              <a:avLst/>
            </a:prstGeom>
          </p:spPr>
          <p:txBody>
            <a:bodyPr anchor="ctr" rtlCol="false" tIns="0" lIns="0" bIns="0" rIns="0"/>
            <a:lstStyle/>
            <a:p>
              <a:pPr algn="l">
                <a:lnSpc>
                  <a:spcPts val="2339"/>
                </a:lnSpc>
              </a:pPr>
              <a:r>
                <a:rPr lang="en-US" b="true" sz="1949" spc="425">
                  <a:solidFill>
                    <a:srgbClr val="1A5B6E"/>
                  </a:solidFill>
                  <a:latin typeface="Calibri (MS) Bold"/>
                  <a:ea typeface="Calibri (MS) Bold"/>
                  <a:cs typeface="Calibri (MS) Bold"/>
                  <a:sym typeface="Calibri (MS) Bold"/>
                </a:rPr>
                <a:t>FORMULATION</a:t>
              </a:r>
            </a:p>
          </p:txBody>
        </p:sp>
      </p:grpSp>
      <p:grpSp>
        <p:nvGrpSpPr>
          <p:cNvPr name="Group 5" id="5"/>
          <p:cNvGrpSpPr/>
          <p:nvPr/>
        </p:nvGrpSpPr>
        <p:grpSpPr>
          <a:xfrm rot="0">
            <a:off x="822960" y="960120"/>
            <a:ext cx="16637508" cy="850392"/>
            <a:chOff x="0" y="0"/>
            <a:chExt cx="22183344" cy="1133856"/>
          </a:xfrm>
        </p:grpSpPr>
        <p:sp>
          <p:nvSpPr>
            <p:cNvPr name="Freeform 6" id="6"/>
            <p:cNvSpPr/>
            <p:nvPr/>
          </p:nvSpPr>
          <p:spPr>
            <a:xfrm flipH="false" flipV="false" rot="0">
              <a:off x="0" y="0"/>
              <a:ext cx="22183344" cy="1133856"/>
            </a:xfrm>
            <a:custGeom>
              <a:avLst/>
              <a:gdLst/>
              <a:ahLst/>
              <a:cxnLst/>
              <a:rect r="r" b="b" t="t" l="l"/>
              <a:pathLst>
                <a:path h="1133856" w="22183344">
                  <a:moveTo>
                    <a:pt x="0" y="0"/>
                  </a:moveTo>
                  <a:lnTo>
                    <a:pt x="22183344" y="0"/>
                  </a:lnTo>
                  <a:lnTo>
                    <a:pt x="22183344" y="1133856"/>
                  </a:lnTo>
                  <a:lnTo>
                    <a:pt x="0" y="1133856"/>
                  </a:lnTo>
                  <a:close/>
                </a:path>
              </a:pathLst>
            </a:custGeom>
            <a:blipFill>
              <a:blip r:embed="rId3">
                <a:alphaModFix amt="0"/>
              </a:blip>
              <a:stretch>
                <a:fillRect l="0" t="-331215" r="0" b="-331215"/>
              </a:stretch>
            </a:blipFill>
          </p:spPr>
        </p:sp>
        <p:sp>
          <p:nvSpPr>
            <p:cNvPr name="TextBox 7" id="7"/>
            <p:cNvSpPr txBox="true"/>
            <p:nvPr/>
          </p:nvSpPr>
          <p:spPr>
            <a:xfrm>
              <a:off x="0" y="-9525"/>
              <a:ext cx="22183344" cy="1143381"/>
            </a:xfrm>
            <a:prstGeom prst="rect">
              <a:avLst/>
            </a:prstGeom>
          </p:spPr>
          <p:txBody>
            <a:bodyPr anchor="ctr" rtlCol="false" tIns="0" lIns="0" bIns="0" rIns="0"/>
            <a:lstStyle/>
            <a:p>
              <a:pPr algn="l">
                <a:lnSpc>
                  <a:spcPts val="5220"/>
                </a:lnSpc>
              </a:pPr>
              <a:r>
                <a:rPr lang="en-US" sz="4350" b="true">
                  <a:solidFill>
                    <a:srgbClr val="1B2A33"/>
                  </a:solidFill>
                  <a:latin typeface="Cambria Bold"/>
                  <a:ea typeface="Cambria Bold"/>
                  <a:cs typeface="Cambria Bold"/>
                  <a:sym typeface="Cambria Bold"/>
                </a:rPr>
                <a:t>Degradation Physics as a Soft Constraint</a:t>
              </a:r>
            </a:p>
          </p:txBody>
        </p:sp>
      </p:grpSp>
      <p:grpSp>
        <p:nvGrpSpPr>
          <p:cNvPr name="Group 8" id="8"/>
          <p:cNvGrpSpPr/>
          <p:nvPr/>
        </p:nvGrpSpPr>
        <p:grpSpPr>
          <a:xfrm rot="0">
            <a:off x="813435" y="2185035"/>
            <a:ext cx="8180070" cy="3242310"/>
            <a:chOff x="0" y="0"/>
            <a:chExt cx="10906760" cy="4323080"/>
          </a:xfrm>
        </p:grpSpPr>
        <p:sp>
          <p:nvSpPr>
            <p:cNvPr name="Freeform 9" id="9"/>
            <p:cNvSpPr/>
            <p:nvPr/>
          </p:nvSpPr>
          <p:spPr>
            <a:xfrm flipH="false" flipV="false" rot="0">
              <a:off x="0" y="0"/>
              <a:ext cx="10906760" cy="4323080"/>
            </a:xfrm>
            <a:custGeom>
              <a:avLst/>
              <a:gdLst/>
              <a:ahLst/>
              <a:cxnLst/>
              <a:rect r="r" b="b" t="t" l="l"/>
              <a:pathLst>
                <a:path h="4323080" w="10906760">
                  <a:moveTo>
                    <a:pt x="0" y="128778"/>
                  </a:moveTo>
                  <a:cubicBezTo>
                    <a:pt x="0" y="57658"/>
                    <a:pt x="57658" y="0"/>
                    <a:pt x="128778" y="0"/>
                  </a:cubicBezTo>
                  <a:lnTo>
                    <a:pt x="10777982" y="0"/>
                  </a:lnTo>
                  <a:cubicBezTo>
                    <a:pt x="10849101" y="0"/>
                    <a:pt x="10906760" y="57658"/>
                    <a:pt x="10906760" y="128778"/>
                  </a:cubicBezTo>
                  <a:lnTo>
                    <a:pt x="10906760" y="4194302"/>
                  </a:lnTo>
                  <a:cubicBezTo>
                    <a:pt x="10906760" y="4265422"/>
                    <a:pt x="10849101" y="4323080"/>
                    <a:pt x="10777982" y="4323080"/>
                  </a:cubicBezTo>
                  <a:lnTo>
                    <a:pt x="128778" y="4323080"/>
                  </a:lnTo>
                  <a:cubicBezTo>
                    <a:pt x="57658" y="4323080"/>
                    <a:pt x="0" y="4265422"/>
                    <a:pt x="0" y="4194302"/>
                  </a:cubicBezTo>
                  <a:close/>
                </a:path>
              </a:pathLst>
            </a:custGeom>
            <a:solidFill>
              <a:srgbClr val="FFFFFF"/>
            </a:solidFill>
            <a:ln w="19050" cap="sq">
              <a:solidFill>
                <a:srgbClr val="CFDBDC"/>
              </a:solidFill>
              <a:prstDash val="solid"/>
              <a:miter/>
            </a:ln>
          </p:spPr>
        </p:sp>
      </p:grpSp>
      <p:grpSp>
        <p:nvGrpSpPr>
          <p:cNvPr name="Group 10" id="10"/>
          <p:cNvGrpSpPr/>
          <p:nvPr/>
        </p:nvGrpSpPr>
        <p:grpSpPr>
          <a:xfrm rot="0">
            <a:off x="1207008" y="2468880"/>
            <a:ext cx="7406640" cy="466344"/>
            <a:chOff x="0" y="0"/>
            <a:chExt cx="9875520" cy="621792"/>
          </a:xfrm>
        </p:grpSpPr>
        <p:sp>
          <p:nvSpPr>
            <p:cNvPr name="Freeform 11" id="11"/>
            <p:cNvSpPr/>
            <p:nvPr/>
          </p:nvSpPr>
          <p:spPr>
            <a:xfrm flipH="false" flipV="false" rot="0">
              <a:off x="0" y="0"/>
              <a:ext cx="9875520" cy="621792"/>
            </a:xfrm>
            <a:custGeom>
              <a:avLst/>
              <a:gdLst/>
              <a:ahLst/>
              <a:cxnLst/>
              <a:rect r="r" b="b" t="t" l="l"/>
              <a:pathLst>
                <a:path h="621792" w="9875520">
                  <a:moveTo>
                    <a:pt x="0" y="0"/>
                  </a:moveTo>
                  <a:lnTo>
                    <a:pt x="9875520" y="0"/>
                  </a:lnTo>
                  <a:lnTo>
                    <a:pt x="9875520" y="621792"/>
                  </a:lnTo>
                  <a:lnTo>
                    <a:pt x="0" y="621792"/>
                  </a:lnTo>
                  <a:close/>
                </a:path>
              </a:pathLst>
            </a:custGeom>
            <a:blipFill>
              <a:blip r:embed="rId3">
                <a:alphaModFix amt="0"/>
              </a:blip>
              <a:stretch>
                <a:fillRect l="0" t="-259468" r="0" b="-259468"/>
              </a:stretch>
            </a:blipFill>
          </p:spPr>
        </p:sp>
        <p:sp>
          <p:nvSpPr>
            <p:cNvPr name="TextBox 12" id="12"/>
            <p:cNvSpPr txBox="true"/>
            <p:nvPr/>
          </p:nvSpPr>
          <p:spPr>
            <a:xfrm>
              <a:off x="0" y="-19050"/>
              <a:ext cx="9875520" cy="640842"/>
            </a:xfrm>
            <a:prstGeom prst="rect">
              <a:avLst/>
            </a:prstGeom>
          </p:spPr>
          <p:txBody>
            <a:bodyPr anchor="ctr" rtlCol="false" tIns="0" lIns="0" bIns="0" rIns="0"/>
            <a:lstStyle/>
            <a:p>
              <a:pPr algn="l">
                <a:lnSpc>
                  <a:spcPts val="2700"/>
                </a:lnSpc>
              </a:pPr>
              <a:r>
                <a:rPr lang="en-US" sz="2250" b="true">
                  <a:solidFill>
                    <a:srgbClr val="1A5B6E"/>
                  </a:solidFill>
                  <a:latin typeface="Cambria Bold"/>
                  <a:ea typeface="Cambria Bold"/>
                  <a:cs typeface="Cambria Bold"/>
                  <a:sym typeface="Cambria Bold"/>
                </a:rPr>
                <a:t>Verhulst (logistic) law</a:t>
              </a:r>
            </a:p>
          </p:txBody>
        </p:sp>
      </p:grpSp>
      <p:grpSp>
        <p:nvGrpSpPr>
          <p:cNvPr name="Group 13" id="13"/>
          <p:cNvGrpSpPr/>
          <p:nvPr/>
        </p:nvGrpSpPr>
        <p:grpSpPr>
          <a:xfrm rot="0">
            <a:off x="3230013" y="3127248"/>
            <a:ext cx="3360639" cy="493776"/>
            <a:chOff x="0" y="0"/>
            <a:chExt cx="4480852" cy="658368"/>
          </a:xfrm>
        </p:grpSpPr>
        <p:sp>
          <p:nvSpPr>
            <p:cNvPr name="Freeform 14" id="14" descr="/tmp/deck/eq/verhulst.png"/>
            <p:cNvSpPr/>
            <p:nvPr/>
          </p:nvSpPr>
          <p:spPr>
            <a:xfrm flipH="false" flipV="false" rot="0">
              <a:off x="0" y="0"/>
              <a:ext cx="4480814" cy="658368"/>
            </a:xfrm>
            <a:custGeom>
              <a:avLst/>
              <a:gdLst/>
              <a:ahLst/>
              <a:cxnLst/>
              <a:rect r="r" b="b" t="t" l="l"/>
              <a:pathLst>
                <a:path h="658368" w="4480814">
                  <a:moveTo>
                    <a:pt x="0" y="0"/>
                  </a:moveTo>
                  <a:lnTo>
                    <a:pt x="4480814" y="0"/>
                  </a:lnTo>
                  <a:lnTo>
                    <a:pt x="4480814" y="658368"/>
                  </a:lnTo>
                  <a:lnTo>
                    <a:pt x="0" y="658368"/>
                  </a:lnTo>
                  <a:lnTo>
                    <a:pt x="0" y="0"/>
                  </a:lnTo>
                  <a:close/>
                </a:path>
              </a:pathLst>
            </a:custGeom>
            <a:blipFill>
              <a:blip r:embed="rId4"/>
              <a:stretch>
                <a:fillRect l="0" t="0" r="-1" b="0"/>
              </a:stretch>
            </a:blipFill>
          </p:spPr>
        </p:sp>
      </p:grpSp>
      <p:grpSp>
        <p:nvGrpSpPr>
          <p:cNvPr name="Group 15" id="15"/>
          <p:cNvGrpSpPr/>
          <p:nvPr/>
        </p:nvGrpSpPr>
        <p:grpSpPr>
          <a:xfrm rot="0">
            <a:off x="1207008" y="3922776"/>
            <a:ext cx="7406640" cy="1371600"/>
            <a:chOff x="0" y="0"/>
            <a:chExt cx="9875520" cy="1828800"/>
          </a:xfrm>
        </p:grpSpPr>
        <p:sp>
          <p:nvSpPr>
            <p:cNvPr name="Freeform 16" id="16"/>
            <p:cNvSpPr/>
            <p:nvPr/>
          </p:nvSpPr>
          <p:spPr>
            <a:xfrm flipH="false" flipV="false" rot="0">
              <a:off x="0" y="0"/>
              <a:ext cx="9875520" cy="1828800"/>
            </a:xfrm>
            <a:custGeom>
              <a:avLst/>
              <a:gdLst/>
              <a:ahLst/>
              <a:cxnLst/>
              <a:rect r="r" b="b" t="t" l="l"/>
              <a:pathLst>
                <a:path h="1828800" w="9875520">
                  <a:moveTo>
                    <a:pt x="0" y="0"/>
                  </a:moveTo>
                  <a:lnTo>
                    <a:pt x="9875520" y="0"/>
                  </a:lnTo>
                  <a:lnTo>
                    <a:pt x="9875520" y="1828800"/>
                  </a:lnTo>
                  <a:lnTo>
                    <a:pt x="0" y="1828800"/>
                  </a:lnTo>
                  <a:close/>
                </a:path>
              </a:pathLst>
            </a:custGeom>
            <a:blipFill>
              <a:blip r:embed="rId3">
                <a:alphaModFix amt="0"/>
              </a:blip>
              <a:stretch>
                <a:fillRect l="0" t="-55219" r="0" b="-55219"/>
              </a:stretch>
            </a:blipFill>
          </p:spPr>
        </p:sp>
        <p:sp>
          <p:nvSpPr>
            <p:cNvPr name="TextBox 17" id="17"/>
            <p:cNvSpPr txBox="true"/>
            <p:nvPr/>
          </p:nvSpPr>
          <p:spPr>
            <a:xfrm>
              <a:off x="0" y="-57150"/>
              <a:ext cx="9875520" cy="1885950"/>
            </a:xfrm>
            <a:prstGeom prst="rect">
              <a:avLst/>
            </a:prstGeom>
          </p:spPr>
          <p:txBody>
            <a:bodyPr anchor="ctr" rtlCol="false" tIns="0" lIns="0" bIns="0" rIns="0"/>
            <a:lstStyle/>
            <a:p>
              <a:pPr algn="l">
                <a:lnSpc>
                  <a:spcPts val="2321"/>
                </a:lnSpc>
              </a:pPr>
              <a:r>
                <a:rPr lang="en-US" sz="1824">
                  <a:solidFill>
                    <a:srgbClr val="39454E"/>
                  </a:solidFill>
                  <a:latin typeface="Calibri (MS)"/>
                  <a:ea typeface="Calibri (MS)"/>
                  <a:cs typeface="Calibri (MS)"/>
                  <a:sym typeface="Calibri (MS)"/>
                </a:rPr>
                <a:t>Self-limiting fade — the rate depends on current health and the room left to degrade. Fitted to a decaying cell, r &lt; 0 gives a monotone fade.</a:t>
              </a:r>
            </a:p>
          </p:txBody>
        </p:sp>
      </p:grpSp>
      <p:grpSp>
        <p:nvGrpSpPr>
          <p:cNvPr name="Group 18" id="18"/>
          <p:cNvGrpSpPr/>
          <p:nvPr/>
        </p:nvGrpSpPr>
        <p:grpSpPr>
          <a:xfrm rot="0">
            <a:off x="9289923" y="2185035"/>
            <a:ext cx="8180070" cy="3242310"/>
            <a:chOff x="0" y="0"/>
            <a:chExt cx="10906760" cy="4323080"/>
          </a:xfrm>
        </p:grpSpPr>
        <p:sp>
          <p:nvSpPr>
            <p:cNvPr name="Freeform 19" id="19"/>
            <p:cNvSpPr/>
            <p:nvPr/>
          </p:nvSpPr>
          <p:spPr>
            <a:xfrm flipH="false" flipV="false" rot="0">
              <a:off x="0" y="0"/>
              <a:ext cx="10906760" cy="4323080"/>
            </a:xfrm>
            <a:custGeom>
              <a:avLst/>
              <a:gdLst/>
              <a:ahLst/>
              <a:cxnLst/>
              <a:rect r="r" b="b" t="t" l="l"/>
              <a:pathLst>
                <a:path h="4323080" w="10906760">
                  <a:moveTo>
                    <a:pt x="0" y="128778"/>
                  </a:moveTo>
                  <a:cubicBezTo>
                    <a:pt x="0" y="57658"/>
                    <a:pt x="57658" y="0"/>
                    <a:pt x="128778" y="0"/>
                  </a:cubicBezTo>
                  <a:lnTo>
                    <a:pt x="10777982" y="0"/>
                  </a:lnTo>
                  <a:cubicBezTo>
                    <a:pt x="10849101" y="0"/>
                    <a:pt x="10906760" y="57658"/>
                    <a:pt x="10906760" y="128778"/>
                  </a:cubicBezTo>
                  <a:lnTo>
                    <a:pt x="10906760" y="4194302"/>
                  </a:lnTo>
                  <a:cubicBezTo>
                    <a:pt x="10906760" y="4265422"/>
                    <a:pt x="10849101" y="4323080"/>
                    <a:pt x="10777982" y="4323080"/>
                  </a:cubicBezTo>
                  <a:lnTo>
                    <a:pt x="128778" y="4323080"/>
                  </a:lnTo>
                  <a:cubicBezTo>
                    <a:pt x="57658" y="4323080"/>
                    <a:pt x="0" y="4265422"/>
                    <a:pt x="0" y="4194302"/>
                  </a:cubicBezTo>
                  <a:close/>
                </a:path>
              </a:pathLst>
            </a:custGeom>
            <a:solidFill>
              <a:srgbClr val="FFFFFF"/>
            </a:solidFill>
            <a:ln w="19050" cap="sq">
              <a:solidFill>
                <a:srgbClr val="CFDBDC"/>
              </a:solidFill>
              <a:prstDash val="solid"/>
              <a:miter/>
            </a:ln>
          </p:spPr>
        </p:sp>
      </p:grpSp>
      <p:grpSp>
        <p:nvGrpSpPr>
          <p:cNvPr name="Group 20" id="20"/>
          <p:cNvGrpSpPr/>
          <p:nvPr/>
        </p:nvGrpSpPr>
        <p:grpSpPr>
          <a:xfrm rot="0">
            <a:off x="9683496" y="2468880"/>
            <a:ext cx="7406640" cy="466344"/>
            <a:chOff x="0" y="0"/>
            <a:chExt cx="9875520" cy="621792"/>
          </a:xfrm>
        </p:grpSpPr>
        <p:sp>
          <p:nvSpPr>
            <p:cNvPr name="Freeform 21" id="21"/>
            <p:cNvSpPr/>
            <p:nvPr/>
          </p:nvSpPr>
          <p:spPr>
            <a:xfrm flipH="false" flipV="false" rot="0">
              <a:off x="0" y="0"/>
              <a:ext cx="9875520" cy="621792"/>
            </a:xfrm>
            <a:custGeom>
              <a:avLst/>
              <a:gdLst/>
              <a:ahLst/>
              <a:cxnLst/>
              <a:rect r="r" b="b" t="t" l="l"/>
              <a:pathLst>
                <a:path h="621792" w="9875520">
                  <a:moveTo>
                    <a:pt x="0" y="0"/>
                  </a:moveTo>
                  <a:lnTo>
                    <a:pt x="9875520" y="0"/>
                  </a:lnTo>
                  <a:lnTo>
                    <a:pt x="9875520" y="621792"/>
                  </a:lnTo>
                  <a:lnTo>
                    <a:pt x="0" y="621792"/>
                  </a:lnTo>
                  <a:close/>
                </a:path>
              </a:pathLst>
            </a:custGeom>
            <a:blipFill>
              <a:blip r:embed="rId3">
                <a:alphaModFix amt="0"/>
              </a:blip>
              <a:stretch>
                <a:fillRect l="0" t="-259468" r="0" b="-259468"/>
              </a:stretch>
            </a:blipFill>
          </p:spPr>
        </p:sp>
        <p:sp>
          <p:nvSpPr>
            <p:cNvPr name="TextBox 22" id="22"/>
            <p:cNvSpPr txBox="true"/>
            <p:nvPr/>
          </p:nvSpPr>
          <p:spPr>
            <a:xfrm>
              <a:off x="0" y="-19050"/>
              <a:ext cx="9875520" cy="640842"/>
            </a:xfrm>
            <a:prstGeom prst="rect">
              <a:avLst/>
            </a:prstGeom>
          </p:spPr>
          <p:txBody>
            <a:bodyPr anchor="ctr" rtlCol="false" tIns="0" lIns="0" bIns="0" rIns="0"/>
            <a:lstStyle/>
            <a:p>
              <a:pPr algn="l">
                <a:lnSpc>
                  <a:spcPts val="2700"/>
                </a:lnSpc>
              </a:pPr>
              <a:r>
                <a:rPr lang="en-US" sz="2250" b="true">
                  <a:solidFill>
                    <a:srgbClr val="1A5B6E"/>
                  </a:solidFill>
                  <a:latin typeface="Cambria Bold"/>
                  <a:ea typeface="Cambria Bold"/>
                  <a:cs typeface="Cambria Bold"/>
                  <a:sym typeface="Cambria Bold"/>
                </a:rPr>
                <a:t>Double-exponential law</a:t>
              </a:r>
            </a:p>
          </p:txBody>
        </p:sp>
      </p:grpSp>
      <p:grpSp>
        <p:nvGrpSpPr>
          <p:cNvPr name="Group 23" id="23"/>
          <p:cNvGrpSpPr/>
          <p:nvPr/>
        </p:nvGrpSpPr>
        <p:grpSpPr>
          <a:xfrm rot="0">
            <a:off x="11713121" y="3127248"/>
            <a:ext cx="3347390" cy="411480"/>
            <a:chOff x="0" y="0"/>
            <a:chExt cx="4463186" cy="548640"/>
          </a:xfrm>
        </p:grpSpPr>
        <p:sp>
          <p:nvSpPr>
            <p:cNvPr name="Freeform 24" id="24" descr="/tmp/deck/eq/dexp.png"/>
            <p:cNvSpPr/>
            <p:nvPr/>
          </p:nvSpPr>
          <p:spPr>
            <a:xfrm flipH="false" flipV="false" rot="0">
              <a:off x="0" y="0"/>
              <a:ext cx="4463161" cy="548640"/>
            </a:xfrm>
            <a:custGeom>
              <a:avLst/>
              <a:gdLst/>
              <a:ahLst/>
              <a:cxnLst/>
              <a:rect r="r" b="b" t="t" l="l"/>
              <a:pathLst>
                <a:path h="548640" w="4463161">
                  <a:moveTo>
                    <a:pt x="0" y="0"/>
                  </a:moveTo>
                  <a:lnTo>
                    <a:pt x="4463161" y="0"/>
                  </a:lnTo>
                  <a:lnTo>
                    <a:pt x="4463161" y="548640"/>
                  </a:lnTo>
                  <a:lnTo>
                    <a:pt x="0" y="548640"/>
                  </a:lnTo>
                  <a:lnTo>
                    <a:pt x="0" y="0"/>
                  </a:lnTo>
                  <a:close/>
                </a:path>
              </a:pathLst>
            </a:custGeom>
            <a:blipFill>
              <a:blip r:embed="rId5"/>
              <a:stretch>
                <a:fillRect l="0" t="-1" r="0" b="-2"/>
              </a:stretch>
            </a:blipFill>
          </p:spPr>
        </p:sp>
      </p:grpSp>
      <p:grpSp>
        <p:nvGrpSpPr>
          <p:cNvPr name="Group 25" id="25"/>
          <p:cNvGrpSpPr/>
          <p:nvPr/>
        </p:nvGrpSpPr>
        <p:grpSpPr>
          <a:xfrm rot="0">
            <a:off x="9683496" y="3922776"/>
            <a:ext cx="7406640" cy="1371600"/>
            <a:chOff x="0" y="0"/>
            <a:chExt cx="9875520" cy="1828800"/>
          </a:xfrm>
        </p:grpSpPr>
        <p:sp>
          <p:nvSpPr>
            <p:cNvPr name="Freeform 26" id="26"/>
            <p:cNvSpPr/>
            <p:nvPr/>
          </p:nvSpPr>
          <p:spPr>
            <a:xfrm flipH="false" flipV="false" rot="0">
              <a:off x="0" y="0"/>
              <a:ext cx="9875520" cy="1828800"/>
            </a:xfrm>
            <a:custGeom>
              <a:avLst/>
              <a:gdLst/>
              <a:ahLst/>
              <a:cxnLst/>
              <a:rect r="r" b="b" t="t" l="l"/>
              <a:pathLst>
                <a:path h="1828800" w="9875520">
                  <a:moveTo>
                    <a:pt x="0" y="0"/>
                  </a:moveTo>
                  <a:lnTo>
                    <a:pt x="9875520" y="0"/>
                  </a:lnTo>
                  <a:lnTo>
                    <a:pt x="9875520" y="1828800"/>
                  </a:lnTo>
                  <a:lnTo>
                    <a:pt x="0" y="1828800"/>
                  </a:lnTo>
                  <a:close/>
                </a:path>
              </a:pathLst>
            </a:custGeom>
            <a:blipFill>
              <a:blip r:embed="rId3">
                <a:alphaModFix amt="0"/>
              </a:blip>
              <a:stretch>
                <a:fillRect l="0" t="-55219" r="0" b="-55219"/>
              </a:stretch>
            </a:blipFill>
          </p:spPr>
        </p:sp>
        <p:sp>
          <p:nvSpPr>
            <p:cNvPr name="TextBox 27" id="27"/>
            <p:cNvSpPr txBox="true"/>
            <p:nvPr/>
          </p:nvSpPr>
          <p:spPr>
            <a:xfrm>
              <a:off x="0" y="-57150"/>
              <a:ext cx="9875520" cy="1885950"/>
            </a:xfrm>
            <a:prstGeom prst="rect">
              <a:avLst/>
            </a:prstGeom>
          </p:spPr>
          <p:txBody>
            <a:bodyPr anchor="ctr" rtlCol="false" tIns="0" lIns="0" bIns="0" rIns="0"/>
            <a:lstStyle/>
            <a:p>
              <a:pPr algn="l">
                <a:lnSpc>
                  <a:spcPts val="2321"/>
                </a:lnSpc>
              </a:pPr>
              <a:r>
                <a:rPr lang="en-US" sz="1824">
                  <a:solidFill>
                    <a:srgbClr val="39454E"/>
                  </a:solidFill>
                  <a:latin typeface="Calibri (MS)"/>
                  <a:ea typeface="Calibri (MS)"/>
                  <a:cs typeface="Calibri (MS)"/>
                  <a:sym typeface="Calibri (MS)"/>
                </a:rPr>
                <a:t>Two timescales — a fast early process (SEI settling) and a slow long-term process (material loss). The extra flexibility captures the knee-point.</a:t>
              </a:r>
            </a:p>
          </p:txBody>
        </p:sp>
      </p:grpSp>
      <p:grpSp>
        <p:nvGrpSpPr>
          <p:cNvPr name="Group 28" id="28"/>
          <p:cNvGrpSpPr/>
          <p:nvPr/>
        </p:nvGrpSpPr>
        <p:grpSpPr>
          <a:xfrm rot="0">
            <a:off x="813435" y="5819775"/>
            <a:ext cx="16656558" cy="3516630"/>
            <a:chOff x="0" y="0"/>
            <a:chExt cx="22208744" cy="4688840"/>
          </a:xfrm>
        </p:grpSpPr>
        <p:sp>
          <p:nvSpPr>
            <p:cNvPr name="Freeform 29" id="29"/>
            <p:cNvSpPr/>
            <p:nvPr/>
          </p:nvSpPr>
          <p:spPr>
            <a:xfrm flipH="false" flipV="false" rot="0">
              <a:off x="0" y="0"/>
              <a:ext cx="22208744" cy="4688840"/>
            </a:xfrm>
            <a:custGeom>
              <a:avLst/>
              <a:gdLst/>
              <a:ahLst/>
              <a:cxnLst/>
              <a:rect r="r" b="b" t="t" l="l"/>
              <a:pathLst>
                <a:path h="4688840" w="22208744">
                  <a:moveTo>
                    <a:pt x="0" y="128651"/>
                  </a:moveTo>
                  <a:cubicBezTo>
                    <a:pt x="0" y="57658"/>
                    <a:pt x="57658" y="0"/>
                    <a:pt x="128651" y="0"/>
                  </a:cubicBezTo>
                  <a:lnTo>
                    <a:pt x="22080093" y="0"/>
                  </a:lnTo>
                  <a:cubicBezTo>
                    <a:pt x="22151212" y="0"/>
                    <a:pt x="22208744" y="57658"/>
                    <a:pt x="22208744" y="128651"/>
                  </a:cubicBezTo>
                  <a:lnTo>
                    <a:pt x="22208744" y="4560189"/>
                  </a:lnTo>
                  <a:cubicBezTo>
                    <a:pt x="22208744" y="4631309"/>
                    <a:pt x="22151085" y="4688840"/>
                    <a:pt x="22080093" y="4688840"/>
                  </a:cubicBezTo>
                  <a:lnTo>
                    <a:pt x="128651" y="4688840"/>
                  </a:lnTo>
                  <a:cubicBezTo>
                    <a:pt x="57658" y="4688840"/>
                    <a:pt x="0" y="4631182"/>
                    <a:pt x="0" y="4560189"/>
                  </a:cubicBezTo>
                  <a:close/>
                </a:path>
              </a:pathLst>
            </a:custGeom>
            <a:solidFill>
              <a:srgbClr val="E0EBEC"/>
            </a:solidFill>
            <a:ln w="19050" cap="sq">
              <a:solidFill>
                <a:srgbClr val="CFDBDC"/>
              </a:solidFill>
              <a:prstDash val="solid"/>
              <a:miter/>
            </a:ln>
          </p:spPr>
        </p:sp>
      </p:grpSp>
      <p:grpSp>
        <p:nvGrpSpPr>
          <p:cNvPr name="Group 30" id="30"/>
          <p:cNvGrpSpPr/>
          <p:nvPr/>
        </p:nvGrpSpPr>
        <p:grpSpPr>
          <a:xfrm rot="0">
            <a:off x="1234440" y="6062472"/>
            <a:ext cx="15814548" cy="438912"/>
            <a:chOff x="0" y="0"/>
            <a:chExt cx="21086064" cy="585216"/>
          </a:xfrm>
        </p:grpSpPr>
        <p:sp>
          <p:nvSpPr>
            <p:cNvPr name="Freeform 31" id="31"/>
            <p:cNvSpPr/>
            <p:nvPr/>
          </p:nvSpPr>
          <p:spPr>
            <a:xfrm flipH="false" flipV="false" rot="0">
              <a:off x="0" y="0"/>
              <a:ext cx="21086065" cy="585216"/>
            </a:xfrm>
            <a:custGeom>
              <a:avLst/>
              <a:gdLst/>
              <a:ahLst/>
              <a:cxnLst/>
              <a:rect r="r" b="b" t="t" l="l"/>
              <a:pathLst>
                <a:path h="585216" w="21086065">
                  <a:moveTo>
                    <a:pt x="0" y="0"/>
                  </a:moveTo>
                  <a:lnTo>
                    <a:pt x="21086065" y="0"/>
                  </a:lnTo>
                  <a:lnTo>
                    <a:pt x="21086065" y="585216"/>
                  </a:lnTo>
                  <a:lnTo>
                    <a:pt x="0" y="585216"/>
                  </a:lnTo>
                  <a:close/>
                </a:path>
              </a:pathLst>
            </a:custGeom>
            <a:blipFill>
              <a:blip r:embed="rId3">
                <a:alphaModFix amt="0"/>
              </a:blip>
              <a:stretch>
                <a:fillRect l="0" t="-652070" r="0" b="-652070"/>
              </a:stretch>
            </a:blipFill>
          </p:spPr>
        </p:sp>
        <p:sp>
          <p:nvSpPr>
            <p:cNvPr name="TextBox 32" id="32"/>
            <p:cNvSpPr txBox="true"/>
            <p:nvPr/>
          </p:nvSpPr>
          <p:spPr>
            <a:xfrm>
              <a:off x="0" y="-19050"/>
              <a:ext cx="21086064" cy="604266"/>
            </a:xfrm>
            <a:prstGeom prst="rect">
              <a:avLst/>
            </a:prstGeom>
          </p:spPr>
          <p:txBody>
            <a:bodyPr anchor="ctr" rtlCol="false" tIns="0" lIns="0" bIns="0" rIns="0"/>
            <a:lstStyle/>
            <a:p>
              <a:pPr algn="l">
                <a:lnSpc>
                  <a:spcPts val="2700"/>
                </a:lnSpc>
              </a:pPr>
              <a:r>
                <a:rPr lang="en-US" sz="2250" b="true">
                  <a:solidFill>
                    <a:srgbClr val="1B2A33"/>
                  </a:solidFill>
                  <a:latin typeface="Cambria Bold"/>
                  <a:ea typeface="Cambria Bold"/>
                  <a:cs typeface="Cambria Bold"/>
                  <a:sym typeface="Cambria Bold"/>
                </a:rPr>
                <a:t>Composite optimization objective</a:t>
              </a:r>
            </a:p>
          </p:txBody>
        </p:sp>
      </p:grpSp>
      <p:grpSp>
        <p:nvGrpSpPr>
          <p:cNvPr name="Group 33" id="33"/>
          <p:cNvGrpSpPr/>
          <p:nvPr/>
        </p:nvGrpSpPr>
        <p:grpSpPr>
          <a:xfrm rot="0">
            <a:off x="3578285" y="6830568"/>
            <a:ext cx="5800382" cy="466344"/>
            <a:chOff x="0" y="0"/>
            <a:chExt cx="7733843" cy="621792"/>
          </a:xfrm>
        </p:grpSpPr>
        <p:sp>
          <p:nvSpPr>
            <p:cNvPr name="Freeform 34" id="34" descr="/tmp/deck/eq/ltot.png"/>
            <p:cNvSpPr/>
            <p:nvPr/>
          </p:nvSpPr>
          <p:spPr>
            <a:xfrm flipH="false" flipV="false" rot="0">
              <a:off x="0" y="0"/>
              <a:ext cx="7733792" cy="621792"/>
            </a:xfrm>
            <a:custGeom>
              <a:avLst/>
              <a:gdLst/>
              <a:ahLst/>
              <a:cxnLst/>
              <a:rect r="r" b="b" t="t" l="l"/>
              <a:pathLst>
                <a:path h="621792" w="7733792">
                  <a:moveTo>
                    <a:pt x="0" y="0"/>
                  </a:moveTo>
                  <a:lnTo>
                    <a:pt x="7733792" y="0"/>
                  </a:lnTo>
                  <a:lnTo>
                    <a:pt x="7733792" y="621792"/>
                  </a:lnTo>
                  <a:lnTo>
                    <a:pt x="0" y="621792"/>
                  </a:lnTo>
                  <a:lnTo>
                    <a:pt x="0" y="0"/>
                  </a:lnTo>
                  <a:close/>
                </a:path>
              </a:pathLst>
            </a:custGeom>
            <a:blipFill>
              <a:blip r:embed="rId6"/>
              <a:stretch>
                <a:fillRect l="0" t="0" r="-1" b="0"/>
              </a:stretch>
            </a:blipFill>
          </p:spPr>
        </p:sp>
      </p:grpSp>
      <p:grpSp>
        <p:nvGrpSpPr>
          <p:cNvPr name="Group 35" id="35"/>
          <p:cNvGrpSpPr/>
          <p:nvPr/>
        </p:nvGrpSpPr>
        <p:grpSpPr>
          <a:xfrm rot="0">
            <a:off x="9378667" y="6720840"/>
            <a:ext cx="960120" cy="685800"/>
            <a:chOff x="0" y="0"/>
            <a:chExt cx="1280160" cy="914400"/>
          </a:xfrm>
        </p:grpSpPr>
        <p:sp>
          <p:nvSpPr>
            <p:cNvPr name="Freeform 36" id="36"/>
            <p:cNvSpPr/>
            <p:nvPr/>
          </p:nvSpPr>
          <p:spPr>
            <a:xfrm flipH="false" flipV="false" rot="0">
              <a:off x="0" y="0"/>
              <a:ext cx="1280160" cy="914400"/>
            </a:xfrm>
            <a:custGeom>
              <a:avLst/>
              <a:gdLst/>
              <a:ahLst/>
              <a:cxnLst/>
              <a:rect r="r" b="b" t="t" l="l"/>
              <a:pathLst>
                <a:path h="914400" w="1280160">
                  <a:moveTo>
                    <a:pt x="0" y="0"/>
                  </a:moveTo>
                  <a:lnTo>
                    <a:pt x="1280160" y="0"/>
                  </a:lnTo>
                  <a:lnTo>
                    <a:pt x="1280160" y="914400"/>
                  </a:lnTo>
                  <a:lnTo>
                    <a:pt x="0" y="914400"/>
                  </a:lnTo>
                  <a:close/>
                </a:path>
              </a:pathLst>
            </a:custGeom>
            <a:blipFill>
              <a:blip r:embed="rId3">
                <a:alphaModFix amt="0"/>
              </a:blip>
              <a:stretch>
                <a:fillRect l="-41645" t="0" r="-41645" b="0"/>
              </a:stretch>
            </a:blipFill>
          </p:spPr>
        </p:sp>
        <p:sp>
          <p:nvSpPr>
            <p:cNvPr name="TextBox 37" id="37"/>
            <p:cNvSpPr txBox="true"/>
            <p:nvPr/>
          </p:nvSpPr>
          <p:spPr>
            <a:xfrm>
              <a:off x="0" y="-9525"/>
              <a:ext cx="1280160" cy="923925"/>
            </a:xfrm>
            <a:prstGeom prst="rect">
              <a:avLst/>
            </a:prstGeom>
          </p:spPr>
          <p:txBody>
            <a:bodyPr anchor="ctr" rtlCol="false" tIns="0" lIns="0" bIns="0" rIns="0"/>
            <a:lstStyle/>
            <a:p>
              <a:pPr algn="ctr">
                <a:lnSpc>
                  <a:spcPts val="2340"/>
                </a:lnSpc>
              </a:pPr>
              <a:r>
                <a:rPr lang="en-US" sz="1950" i="true">
                  <a:solidFill>
                    <a:srgbClr val="6E7A83"/>
                  </a:solidFill>
                  <a:latin typeface="Cambria Italics"/>
                  <a:ea typeface="Cambria Italics"/>
                  <a:cs typeface="Cambria Italics"/>
                  <a:sym typeface="Cambria Italics"/>
                </a:rPr>
                <a:t>with</a:t>
              </a:r>
            </a:p>
          </p:txBody>
        </p:sp>
      </p:grpSp>
      <p:grpSp>
        <p:nvGrpSpPr>
          <p:cNvPr name="Group 38" id="38"/>
          <p:cNvGrpSpPr/>
          <p:nvPr/>
        </p:nvGrpSpPr>
        <p:grpSpPr>
          <a:xfrm rot="0">
            <a:off x="10338787" y="6761988"/>
            <a:ext cx="4366355" cy="603504"/>
            <a:chOff x="0" y="0"/>
            <a:chExt cx="5821807" cy="804672"/>
          </a:xfrm>
        </p:grpSpPr>
        <p:sp>
          <p:nvSpPr>
            <p:cNvPr name="Freeform 39" id="39" descr="/tmp/deck/eq/lphys.png"/>
            <p:cNvSpPr/>
            <p:nvPr/>
          </p:nvSpPr>
          <p:spPr>
            <a:xfrm flipH="false" flipV="false" rot="0">
              <a:off x="0" y="0"/>
              <a:ext cx="5821807" cy="804672"/>
            </a:xfrm>
            <a:custGeom>
              <a:avLst/>
              <a:gdLst/>
              <a:ahLst/>
              <a:cxnLst/>
              <a:rect r="r" b="b" t="t" l="l"/>
              <a:pathLst>
                <a:path h="804672" w="5821807">
                  <a:moveTo>
                    <a:pt x="0" y="0"/>
                  </a:moveTo>
                  <a:lnTo>
                    <a:pt x="5821807" y="0"/>
                  </a:lnTo>
                  <a:lnTo>
                    <a:pt x="5821807" y="804672"/>
                  </a:lnTo>
                  <a:lnTo>
                    <a:pt x="0" y="804672"/>
                  </a:lnTo>
                  <a:lnTo>
                    <a:pt x="0" y="0"/>
                  </a:lnTo>
                  <a:close/>
                </a:path>
              </a:pathLst>
            </a:custGeom>
            <a:blipFill>
              <a:blip r:embed="rId7"/>
              <a:stretch>
                <a:fillRect l="0" t="-3" r="0" b="-3"/>
              </a:stretch>
            </a:blipFill>
          </p:spPr>
        </p:sp>
      </p:grpSp>
      <p:grpSp>
        <p:nvGrpSpPr>
          <p:cNvPr name="Group 40" id="40"/>
          <p:cNvGrpSpPr/>
          <p:nvPr/>
        </p:nvGrpSpPr>
        <p:grpSpPr>
          <a:xfrm rot="0">
            <a:off x="1234440" y="7680960"/>
            <a:ext cx="15814548" cy="1508760"/>
            <a:chOff x="0" y="0"/>
            <a:chExt cx="21086064" cy="2011680"/>
          </a:xfrm>
        </p:grpSpPr>
        <p:sp>
          <p:nvSpPr>
            <p:cNvPr name="Freeform 41" id="41"/>
            <p:cNvSpPr/>
            <p:nvPr/>
          </p:nvSpPr>
          <p:spPr>
            <a:xfrm flipH="false" flipV="false" rot="0">
              <a:off x="0" y="0"/>
              <a:ext cx="21086065" cy="2011680"/>
            </a:xfrm>
            <a:custGeom>
              <a:avLst/>
              <a:gdLst/>
              <a:ahLst/>
              <a:cxnLst/>
              <a:rect r="r" b="b" t="t" l="l"/>
              <a:pathLst>
                <a:path h="2011680" w="21086065">
                  <a:moveTo>
                    <a:pt x="0" y="0"/>
                  </a:moveTo>
                  <a:lnTo>
                    <a:pt x="21086065" y="0"/>
                  </a:lnTo>
                  <a:lnTo>
                    <a:pt x="21086065" y="2011680"/>
                  </a:lnTo>
                  <a:lnTo>
                    <a:pt x="0" y="2011680"/>
                  </a:lnTo>
                  <a:close/>
                </a:path>
              </a:pathLst>
            </a:custGeom>
            <a:blipFill>
              <a:blip r:embed="rId3">
                <a:alphaModFix amt="0"/>
              </a:blip>
              <a:stretch>
                <a:fillRect l="0" t="-154238" r="0" b="-154238"/>
              </a:stretch>
            </a:blipFill>
          </p:spPr>
        </p:sp>
        <p:sp>
          <p:nvSpPr>
            <p:cNvPr name="TextBox 42" id="42"/>
            <p:cNvSpPr txBox="true"/>
            <p:nvPr/>
          </p:nvSpPr>
          <p:spPr>
            <a:xfrm>
              <a:off x="0" y="-66675"/>
              <a:ext cx="21086064" cy="2078355"/>
            </a:xfrm>
            <a:prstGeom prst="rect">
              <a:avLst/>
            </a:prstGeom>
          </p:spPr>
          <p:txBody>
            <a:bodyPr anchor="ctr" rtlCol="false" tIns="0" lIns="0" bIns="0" rIns="0"/>
            <a:lstStyle/>
            <a:p>
              <a:pPr algn="l">
                <a:lnSpc>
                  <a:spcPts val="2591"/>
                </a:lnSpc>
              </a:pPr>
              <a:r>
                <a:rPr lang="en-US" sz="1999">
                  <a:solidFill>
                    <a:srgbClr val="39454E"/>
                  </a:solidFill>
                  <a:latin typeface="Calibri (MS)"/>
                  <a:ea typeface="Calibri (MS)"/>
                  <a:cs typeface="Calibri (MS)"/>
                  <a:sym typeface="Calibri (MS)"/>
                </a:rPr>
                <a:t>Data loss is the MSE against measured SOH. Physics loss uses automatic differentiation to compute the network's own derivative (w.r.t. its cycle input) and pulls it toward the law's expected rate.</a:t>
              </a:r>
            </a:p>
            <a:p>
              <a:pPr algn="l">
                <a:lnSpc>
                  <a:spcPts val="2591"/>
                </a:lnSpc>
              </a:pPr>
              <a:r>
                <a:rPr lang="en-US" sz="1999">
                  <a:solidFill>
                    <a:srgbClr val="39454E"/>
                  </a:solidFill>
                  <a:latin typeface="Calibri (MS)"/>
                  <a:ea typeface="Calibri (MS)"/>
                  <a:cs typeface="Calibri (MS)"/>
                  <a:sym typeface="Calibri (MS)"/>
                </a:rPr>
                <a:t>As a soft penalty, it discourages non-physical “self-healing” (dSOH/dt &gt; 0) while still tolerating genuine regeneration transients in the data.</a:t>
              </a:r>
            </a:p>
          </p:txBody>
        </p:sp>
      </p:grpSp>
      <p:grpSp>
        <p:nvGrpSpPr>
          <p:cNvPr name="Group 43" id="43"/>
          <p:cNvGrpSpPr/>
          <p:nvPr/>
        </p:nvGrpSpPr>
        <p:grpSpPr>
          <a:xfrm rot="0">
            <a:off x="822960" y="9683496"/>
            <a:ext cx="8229600" cy="411480"/>
            <a:chOff x="0" y="0"/>
            <a:chExt cx="10972800" cy="548640"/>
          </a:xfrm>
        </p:grpSpPr>
        <p:sp>
          <p:nvSpPr>
            <p:cNvPr name="Freeform 44" id="44"/>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5" id="45"/>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6E7A83"/>
                  </a:solidFill>
                  <a:latin typeface="Calibri (MS)"/>
                  <a:ea typeface="Calibri (MS)"/>
                  <a:cs typeface="Calibri (MS)"/>
                  <a:sym typeface="Calibri (MS)"/>
                </a:rPr>
                <a:t>Rajat Sharma · CH24M559 · IIT Madras</a:t>
              </a:r>
            </a:p>
          </p:txBody>
        </p:sp>
      </p:grpSp>
      <p:grpSp>
        <p:nvGrpSpPr>
          <p:cNvPr name="Group 46" id="46"/>
          <p:cNvGrpSpPr/>
          <p:nvPr/>
        </p:nvGrpSpPr>
        <p:grpSpPr>
          <a:xfrm rot="0">
            <a:off x="16637508" y="9683496"/>
            <a:ext cx="822960" cy="411480"/>
            <a:chOff x="0" y="0"/>
            <a:chExt cx="1097280" cy="548640"/>
          </a:xfrm>
        </p:grpSpPr>
        <p:sp>
          <p:nvSpPr>
            <p:cNvPr name="Freeform 47" id="47"/>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3">
                <a:alphaModFix amt="0"/>
              </a:blip>
              <a:stretch>
                <a:fillRect l="-14151" t="0" r="-14151" b="0"/>
              </a:stretch>
            </a:blipFill>
          </p:spPr>
        </p:sp>
        <p:sp>
          <p:nvSpPr>
            <p:cNvPr name="TextBox 48" id="48"/>
            <p:cNvSpPr txBox="true"/>
            <p:nvPr/>
          </p:nvSpPr>
          <p:spPr>
            <a:xfrm>
              <a:off x="0" y="-38100"/>
              <a:ext cx="1097280" cy="586740"/>
            </a:xfrm>
            <a:prstGeom prst="rect">
              <a:avLst/>
            </a:prstGeom>
          </p:spPr>
          <p:txBody>
            <a:bodyPr anchor="ctr" rtlCol="false" tIns="0" lIns="0" bIns="0" rIns="0"/>
            <a:lstStyle/>
            <a:p>
              <a:pPr algn="r">
                <a:lnSpc>
                  <a:spcPts val="1709"/>
                </a:lnSpc>
              </a:pPr>
              <a:r>
                <a:rPr lang="en-US" sz="1425">
                  <a:solidFill>
                    <a:srgbClr val="6E7A83"/>
                  </a:solidFill>
                  <a:latin typeface="Calibri (MS)"/>
                  <a:ea typeface="Calibri (MS)"/>
                  <a:cs typeface="Calibri (MS)"/>
                  <a:sym typeface="Calibri (MS)"/>
                </a:rPr>
                <a:t>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BF0F1"/>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16637508" cy="391408"/>
            <a:chOff x="0" y="0"/>
            <a:chExt cx="22183344" cy="521878"/>
          </a:xfrm>
        </p:grpSpPr>
        <p:sp>
          <p:nvSpPr>
            <p:cNvPr name="Freeform 3" id="3"/>
            <p:cNvSpPr/>
            <p:nvPr/>
          </p:nvSpPr>
          <p:spPr>
            <a:xfrm flipH="false" flipV="false" rot="0">
              <a:off x="0" y="0"/>
              <a:ext cx="22183344" cy="521878"/>
            </a:xfrm>
            <a:custGeom>
              <a:avLst/>
              <a:gdLst/>
              <a:ahLst/>
              <a:cxnLst/>
              <a:rect r="r" b="b" t="t" l="l"/>
              <a:pathLst>
                <a:path h="521878" w="22183344">
                  <a:moveTo>
                    <a:pt x="0" y="0"/>
                  </a:moveTo>
                  <a:lnTo>
                    <a:pt x="22183344" y="0"/>
                  </a:lnTo>
                  <a:lnTo>
                    <a:pt x="22183344" y="521878"/>
                  </a:lnTo>
                  <a:lnTo>
                    <a:pt x="0" y="521878"/>
                  </a:lnTo>
                  <a:close/>
                </a:path>
              </a:pathLst>
            </a:custGeom>
            <a:blipFill>
              <a:blip r:embed="rId3">
                <a:alphaModFix amt="0"/>
              </a:blip>
              <a:stretch>
                <a:fillRect l="0" t="-782690" r="0" b="-773801"/>
              </a:stretch>
            </a:blipFill>
          </p:spPr>
        </p:sp>
        <p:sp>
          <p:nvSpPr>
            <p:cNvPr name="TextBox 4" id="4"/>
            <p:cNvSpPr txBox="true"/>
            <p:nvPr/>
          </p:nvSpPr>
          <p:spPr>
            <a:xfrm>
              <a:off x="0" y="-47625"/>
              <a:ext cx="22183344" cy="569503"/>
            </a:xfrm>
            <a:prstGeom prst="rect">
              <a:avLst/>
            </a:prstGeom>
          </p:spPr>
          <p:txBody>
            <a:bodyPr anchor="ctr" rtlCol="false" tIns="0" lIns="0" bIns="0" rIns="0"/>
            <a:lstStyle/>
            <a:p>
              <a:pPr algn="l">
                <a:lnSpc>
                  <a:spcPts val="2339"/>
                </a:lnSpc>
              </a:pPr>
              <a:r>
                <a:rPr lang="en-US" b="true" sz="1949" spc="425">
                  <a:solidFill>
                    <a:srgbClr val="1A5B6E"/>
                  </a:solidFill>
                  <a:latin typeface="Calibri (MS) Bold"/>
                  <a:ea typeface="Calibri (MS) Bold"/>
                  <a:cs typeface="Calibri (MS) Bold"/>
                  <a:sym typeface="Calibri (MS) Bold"/>
                </a:rPr>
                <a:t>SOLUTION STRATEGY</a:t>
              </a:r>
            </a:p>
          </p:txBody>
        </p:sp>
      </p:grpSp>
      <p:grpSp>
        <p:nvGrpSpPr>
          <p:cNvPr name="Group 5" id="5"/>
          <p:cNvGrpSpPr/>
          <p:nvPr/>
        </p:nvGrpSpPr>
        <p:grpSpPr>
          <a:xfrm rot="0">
            <a:off x="822960" y="960120"/>
            <a:ext cx="16637508" cy="850392"/>
            <a:chOff x="0" y="0"/>
            <a:chExt cx="22183344" cy="1133856"/>
          </a:xfrm>
        </p:grpSpPr>
        <p:sp>
          <p:nvSpPr>
            <p:cNvPr name="Freeform 6" id="6"/>
            <p:cNvSpPr/>
            <p:nvPr/>
          </p:nvSpPr>
          <p:spPr>
            <a:xfrm flipH="false" flipV="false" rot="0">
              <a:off x="0" y="0"/>
              <a:ext cx="22183344" cy="1133856"/>
            </a:xfrm>
            <a:custGeom>
              <a:avLst/>
              <a:gdLst/>
              <a:ahLst/>
              <a:cxnLst/>
              <a:rect r="r" b="b" t="t" l="l"/>
              <a:pathLst>
                <a:path h="1133856" w="22183344">
                  <a:moveTo>
                    <a:pt x="0" y="0"/>
                  </a:moveTo>
                  <a:lnTo>
                    <a:pt x="22183344" y="0"/>
                  </a:lnTo>
                  <a:lnTo>
                    <a:pt x="22183344" y="1133856"/>
                  </a:lnTo>
                  <a:lnTo>
                    <a:pt x="0" y="1133856"/>
                  </a:lnTo>
                  <a:close/>
                </a:path>
              </a:pathLst>
            </a:custGeom>
            <a:blipFill>
              <a:blip r:embed="rId3">
                <a:alphaModFix amt="0"/>
              </a:blip>
              <a:stretch>
                <a:fillRect l="0" t="-331215" r="0" b="-331215"/>
              </a:stretch>
            </a:blipFill>
          </p:spPr>
        </p:sp>
        <p:sp>
          <p:nvSpPr>
            <p:cNvPr name="TextBox 7" id="7"/>
            <p:cNvSpPr txBox="true"/>
            <p:nvPr/>
          </p:nvSpPr>
          <p:spPr>
            <a:xfrm>
              <a:off x="0" y="-9525"/>
              <a:ext cx="22183344" cy="1143381"/>
            </a:xfrm>
            <a:prstGeom prst="rect">
              <a:avLst/>
            </a:prstGeom>
          </p:spPr>
          <p:txBody>
            <a:bodyPr anchor="ctr" rtlCol="false" tIns="0" lIns="0" bIns="0" rIns="0"/>
            <a:lstStyle/>
            <a:p>
              <a:pPr algn="l">
                <a:lnSpc>
                  <a:spcPts val="5220"/>
                </a:lnSpc>
              </a:pPr>
              <a:r>
                <a:rPr lang="en-US" sz="4350" b="true">
                  <a:solidFill>
                    <a:srgbClr val="1B2A33"/>
                  </a:solidFill>
                  <a:latin typeface="Cambria Bold"/>
                  <a:ea typeface="Cambria Bold"/>
                  <a:cs typeface="Cambria Bold"/>
                  <a:sym typeface="Cambria Bold"/>
                </a:rPr>
                <a:t>The Hybrid Physics-Informed Framework</a:t>
              </a:r>
            </a:p>
          </p:txBody>
        </p:sp>
      </p:grpSp>
      <p:grpSp>
        <p:nvGrpSpPr>
          <p:cNvPr name="Group 8" id="8"/>
          <p:cNvGrpSpPr/>
          <p:nvPr/>
        </p:nvGrpSpPr>
        <p:grpSpPr>
          <a:xfrm rot="0">
            <a:off x="813435" y="2185035"/>
            <a:ext cx="6808470" cy="6945630"/>
            <a:chOff x="0" y="0"/>
            <a:chExt cx="9077960" cy="9260840"/>
          </a:xfrm>
        </p:grpSpPr>
        <p:sp>
          <p:nvSpPr>
            <p:cNvPr name="Freeform 9" id="9"/>
            <p:cNvSpPr/>
            <p:nvPr/>
          </p:nvSpPr>
          <p:spPr>
            <a:xfrm flipH="false" flipV="false" rot="0">
              <a:off x="0" y="0"/>
              <a:ext cx="9077960" cy="9260840"/>
            </a:xfrm>
            <a:custGeom>
              <a:avLst/>
              <a:gdLst/>
              <a:ahLst/>
              <a:cxnLst/>
              <a:rect r="r" b="b" t="t" l="l"/>
              <a:pathLst>
                <a:path h="9260840" w="9077960">
                  <a:moveTo>
                    <a:pt x="0" y="128397"/>
                  </a:moveTo>
                  <a:cubicBezTo>
                    <a:pt x="0" y="57531"/>
                    <a:pt x="57531" y="0"/>
                    <a:pt x="128397" y="0"/>
                  </a:cubicBezTo>
                  <a:lnTo>
                    <a:pt x="8949563" y="0"/>
                  </a:lnTo>
                  <a:cubicBezTo>
                    <a:pt x="9020429" y="0"/>
                    <a:pt x="9077960" y="57531"/>
                    <a:pt x="9077960" y="128397"/>
                  </a:cubicBezTo>
                  <a:lnTo>
                    <a:pt x="9077960" y="9132443"/>
                  </a:lnTo>
                  <a:cubicBezTo>
                    <a:pt x="9077960" y="9203310"/>
                    <a:pt x="9020429" y="9260840"/>
                    <a:pt x="8949563" y="9260840"/>
                  </a:cubicBezTo>
                  <a:lnTo>
                    <a:pt x="128397" y="9260840"/>
                  </a:lnTo>
                  <a:cubicBezTo>
                    <a:pt x="57531" y="9260840"/>
                    <a:pt x="0" y="9203309"/>
                    <a:pt x="0" y="9132443"/>
                  </a:cubicBezTo>
                  <a:close/>
                </a:path>
              </a:pathLst>
            </a:custGeom>
            <a:solidFill>
              <a:srgbClr val="FFFFFF"/>
            </a:solidFill>
            <a:ln w="19050" cap="sq">
              <a:solidFill>
                <a:srgbClr val="CFDBDC"/>
              </a:solidFill>
              <a:prstDash val="solid"/>
              <a:miter/>
            </a:ln>
          </p:spPr>
        </p:sp>
      </p:grpSp>
      <p:grpSp>
        <p:nvGrpSpPr>
          <p:cNvPr name="Group 10" id="10"/>
          <p:cNvGrpSpPr/>
          <p:nvPr/>
        </p:nvGrpSpPr>
        <p:grpSpPr>
          <a:xfrm rot="0">
            <a:off x="1207008" y="2496312"/>
            <a:ext cx="6035040" cy="411480"/>
            <a:chOff x="0" y="0"/>
            <a:chExt cx="8046720" cy="548640"/>
          </a:xfrm>
        </p:grpSpPr>
        <p:sp>
          <p:nvSpPr>
            <p:cNvPr name="Freeform 11" id="11"/>
            <p:cNvSpPr/>
            <p:nvPr/>
          </p:nvSpPr>
          <p:spPr>
            <a:xfrm flipH="false" flipV="false" rot="0">
              <a:off x="0" y="0"/>
              <a:ext cx="8046720" cy="548640"/>
            </a:xfrm>
            <a:custGeom>
              <a:avLst/>
              <a:gdLst/>
              <a:ahLst/>
              <a:cxnLst/>
              <a:rect r="r" b="b" t="t" l="l"/>
              <a:pathLst>
                <a:path h="548640" w="8046720">
                  <a:moveTo>
                    <a:pt x="0" y="0"/>
                  </a:moveTo>
                  <a:lnTo>
                    <a:pt x="8046720" y="0"/>
                  </a:lnTo>
                  <a:lnTo>
                    <a:pt x="8046720" y="548640"/>
                  </a:lnTo>
                  <a:lnTo>
                    <a:pt x="0" y="548640"/>
                  </a:lnTo>
                  <a:close/>
                </a:path>
              </a:pathLst>
            </a:custGeom>
            <a:blipFill>
              <a:blip r:embed="rId3">
                <a:alphaModFix amt="0"/>
              </a:blip>
              <a:stretch>
                <a:fillRect l="0" t="-235780" r="0" b="-235780"/>
              </a:stretch>
            </a:blipFill>
          </p:spPr>
        </p:sp>
        <p:sp>
          <p:nvSpPr>
            <p:cNvPr name="TextBox 12" id="12"/>
            <p:cNvSpPr txBox="true"/>
            <p:nvPr/>
          </p:nvSpPr>
          <p:spPr>
            <a:xfrm>
              <a:off x="0" y="-47625"/>
              <a:ext cx="8046720" cy="596265"/>
            </a:xfrm>
            <a:prstGeom prst="rect">
              <a:avLst/>
            </a:prstGeom>
          </p:spPr>
          <p:txBody>
            <a:bodyPr anchor="ctr" rtlCol="false" tIns="0" lIns="0" bIns="0" rIns="0"/>
            <a:lstStyle/>
            <a:p>
              <a:pPr algn="l">
                <a:lnSpc>
                  <a:spcPts val="2340"/>
                </a:lnSpc>
              </a:pPr>
              <a:r>
                <a:rPr lang="en-US" sz="1950" b="true">
                  <a:solidFill>
                    <a:srgbClr val="1A5B6E"/>
                  </a:solidFill>
                  <a:latin typeface="Calibri (MS) Bold"/>
                  <a:ea typeface="Calibri (MS) Bold"/>
                  <a:cs typeface="Calibri (MS) Bold"/>
                  <a:sym typeface="Calibri (MS) Bold"/>
                </a:rPr>
                <a:t>Pipeline</a:t>
              </a:r>
            </a:p>
          </p:txBody>
        </p:sp>
      </p:grpSp>
      <p:grpSp>
        <p:nvGrpSpPr>
          <p:cNvPr name="Group 13" id="13"/>
          <p:cNvGrpSpPr/>
          <p:nvPr/>
        </p:nvGrpSpPr>
        <p:grpSpPr>
          <a:xfrm rot="0">
            <a:off x="1207008" y="2921508"/>
            <a:ext cx="6035040" cy="1069848"/>
            <a:chOff x="0" y="0"/>
            <a:chExt cx="8046720" cy="1426464"/>
          </a:xfrm>
        </p:grpSpPr>
        <p:sp>
          <p:nvSpPr>
            <p:cNvPr name="Freeform 14" id="14"/>
            <p:cNvSpPr/>
            <p:nvPr/>
          </p:nvSpPr>
          <p:spPr>
            <a:xfrm flipH="false" flipV="false" rot="0">
              <a:off x="0" y="0"/>
              <a:ext cx="8046720" cy="1426464"/>
            </a:xfrm>
            <a:custGeom>
              <a:avLst/>
              <a:gdLst/>
              <a:ahLst/>
              <a:cxnLst/>
              <a:rect r="r" b="b" t="t" l="l"/>
              <a:pathLst>
                <a:path h="1426464" w="8046720">
                  <a:moveTo>
                    <a:pt x="0" y="0"/>
                  </a:moveTo>
                  <a:lnTo>
                    <a:pt x="8046720" y="0"/>
                  </a:lnTo>
                  <a:lnTo>
                    <a:pt x="8046720" y="1426464"/>
                  </a:lnTo>
                  <a:lnTo>
                    <a:pt x="0" y="1426464"/>
                  </a:lnTo>
                  <a:close/>
                </a:path>
              </a:pathLst>
            </a:custGeom>
            <a:blipFill>
              <a:blip r:embed="rId3">
                <a:alphaModFix amt="0"/>
              </a:blip>
              <a:stretch>
                <a:fillRect l="0" t="-59915" r="0" b="-59915"/>
              </a:stretch>
            </a:blipFill>
          </p:spPr>
        </p:sp>
        <p:sp>
          <p:nvSpPr>
            <p:cNvPr name="TextBox 15" id="15"/>
            <p:cNvSpPr txBox="true"/>
            <p:nvPr/>
          </p:nvSpPr>
          <p:spPr>
            <a:xfrm>
              <a:off x="0" y="-47625"/>
              <a:ext cx="8046720" cy="1474089"/>
            </a:xfrm>
            <a:prstGeom prst="rect">
              <a:avLst/>
            </a:prstGeom>
          </p:spPr>
          <p:txBody>
            <a:bodyPr anchor="ctr" rtlCol="false" tIns="0" lIns="0" bIns="0" rIns="0"/>
            <a:lstStyle/>
            <a:p>
              <a:pPr algn="l">
                <a:lnSpc>
                  <a:spcPts val="2277"/>
                </a:lnSpc>
              </a:pPr>
              <a:r>
                <a:rPr lang="en-US" sz="1824">
                  <a:solidFill>
                    <a:srgbClr val="39454E"/>
                  </a:solidFill>
                  <a:latin typeface="Calibri (MS)"/>
                  <a:ea typeface="Calibri (MS)"/>
                  <a:cs typeface="Calibri (MS)"/>
                  <a:sym typeface="Calibri (MS)"/>
                </a:rPr>
                <a:t>Raw V / I / T → ICA &amp; DVA features (Savitzky–Golay smoothing before dQ/dV) → GRU → physics residual → composite loss.</a:t>
              </a:r>
            </a:p>
          </p:txBody>
        </p:sp>
      </p:grpSp>
      <p:grpSp>
        <p:nvGrpSpPr>
          <p:cNvPr name="Group 16" id="16"/>
          <p:cNvGrpSpPr/>
          <p:nvPr/>
        </p:nvGrpSpPr>
        <p:grpSpPr>
          <a:xfrm rot="0">
            <a:off x="1207008" y="4114800"/>
            <a:ext cx="6035040" cy="411480"/>
            <a:chOff x="0" y="0"/>
            <a:chExt cx="8046720" cy="548640"/>
          </a:xfrm>
        </p:grpSpPr>
        <p:sp>
          <p:nvSpPr>
            <p:cNvPr name="Freeform 17" id="17"/>
            <p:cNvSpPr/>
            <p:nvPr/>
          </p:nvSpPr>
          <p:spPr>
            <a:xfrm flipH="false" flipV="false" rot="0">
              <a:off x="0" y="0"/>
              <a:ext cx="8046720" cy="548640"/>
            </a:xfrm>
            <a:custGeom>
              <a:avLst/>
              <a:gdLst/>
              <a:ahLst/>
              <a:cxnLst/>
              <a:rect r="r" b="b" t="t" l="l"/>
              <a:pathLst>
                <a:path h="548640" w="8046720">
                  <a:moveTo>
                    <a:pt x="0" y="0"/>
                  </a:moveTo>
                  <a:lnTo>
                    <a:pt x="8046720" y="0"/>
                  </a:lnTo>
                  <a:lnTo>
                    <a:pt x="8046720" y="548640"/>
                  </a:lnTo>
                  <a:lnTo>
                    <a:pt x="0" y="548640"/>
                  </a:lnTo>
                  <a:close/>
                </a:path>
              </a:pathLst>
            </a:custGeom>
            <a:blipFill>
              <a:blip r:embed="rId3">
                <a:alphaModFix amt="0"/>
              </a:blip>
              <a:stretch>
                <a:fillRect l="0" t="-235780" r="0" b="-235780"/>
              </a:stretch>
            </a:blipFill>
          </p:spPr>
        </p:sp>
        <p:sp>
          <p:nvSpPr>
            <p:cNvPr name="TextBox 18" id="18"/>
            <p:cNvSpPr txBox="true"/>
            <p:nvPr/>
          </p:nvSpPr>
          <p:spPr>
            <a:xfrm>
              <a:off x="0" y="-47625"/>
              <a:ext cx="8046720" cy="596265"/>
            </a:xfrm>
            <a:prstGeom prst="rect">
              <a:avLst/>
            </a:prstGeom>
          </p:spPr>
          <p:txBody>
            <a:bodyPr anchor="ctr" rtlCol="false" tIns="0" lIns="0" bIns="0" rIns="0"/>
            <a:lstStyle/>
            <a:p>
              <a:pPr algn="l">
                <a:lnSpc>
                  <a:spcPts val="2340"/>
                </a:lnSpc>
              </a:pPr>
              <a:r>
                <a:rPr lang="en-US" sz="1950" b="true">
                  <a:solidFill>
                    <a:srgbClr val="1A5B6E"/>
                  </a:solidFill>
                  <a:latin typeface="Calibri (MS) Bold"/>
                  <a:ea typeface="Calibri (MS) Bold"/>
                  <a:cs typeface="Calibri (MS) Bold"/>
                  <a:sym typeface="Calibri (MS) Bold"/>
                </a:rPr>
                <a:t>Why a GRU backbone</a:t>
              </a:r>
            </a:p>
          </p:txBody>
        </p:sp>
      </p:grpSp>
      <p:grpSp>
        <p:nvGrpSpPr>
          <p:cNvPr name="Group 19" id="19"/>
          <p:cNvGrpSpPr/>
          <p:nvPr/>
        </p:nvGrpSpPr>
        <p:grpSpPr>
          <a:xfrm rot="0">
            <a:off x="1207008" y="4539996"/>
            <a:ext cx="6035040" cy="1069848"/>
            <a:chOff x="0" y="0"/>
            <a:chExt cx="8046720" cy="1426464"/>
          </a:xfrm>
        </p:grpSpPr>
        <p:sp>
          <p:nvSpPr>
            <p:cNvPr name="Freeform 20" id="20"/>
            <p:cNvSpPr/>
            <p:nvPr/>
          </p:nvSpPr>
          <p:spPr>
            <a:xfrm flipH="false" flipV="false" rot="0">
              <a:off x="0" y="0"/>
              <a:ext cx="8046720" cy="1426464"/>
            </a:xfrm>
            <a:custGeom>
              <a:avLst/>
              <a:gdLst/>
              <a:ahLst/>
              <a:cxnLst/>
              <a:rect r="r" b="b" t="t" l="l"/>
              <a:pathLst>
                <a:path h="1426464" w="8046720">
                  <a:moveTo>
                    <a:pt x="0" y="0"/>
                  </a:moveTo>
                  <a:lnTo>
                    <a:pt x="8046720" y="0"/>
                  </a:lnTo>
                  <a:lnTo>
                    <a:pt x="8046720" y="1426464"/>
                  </a:lnTo>
                  <a:lnTo>
                    <a:pt x="0" y="1426464"/>
                  </a:lnTo>
                  <a:close/>
                </a:path>
              </a:pathLst>
            </a:custGeom>
            <a:blipFill>
              <a:blip r:embed="rId3">
                <a:alphaModFix amt="0"/>
              </a:blip>
              <a:stretch>
                <a:fillRect l="0" t="-59915" r="0" b="-59915"/>
              </a:stretch>
            </a:blipFill>
          </p:spPr>
        </p:sp>
        <p:sp>
          <p:nvSpPr>
            <p:cNvPr name="TextBox 21" id="21"/>
            <p:cNvSpPr txBox="true"/>
            <p:nvPr/>
          </p:nvSpPr>
          <p:spPr>
            <a:xfrm>
              <a:off x="0" y="-47625"/>
              <a:ext cx="8046720" cy="1474089"/>
            </a:xfrm>
            <a:prstGeom prst="rect">
              <a:avLst/>
            </a:prstGeom>
          </p:spPr>
          <p:txBody>
            <a:bodyPr anchor="ctr" rtlCol="false" tIns="0" lIns="0" bIns="0" rIns="0"/>
            <a:lstStyle/>
            <a:p>
              <a:pPr algn="l">
                <a:lnSpc>
                  <a:spcPts val="2277"/>
                </a:lnSpc>
              </a:pPr>
              <a:r>
                <a:rPr lang="en-US" sz="1824">
                  <a:solidFill>
                    <a:srgbClr val="39454E"/>
                  </a:solidFill>
                  <a:latin typeface="Calibri (MS)"/>
                  <a:ea typeface="Calibri (MS)"/>
                  <a:cs typeface="Calibri (MS)"/>
                  <a:sym typeface="Calibri (MS)"/>
                </a:rPr>
                <a:t>Two gates vs. the LSTM's three means fewer parameters; O(L) memory vs. a Transformer's O(L²) attention keeps it edge-friendly.</a:t>
              </a:r>
            </a:p>
          </p:txBody>
        </p:sp>
      </p:grpSp>
      <p:grpSp>
        <p:nvGrpSpPr>
          <p:cNvPr name="Group 22" id="22"/>
          <p:cNvGrpSpPr/>
          <p:nvPr/>
        </p:nvGrpSpPr>
        <p:grpSpPr>
          <a:xfrm rot="0">
            <a:off x="1207008" y="5733288"/>
            <a:ext cx="6035040" cy="411480"/>
            <a:chOff x="0" y="0"/>
            <a:chExt cx="8046720" cy="548640"/>
          </a:xfrm>
        </p:grpSpPr>
        <p:sp>
          <p:nvSpPr>
            <p:cNvPr name="Freeform 23" id="23"/>
            <p:cNvSpPr/>
            <p:nvPr/>
          </p:nvSpPr>
          <p:spPr>
            <a:xfrm flipH="false" flipV="false" rot="0">
              <a:off x="0" y="0"/>
              <a:ext cx="8046720" cy="548640"/>
            </a:xfrm>
            <a:custGeom>
              <a:avLst/>
              <a:gdLst/>
              <a:ahLst/>
              <a:cxnLst/>
              <a:rect r="r" b="b" t="t" l="l"/>
              <a:pathLst>
                <a:path h="548640" w="8046720">
                  <a:moveTo>
                    <a:pt x="0" y="0"/>
                  </a:moveTo>
                  <a:lnTo>
                    <a:pt x="8046720" y="0"/>
                  </a:lnTo>
                  <a:lnTo>
                    <a:pt x="8046720" y="548640"/>
                  </a:lnTo>
                  <a:lnTo>
                    <a:pt x="0" y="548640"/>
                  </a:lnTo>
                  <a:close/>
                </a:path>
              </a:pathLst>
            </a:custGeom>
            <a:blipFill>
              <a:blip r:embed="rId3">
                <a:alphaModFix amt="0"/>
              </a:blip>
              <a:stretch>
                <a:fillRect l="0" t="-235780" r="0" b="-235780"/>
              </a:stretch>
            </a:blipFill>
          </p:spPr>
        </p:sp>
        <p:sp>
          <p:nvSpPr>
            <p:cNvPr name="TextBox 24" id="24"/>
            <p:cNvSpPr txBox="true"/>
            <p:nvPr/>
          </p:nvSpPr>
          <p:spPr>
            <a:xfrm>
              <a:off x="0" y="-47625"/>
              <a:ext cx="8046720" cy="596265"/>
            </a:xfrm>
            <a:prstGeom prst="rect">
              <a:avLst/>
            </a:prstGeom>
          </p:spPr>
          <p:txBody>
            <a:bodyPr anchor="ctr" rtlCol="false" tIns="0" lIns="0" bIns="0" rIns="0"/>
            <a:lstStyle/>
            <a:p>
              <a:pPr algn="l">
                <a:lnSpc>
                  <a:spcPts val="2340"/>
                </a:lnSpc>
              </a:pPr>
              <a:r>
                <a:rPr lang="en-US" sz="1950" b="true">
                  <a:solidFill>
                    <a:srgbClr val="1A5B6E"/>
                  </a:solidFill>
                  <a:latin typeface="Calibri (MS) Bold"/>
                  <a:ea typeface="Calibri (MS) Bold"/>
                  <a:cs typeface="Calibri (MS) Bold"/>
                  <a:sym typeface="Calibri (MS) Bold"/>
                </a:rPr>
                <a:t>Tuned by Optuna (Bayesian TPE)</a:t>
              </a:r>
            </a:p>
          </p:txBody>
        </p:sp>
      </p:grpSp>
      <p:grpSp>
        <p:nvGrpSpPr>
          <p:cNvPr name="Group 25" id="25"/>
          <p:cNvGrpSpPr/>
          <p:nvPr/>
        </p:nvGrpSpPr>
        <p:grpSpPr>
          <a:xfrm rot="0">
            <a:off x="1207008" y="6158484"/>
            <a:ext cx="6035040" cy="1069848"/>
            <a:chOff x="0" y="0"/>
            <a:chExt cx="8046720" cy="1426464"/>
          </a:xfrm>
        </p:grpSpPr>
        <p:sp>
          <p:nvSpPr>
            <p:cNvPr name="Freeform 26" id="26"/>
            <p:cNvSpPr/>
            <p:nvPr/>
          </p:nvSpPr>
          <p:spPr>
            <a:xfrm flipH="false" flipV="false" rot="0">
              <a:off x="0" y="0"/>
              <a:ext cx="8046720" cy="1426464"/>
            </a:xfrm>
            <a:custGeom>
              <a:avLst/>
              <a:gdLst/>
              <a:ahLst/>
              <a:cxnLst/>
              <a:rect r="r" b="b" t="t" l="l"/>
              <a:pathLst>
                <a:path h="1426464" w="8046720">
                  <a:moveTo>
                    <a:pt x="0" y="0"/>
                  </a:moveTo>
                  <a:lnTo>
                    <a:pt x="8046720" y="0"/>
                  </a:lnTo>
                  <a:lnTo>
                    <a:pt x="8046720" y="1426464"/>
                  </a:lnTo>
                  <a:lnTo>
                    <a:pt x="0" y="1426464"/>
                  </a:lnTo>
                  <a:close/>
                </a:path>
              </a:pathLst>
            </a:custGeom>
            <a:blipFill>
              <a:blip r:embed="rId3">
                <a:alphaModFix amt="0"/>
              </a:blip>
              <a:stretch>
                <a:fillRect l="0" t="-59915" r="0" b="-59915"/>
              </a:stretch>
            </a:blipFill>
          </p:spPr>
        </p:sp>
        <p:sp>
          <p:nvSpPr>
            <p:cNvPr name="TextBox 27" id="27"/>
            <p:cNvSpPr txBox="true"/>
            <p:nvPr/>
          </p:nvSpPr>
          <p:spPr>
            <a:xfrm>
              <a:off x="0" y="-47625"/>
              <a:ext cx="8046720" cy="1474089"/>
            </a:xfrm>
            <a:prstGeom prst="rect">
              <a:avLst/>
            </a:prstGeom>
          </p:spPr>
          <p:txBody>
            <a:bodyPr anchor="ctr" rtlCol="false" tIns="0" lIns="0" bIns="0" rIns="0"/>
            <a:lstStyle/>
            <a:p>
              <a:pPr algn="l">
                <a:lnSpc>
                  <a:spcPts val="2277"/>
                </a:lnSpc>
              </a:pPr>
              <a:r>
                <a:rPr lang="en-US" sz="1824">
                  <a:solidFill>
                    <a:srgbClr val="39454E"/>
                  </a:solidFill>
                  <a:latin typeface="Calibri (MS)"/>
                  <a:ea typeface="Calibri (MS)"/>
                  <a:cs typeface="Calibri (MS)"/>
                  <a:sym typeface="Calibri (MS)"/>
                </a:rPr>
                <a:t>Hidden size 32–64, input window 8–15 cycles, learning rate and physics weight.</a:t>
              </a:r>
            </a:p>
          </p:txBody>
        </p:sp>
      </p:grpSp>
      <p:grpSp>
        <p:nvGrpSpPr>
          <p:cNvPr name="Group 28" id="28"/>
          <p:cNvGrpSpPr/>
          <p:nvPr/>
        </p:nvGrpSpPr>
        <p:grpSpPr>
          <a:xfrm rot="0">
            <a:off x="1207008" y="7351776"/>
            <a:ext cx="6035040" cy="411480"/>
            <a:chOff x="0" y="0"/>
            <a:chExt cx="8046720" cy="548640"/>
          </a:xfrm>
        </p:grpSpPr>
        <p:sp>
          <p:nvSpPr>
            <p:cNvPr name="Freeform 29" id="29"/>
            <p:cNvSpPr/>
            <p:nvPr/>
          </p:nvSpPr>
          <p:spPr>
            <a:xfrm flipH="false" flipV="false" rot="0">
              <a:off x="0" y="0"/>
              <a:ext cx="8046720" cy="548640"/>
            </a:xfrm>
            <a:custGeom>
              <a:avLst/>
              <a:gdLst/>
              <a:ahLst/>
              <a:cxnLst/>
              <a:rect r="r" b="b" t="t" l="l"/>
              <a:pathLst>
                <a:path h="548640" w="8046720">
                  <a:moveTo>
                    <a:pt x="0" y="0"/>
                  </a:moveTo>
                  <a:lnTo>
                    <a:pt x="8046720" y="0"/>
                  </a:lnTo>
                  <a:lnTo>
                    <a:pt x="8046720" y="548640"/>
                  </a:lnTo>
                  <a:lnTo>
                    <a:pt x="0" y="548640"/>
                  </a:lnTo>
                  <a:close/>
                </a:path>
              </a:pathLst>
            </a:custGeom>
            <a:blipFill>
              <a:blip r:embed="rId3">
                <a:alphaModFix amt="0"/>
              </a:blip>
              <a:stretch>
                <a:fillRect l="0" t="-235780" r="0" b="-235780"/>
              </a:stretch>
            </a:blipFill>
          </p:spPr>
        </p:sp>
        <p:sp>
          <p:nvSpPr>
            <p:cNvPr name="TextBox 30" id="30"/>
            <p:cNvSpPr txBox="true"/>
            <p:nvPr/>
          </p:nvSpPr>
          <p:spPr>
            <a:xfrm>
              <a:off x="0" y="-47625"/>
              <a:ext cx="8046720" cy="596265"/>
            </a:xfrm>
            <a:prstGeom prst="rect">
              <a:avLst/>
            </a:prstGeom>
          </p:spPr>
          <p:txBody>
            <a:bodyPr anchor="ctr" rtlCol="false" tIns="0" lIns="0" bIns="0" rIns="0"/>
            <a:lstStyle/>
            <a:p>
              <a:pPr algn="l">
                <a:lnSpc>
                  <a:spcPts val="2340"/>
                </a:lnSpc>
              </a:pPr>
              <a:r>
                <a:rPr lang="en-US" sz="1950" b="true">
                  <a:solidFill>
                    <a:srgbClr val="1A5B6E"/>
                  </a:solidFill>
                  <a:latin typeface="Calibri (MS) Bold"/>
                  <a:ea typeface="Calibri (MS) Bold"/>
                  <a:cs typeface="Calibri (MS) Bold"/>
                  <a:sym typeface="Calibri (MS) Bold"/>
                </a:rPr>
                <a:t>Model sizes</a:t>
              </a:r>
            </a:p>
          </p:txBody>
        </p:sp>
      </p:grpSp>
      <p:grpSp>
        <p:nvGrpSpPr>
          <p:cNvPr name="Group 31" id="31"/>
          <p:cNvGrpSpPr/>
          <p:nvPr/>
        </p:nvGrpSpPr>
        <p:grpSpPr>
          <a:xfrm rot="0">
            <a:off x="1207008" y="7776972"/>
            <a:ext cx="6035040" cy="1069848"/>
            <a:chOff x="0" y="0"/>
            <a:chExt cx="8046720" cy="1426464"/>
          </a:xfrm>
        </p:grpSpPr>
        <p:sp>
          <p:nvSpPr>
            <p:cNvPr name="Freeform 32" id="32"/>
            <p:cNvSpPr/>
            <p:nvPr/>
          </p:nvSpPr>
          <p:spPr>
            <a:xfrm flipH="false" flipV="false" rot="0">
              <a:off x="0" y="0"/>
              <a:ext cx="8046720" cy="1426464"/>
            </a:xfrm>
            <a:custGeom>
              <a:avLst/>
              <a:gdLst/>
              <a:ahLst/>
              <a:cxnLst/>
              <a:rect r="r" b="b" t="t" l="l"/>
              <a:pathLst>
                <a:path h="1426464" w="8046720">
                  <a:moveTo>
                    <a:pt x="0" y="0"/>
                  </a:moveTo>
                  <a:lnTo>
                    <a:pt x="8046720" y="0"/>
                  </a:lnTo>
                  <a:lnTo>
                    <a:pt x="8046720" y="1426464"/>
                  </a:lnTo>
                  <a:lnTo>
                    <a:pt x="0" y="1426464"/>
                  </a:lnTo>
                  <a:close/>
                </a:path>
              </a:pathLst>
            </a:custGeom>
            <a:blipFill>
              <a:blip r:embed="rId3">
                <a:alphaModFix amt="0"/>
              </a:blip>
              <a:stretch>
                <a:fillRect l="0" t="-59915" r="0" b="-59915"/>
              </a:stretch>
            </a:blipFill>
          </p:spPr>
        </p:sp>
        <p:sp>
          <p:nvSpPr>
            <p:cNvPr name="TextBox 33" id="33"/>
            <p:cNvSpPr txBox="true"/>
            <p:nvPr/>
          </p:nvSpPr>
          <p:spPr>
            <a:xfrm>
              <a:off x="0" y="-47625"/>
              <a:ext cx="8046720" cy="1474089"/>
            </a:xfrm>
            <a:prstGeom prst="rect">
              <a:avLst/>
            </a:prstGeom>
          </p:spPr>
          <p:txBody>
            <a:bodyPr anchor="ctr" rtlCol="false" tIns="0" lIns="0" bIns="0" rIns="0"/>
            <a:lstStyle/>
            <a:p>
              <a:pPr algn="l">
                <a:lnSpc>
                  <a:spcPts val="2277"/>
                </a:lnSpc>
              </a:pPr>
              <a:r>
                <a:rPr lang="en-US" sz="1824">
                  <a:solidFill>
                    <a:srgbClr val="39454E"/>
                  </a:solidFill>
                  <a:latin typeface="Calibri (MS)"/>
                  <a:ea typeface="Calibri (MS)"/>
                  <a:cs typeface="Calibri (MS)"/>
                  <a:sym typeface="Calibri (MS)"/>
                </a:rPr>
                <a:t>≈ 4k (plain GRU) · 41k (benchmark hybrid) · 11k (deployment variant).</a:t>
              </a:r>
            </a:p>
          </p:txBody>
        </p:sp>
      </p:grpSp>
      <p:grpSp>
        <p:nvGrpSpPr>
          <p:cNvPr name="Group 34" id="34"/>
          <p:cNvGrpSpPr/>
          <p:nvPr/>
        </p:nvGrpSpPr>
        <p:grpSpPr>
          <a:xfrm rot="0">
            <a:off x="7945755" y="2208531"/>
            <a:ext cx="10029850" cy="5869938"/>
            <a:chOff x="0" y="0"/>
            <a:chExt cx="13373134" cy="7826584"/>
          </a:xfrm>
        </p:grpSpPr>
        <p:grpSp>
          <p:nvGrpSpPr>
            <p:cNvPr name="Group 35" id="35"/>
            <p:cNvGrpSpPr/>
            <p:nvPr/>
          </p:nvGrpSpPr>
          <p:grpSpPr>
            <a:xfrm rot="0">
              <a:off x="0" y="0"/>
              <a:ext cx="13373134" cy="7826584"/>
              <a:chOff x="0" y="0"/>
              <a:chExt cx="12698984" cy="7432040"/>
            </a:xfrm>
          </p:grpSpPr>
          <p:sp>
            <p:nvSpPr>
              <p:cNvPr name="Freeform 36" id="36"/>
              <p:cNvSpPr/>
              <p:nvPr/>
            </p:nvSpPr>
            <p:spPr>
              <a:xfrm flipH="false" flipV="false" rot="0">
                <a:off x="0" y="0"/>
                <a:ext cx="12698984" cy="7432040"/>
              </a:xfrm>
              <a:custGeom>
                <a:avLst/>
                <a:gdLst/>
                <a:ahLst/>
                <a:cxnLst/>
                <a:rect r="r" b="b" t="t" l="l"/>
                <a:pathLst>
                  <a:path h="7432040" w="12698984">
                    <a:moveTo>
                      <a:pt x="0" y="128397"/>
                    </a:moveTo>
                    <a:cubicBezTo>
                      <a:pt x="0" y="57531"/>
                      <a:pt x="57531" y="0"/>
                      <a:pt x="128397" y="0"/>
                    </a:cubicBezTo>
                    <a:lnTo>
                      <a:pt x="12570587" y="0"/>
                    </a:lnTo>
                    <a:cubicBezTo>
                      <a:pt x="12641453" y="0"/>
                      <a:pt x="12698984" y="57531"/>
                      <a:pt x="12698984" y="128397"/>
                    </a:cubicBezTo>
                    <a:lnTo>
                      <a:pt x="12698984" y="7303643"/>
                    </a:lnTo>
                    <a:cubicBezTo>
                      <a:pt x="12698984" y="7374510"/>
                      <a:pt x="12641453" y="7432040"/>
                      <a:pt x="12570587" y="7432040"/>
                    </a:cubicBezTo>
                    <a:lnTo>
                      <a:pt x="128397" y="7432040"/>
                    </a:lnTo>
                    <a:cubicBezTo>
                      <a:pt x="57531" y="7432040"/>
                      <a:pt x="0" y="7374509"/>
                      <a:pt x="0" y="7303643"/>
                    </a:cubicBezTo>
                    <a:close/>
                  </a:path>
                </a:pathLst>
              </a:custGeom>
              <a:solidFill>
                <a:srgbClr val="FFFFFF"/>
              </a:solidFill>
              <a:ln w="19050" cap="sq">
                <a:solidFill>
                  <a:srgbClr val="CFDBDC"/>
                </a:solidFill>
                <a:prstDash val="solid"/>
                <a:miter/>
              </a:ln>
            </p:spPr>
          </p:sp>
        </p:grpSp>
        <p:grpSp>
          <p:nvGrpSpPr>
            <p:cNvPr name="Group 37" id="37"/>
            <p:cNvGrpSpPr/>
            <p:nvPr/>
          </p:nvGrpSpPr>
          <p:grpSpPr>
            <a:xfrm rot="0">
              <a:off x="316123" y="437872"/>
              <a:ext cx="12740888" cy="6950841"/>
              <a:chOff x="0" y="0"/>
              <a:chExt cx="12088368" cy="6594856"/>
            </a:xfrm>
          </p:grpSpPr>
          <p:sp>
            <p:nvSpPr>
              <p:cNvPr name="Freeform 38" id="38" descr="/tmp/figs/fig4_1.jpg"/>
              <p:cNvSpPr/>
              <p:nvPr/>
            </p:nvSpPr>
            <p:spPr>
              <a:xfrm flipH="false" flipV="false" rot="0">
                <a:off x="0" y="0"/>
                <a:ext cx="12088368" cy="6594856"/>
              </a:xfrm>
              <a:custGeom>
                <a:avLst/>
                <a:gdLst/>
                <a:ahLst/>
                <a:cxnLst/>
                <a:rect r="r" b="b" t="t" l="l"/>
                <a:pathLst>
                  <a:path h="6594856" w="12088368">
                    <a:moveTo>
                      <a:pt x="0" y="0"/>
                    </a:moveTo>
                    <a:lnTo>
                      <a:pt x="12088368" y="0"/>
                    </a:lnTo>
                    <a:lnTo>
                      <a:pt x="12088368" y="6594856"/>
                    </a:lnTo>
                    <a:lnTo>
                      <a:pt x="0" y="6594856"/>
                    </a:lnTo>
                    <a:lnTo>
                      <a:pt x="0" y="0"/>
                    </a:lnTo>
                    <a:close/>
                  </a:path>
                </a:pathLst>
              </a:custGeom>
              <a:blipFill>
                <a:blip r:embed="rId4"/>
                <a:stretch>
                  <a:fillRect l="-9" t="0" r="-9" b="0"/>
                </a:stretch>
              </a:blipFill>
            </p:spPr>
          </p:sp>
        </p:grpSp>
      </p:grpSp>
      <p:grpSp>
        <p:nvGrpSpPr>
          <p:cNvPr name="Group 39" id="39"/>
          <p:cNvGrpSpPr/>
          <p:nvPr/>
        </p:nvGrpSpPr>
        <p:grpSpPr>
          <a:xfrm rot="0">
            <a:off x="7945755" y="8378380"/>
            <a:ext cx="9505188" cy="685800"/>
            <a:chOff x="0" y="0"/>
            <a:chExt cx="12673584" cy="914400"/>
          </a:xfrm>
        </p:grpSpPr>
        <p:sp>
          <p:nvSpPr>
            <p:cNvPr name="Freeform 40" id="40"/>
            <p:cNvSpPr/>
            <p:nvPr/>
          </p:nvSpPr>
          <p:spPr>
            <a:xfrm flipH="false" flipV="false" rot="0">
              <a:off x="0" y="0"/>
              <a:ext cx="12673584" cy="914400"/>
            </a:xfrm>
            <a:custGeom>
              <a:avLst/>
              <a:gdLst/>
              <a:ahLst/>
              <a:cxnLst/>
              <a:rect r="r" b="b" t="t" l="l"/>
              <a:pathLst>
                <a:path h="914400" w="12673584">
                  <a:moveTo>
                    <a:pt x="0" y="0"/>
                  </a:moveTo>
                  <a:lnTo>
                    <a:pt x="12673584" y="0"/>
                  </a:lnTo>
                  <a:lnTo>
                    <a:pt x="12673584" y="914400"/>
                  </a:lnTo>
                  <a:lnTo>
                    <a:pt x="0" y="914400"/>
                  </a:lnTo>
                  <a:close/>
                </a:path>
              </a:pathLst>
            </a:custGeom>
            <a:blipFill>
              <a:blip r:embed="rId3">
                <a:alphaModFix amt="0"/>
              </a:blip>
              <a:stretch>
                <a:fillRect l="0" t="-220062" r="0" b="-220062"/>
              </a:stretch>
            </a:blipFill>
          </p:spPr>
        </p:sp>
        <p:sp>
          <p:nvSpPr>
            <p:cNvPr name="TextBox 41" id="41"/>
            <p:cNvSpPr txBox="true"/>
            <p:nvPr/>
          </p:nvSpPr>
          <p:spPr>
            <a:xfrm>
              <a:off x="0" y="-47625"/>
              <a:ext cx="12673584" cy="962025"/>
            </a:xfrm>
            <a:prstGeom prst="rect">
              <a:avLst/>
            </a:prstGeom>
          </p:spPr>
          <p:txBody>
            <a:bodyPr anchor="ctr" rtlCol="false" tIns="0" lIns="0" bIns="0" rIns="0"/>
            <a:lstStyle/>
            <a:p>
              <a:pPr algn="ctr">
                <a:lnSpc>
                  <a:spcPts val="2111"/>
                </a:lnSpc>
              </a:pPr>
              <a:r>
                <a:rPr lang="en-US" sz="1724" i="true">
                  <a:solidFill>
                    <a:srgbClr val="6E7A83"/>
                  </a:solidFill>
                  <a:latin typeface="Calibri (MS) Italics"/>
                  <a:ea typeface="Calibri (MS) Italics"/>
                  <a:cs typeface="Calibri (MS) Italics"/>
                  <a:sym typeface="Calibri (MS) Italics"/>
                </a:rPr>
                <a:t>Fig. 4.1 — Framework schematic: smoothed physics-informed features feed the GRU, while a parallel ODE regularizer constrains it through the composite loss.</a:t>
              </a:r>
            </a:p>
          </p:txBody>
        </p:sp>
      </p:grpSp>
      <p:grpSp>
        <p:nvGrpSpPr>
          <p:cNvPr name="Group 42" id="42"/>
          <p:cNvGrpSpPr/>
          <p:nvPr/>
        </p:nvGrpSpPr>
        <p:grpSpPr>
          <a:xfrm rot="0">
            <a:off x="822960" y="9683496"/>
            <a:ext cx="8229600" cy="411480"/>
            <a:chOff x="0" y="0"/>
            <a:chExt cx="10972800" cy="548640"/>
          </a:xfrm>
        </p:grpSpPr>
        <p:sp>
          <p:nvSpPr>
            <p:cNvPr name="Freeform 43" id="43"/>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4" id="44"/>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6E7A83"/>
                  </a:solidFill>
                  <a:latin typeface="Calibri (MS)"/>
                  <a:ea typeface="Calibri (MS)"/>
                  <a:cs typeface="Calibri (MS)"/>
                  <a:sym typeface="Calibri (MS)"/>
                </a:rPr>
                <a:t>Rajat Sharma · CH24M559 · IIT Madras</a:t>
              </a:r>
            </a:p>
          </p:txBody>
        </p:sp>
      </p:grpSp>
      <p:grpSp>
        <p:nvGrpSpPr>
          <p:cNvPr name="Group 45" id="45"/>
          <p:cNvGrpSpPr/>
          <p:nvPr/>
        </p:nvGrpSpPr>
        <p:grpSpPr>
          <a:xfrm rot="0">
            <a:off x="16637508" y="9683496"/>
            <a:ext cx="822960" cy="411480"/>
            <a:chOff x="0" y="0"/>
            <a:chExt cx="1097280" cy="548640"/>
          </a:xfrm>
        </p:grpSpPr>
        <p:sp>
          <p:nvSpPr>
            <p:cNvPr name="Freeform 46" id="46"/>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3">
                <a:alphaModFix amt="0"/>
              </a:blip>
              <a:stretch>
                <a:fillRect l="-14151" t="0" r="-14151" b="0"/>
              </a:stretch>
            </a:blipFill>
          </p:spPr>
        </p:sp>
        <p:sp>
          <p:nvSpPr>
            <p:cNvPr name="TextBox 47" id="47"/>
            <p:cNvSpPr txBox="true"/>
            <p:nvPr/>
          </p:nvSpPr>
          <p:spPr>
            <a:xfrm>
              <a:off x="0" y="-38100"/>
              <a:ext cx="1097280" cy="586740"/>
            </a:xfrm>
            <a:prstGeom prst="rect">
              <a:avLst/>
            </a:prstGeom>
          </p:spPr>
          <p:txBody>
            <a:bodyPr anchor="ctr" rtlCol="false" tIns="0" lIns="0" bIns="0" rIns="0"/>
            <a:lstStyle/>
            <a:p>
              <a:pPr algn="r">
                <a:lnSpc>
                  <a:spcPts val="1709"/>
                </a:lnSpc>
              </a:pPr>
              <a:r>
                <a:rPr lang="en-US" sz="1425">
                  <a:solidFill>
                    <a:srgbClr val="6E7A83"/>
                  </a:solidFill>
                  <a:latin typeface="Calibri (MS)"/>
                  <a:ea typeface="Calibri (MS)"/>
                  <a:cs typeface="Calibri (MS)"/>
                  <a:sym typeface="Calibri (MS)"/>
                </a:rPr>
                <a:t>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BF0F1"/>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16637508" cy="391408"/>
            <a:chOff x="0" y="0"/>
            <a:chExt cx="22183344" cy="521878"/>
          </a:xfrm>
        </p:grpSpPr>
        <p:sp>
          <p:nvSpPr>
            <p:cNvPr name="Freeform 3" id="3"/>
            <p:cNvSpPr/>
            <p:nvPr/>
          </p:nvSpPr>
          <p:spPr>
            <a:xfrm flipH="false" flipV="false" rot="0">
              <a:off x="0" y="0"/>
              <a:ext cx="22183344" cy="521878"/>
            </a:xfrm>
            <a:custGeom>
              <a:avLst/>
              <a:gdLst/>
              <a:ahLst/>
              <a:cxnLst/>
              <a:rect r="r" b="b" t="t" l="l"/>
              <a:pathLst>
                <a:path h="521878" w="22183344">
                  <a:moveTo>
                    <a:pt x="0" y="0"/>
                  </a:moveTo>
                  <a:lnTo>
                    <a:pt x="22183344" y="0"/>
                  </a:lnTo>
                  <a:lnTo>
                    <a:pt x="22183344" y="521878"/>
                  </a:lnTo>
                  <a:lnTo>
                    <a:pt x="0" y="521878"/>
                  </a:lnTo>
                  <a:close/>
                </a:path>
              </a:pathLst>
            </a:custGeom>
            <a:blipFill>
              <a:blip r:embed="rId3">
                <a:alphaModFix amt="0"/>
              </a:blip>
              <a:stretch>
                <a:fillRect l="0" t="-782690" r="0" b="-773801"/>
              </a:stretch>
            </a:blipFill>
          </p:spPr>
        </p:sp>
        <p:sp>
          <p:nvSpPr>
            <p:cNvPr name="TextBox 4" id="4"/>
            <p:cNvSpPr txBox="true"/>
            <p:nvPr/>
          </p:nvSpPr>
          <p:spPr>
            <a:xfrm>
              <a:off x="0" y="-47625"/>
              <a:ext cx="22183344" cy="569503"/>
            </a:xfrm>
            <a:prstGeom prst="rect">
              <a:avLst/>
            </a:prstGeom>
          </p:spPr>
          <p:txBody>
            <a:bodyPr anchor="ctr" rtlCol="false" tIns="0" lIns="0" bIns="0" rIns="0"/>
            <a:lstStyle/>
            <a:p>
              <a:pPr algn="l">
                <a:lnSpc>
                  <a:spcPts val="2339"/>
                </a:lnSpc>
              </a:pPr>
              <a:r>
                <a:rPr lang="en-US" b="true" sz="1949" spc="425">
                  <a:solidFill>
                    <a:srgbClr val="1A5B6E"/>
                  </a:solidFill>
                  <a:latin typeface="Calibri (MS) Bold"/>
                  <a:ea typeface="Calibri (MS) Bold"/>
                  <a:cs typeface="Calibri (MS) Bold"/>
                  <a:sym typeface="Calibri (MS) Bold"/>
                </a:rPr>
                <a:t>SOLUTION STRATEGY</a:t>
              </a:r>
            </a:p>
          </p:txBody>
        </p:sp>
      </p:grpSp>
      <p:grpSp>
        <p:nvGrpSpPr>
          <p:cNvPr name="Group 5" id="5"/>
          <p:cNvGrpSpPr/>
          <p:nvPr/>
        </p:nvGrpSpPr>
        <p:grpSpPr>
          <a:xfrm rot="0">
            <a:off x="822960" y="960120"/>
            <a:ext cx="16637508" cy="850392"/>
            <a:chOff x="0" y="0"/>
            <a:chExt cx="22183344" cy="1133856"/>
          </a:xfrm>
        </p:grpSpPr>
        <p:sp>
          <p:nvSpPr>
            <p:cNvPr name="Freeform 6" id="6"/>
            <p:cNvSpPr/>
            <p:nvPr/>
          </p:nvSpPr>
          <p:spPr>
            <a:xfrm flipH="false" flipV="false" rot="0">
              <a:off x="0" y="0"/>
              <a:ext cx="22183344" cy="1133856"/>
            </a:xfrm>
            <a:custGeom>
              <a:avLst/>
              <a:gdLst/>
              <a:ahLst/>
              <a:cxnLst/>
              <a:rect r="r" b="b" t="t" l="l"/>
              <a:pathLst>
                <a:path h="1133856" w="22183344">
                  <a:moveTo>
                    <a:pt x="0" y="0"/>
                  </a:moveTo>
                  <a:lnTo>
                    <a:pt x="22183344" y="0"/>
                  </a:lnTo>
                  <a:lnTo>
                    <a:pt x="22183344" y="1133856"/>
                  </a:lnTo>
                  <a:lnTo>
                    <a:pt x="0" y="1133856"/>
                  </a:lnTo>
                  <a:close/>
                </a:path>
              </a:pathLst>
            </a:custGeom>
            <a:blipFill>
              <a:blip r:embed="rId3">
                <a:alphaModFix amt="0"/>
              </a:blip>
              <a:stretch>
                <a:fillRect l="0" t="-331215" r="0" b="-331215"/>
              </a:stretch>
            </a:blipFill>
          </p:spPr>
        </p:sp>
        <p:sp>
          <p:nvSpPr>
            <p:cNvPr name="TextBox 7" id="7"/>
            <p:cNvSpPr txBox="true"/>
            <p:nvPr/>
          </p:nvSpPr>
          <p:spPr>
            <a:xfrm>
              <a:off x="0" y="-9525"/>
              <a:ext cx="22183344" cy="1143381"/>
            </a:xfrm>
            <a:prstGeom prst="rect">
              <a:avLst/>
            </a:prstGeom>
          </p:spPr>
          <p:txBody>
            <a:bodyPr anchor="ctr" rtlCol="false" tIns="0" lIns="0" bIns="0" rIns="0"/>
            <a:lstStyle/>
            <a:p>
              <a:pPr algn="l">
                <a:lnSpc>
                  <a:spcPts val="5220"/>
                </a:lnSpc>
              </a:pPr>
              <a:r>
                <a:rPr lang="en-US" sz="4350" b="true">
                  <a:solidFill>
                    <a:srgbClr val="1B2A33"/>
                  </a:solidFill>
                  <a:latin typeface="Cambria Bold"/>
                  <a:ea typeface="Cambria Bold"/>
                  <a:cs typeface="Cambria Bold"/>
                  <a:sym typeface="Cambria Bold"/>
                </a:rPr>
                <a:t>Two Physics Routes — Letting the Data Decide</a:t>
              </a:r>
            </a:p>
          </p:txBody>
        </p:sp>
      </p:grpSp>
      <p:grpSp>
        <p:nvGrpSpPr>
          <p:cNvPr name="Group 8" id="8"/>
          <p:cNvGrpSpPr/>
          <p:nvPr/>
        </p:nvGrpSpPr>
        <p:grpSpPr>
          <a:xfrm rot="0">
            <a:off x="813435" y="2185035"/>
            <a:ext cx="8180070" cy="4339590"/>
            <a:chOff x="0" y="0"/>
            <a:chExt cx="10906760" cy="5786120"/>
          </a:xfrm>
        </p:grpSpPr>
        <p:sp>
          <p:nvSpPr>
            <p:cNvPr name="Freeform 9" id="9"/>
            <p:cNvSpPr/>
            <p:nvPr/>
          </p:nvSpPr>
          <p:spPr>
            <a:xfrm flipH="false" flipV="false" rot="0">
              <a:off x="0" y="0"/>
              <a:ext cx="10906760" cy="5786120"/>
            </a:xfrm>
            <a:custGeom>
              <a:avLst/>
              <a:gdLst/>
              <a:ahLst/>
              <a:cxnLst/>
              <a:rect r="r" b="b" t="t" l="l"/>
              <a:pathLst>
                <a:path h="5786120" w="10906760">
                  <a:moveTo>
                    <a:pt x="0" y="128524"/>
                  </a:moveTo>
                  <a:cubicBezTo>
                    <a:pt x="0" y="57531"/>
                    <a:pt x="57531" y="0"/>
                    <a:pt x="128524" y="0"/>
                  </a:cubicBezTo>
                  <a:lnTo>
                    <a:pt x="10778236" y="0"/>
                  </a:lnTo>
                  <a:cubicBezTo>
                    <a:pt x="10849229" y="0"/>
                    <a:pt x="10906760" y="57531"/>
                    <a:pt x="10906760" y="128524"/>
                  </a:cubicBezTo>
                  <a:lnTo>
                    <a:pt x="10906760" y="5657596"/>
                  </a:lnTo>
                  <a:cubicBezTo>
                    <a:pt x="10906760" y="5728589"/>
                    <a:pt x="10849229" y="5786120"/>
                    <a:pt x="10778236" y="5786120"/>
                  </a:cubicBezTo>
                  <a:lnTo>
                    <a:pt x="128524" y="5786120"/>
                  </a:lnTo>
                  <a:cubicBezTo>
                    <a:pt x="57531" y="5786120"/>
                    <a:pt x="0" y="5728589"/>
                    <a:pt x="0" y="5657596"/>
                  </a:cubicBezTo>
                  <a:close/>
                </a:path>
              </a:pathLst>
            </a:custGeom>
            <a:solidFill>
              <a:srgbClr val="FFFFFF"/>
            </a:solidFill>
            <a:ln w="19050" cap="sq">
              <a:solidFill>
                <a:srgbClr val="CFDBDC"/>
              </a:solidFill>
              <a:prstDash val="solid"/>
              <a:miter/>
            </a:ln>
          </p:spPr>
        </p:sp>
      </p:grpSp>
      <p:grpSp>
        <p:nvGrpSpPr>
          <p:cNvPr name="Group 10" id="10"/>
          <p:cNvGrpSpPr/>
          <p:nvPr/>
        </p:nvGrpSpPr>
        <p:grpSpPr>
          <a:xfrm rot="0">
            <a:off x="1261872" y="2465451"/>
            <a:ext cx="7406640" cy="403399"/>
            <a:chOff x="0" y="0"/>
            <a:chExt cx="9875520" cy="537865"/>
          </a:xfrm>
        </p:grpSpPr>
        <p:sp>
          <p:nvSpPr>
            <p:cNvPr name="Freeform 11" id="11"/>
            <p:cNvSpPr/>
            <p:nvPr/>
          </p:nvSpPr>
          <p:spPr>
            <a:xfrm flipH="false" flipV="false" rot="0">
              <a:off x="0" y="0"/>
              <a:ext cx="9875520" cy="537865"/>
            </a:xfrm>
            <a:custGeom>
              <a:avLst/>
              <a:gdLst/>
              <a:ahLst/>
              <a:cxnLst/>
              <a:rect r="r" b="b" t="t" l="l"/>
              <a:pathLst>
                <a:path h="537865" w="9875520">
                  <a:moveTo>
                    <a:pt x="0" y="0"/>
                  </a:moveTo>
                  <a:lnTo>
                    <a:pt x="9875520" y="0"/>
                  </a:lnTo>
                  <a:lnTo>
                    <a:pt x="9875520" y="537865"/>
                  </a:lnTo>
                  <a:lnTo>
                    <a:pt x="0" y="537865"/>
                  </a:lnTo>
                  <a:close/>
                </a:path>
              </a:pathLst>
            </a:custGeom>
            <a:blipFill>
              <a:blip r:embed="rId3">
                <a:alphaModFix amt="0"/>
              </a:blip>
              <a:stretch>
                <a:fillRect l="0" t="-310155" r="0" b="-305358"/>
              </a:stretch>
            </a:blipFill>
          </p:spPr>
        </p:sp>
        <p:sp>
          <p:nvSpPr>
            <p:cNvPr name="TextBox 12" id="12"/>
            <p:cNvSpPr txBox="true"/>
            <p:nvPr/>
          </p:nvSpPr>
          <p:spPr>
            <a:xfrm>
              <a:off x="0" y="-38100"/>
              <a:ext cx="9875520" cy="575965"/>
            </a:xfrm>
            <a:prstGeom prst="rect">
              <a:avLst/>
            </a:prstGeom>
          </p:spPr>
          <p:txBody>
            <a:bodyPr anchor="ctr" rtlCol="false" tIns="0" lIns="0" bIns="0" rIns="0"/>
            <a:lstStyle/>
            <a:p>
              <a:pPr algn="l">
                <a:lnSpc>
                  <a:spcPts val="2400"/>
                </a:lnSpc>
              </a:pPr>
              <a:r>
                <a:rPr lang="en-US" b="true" sz="2000" spc="210">
                  <a:solidFill>
                    <a:srgbClr val="1A5B6E"/>
                  </a:solidFill>
                  <a:latin typeface="Calibri (MS) Bold"/>
                  <a:ea typeface="Calibri (MS) Bold"/>
                  <a:cs typeface="Calibri (MS) Bold"/>
                  <a:sym typeface="Calibri (MS) Bold"/>
                </a:rPr>
                <a:t>Route A    </a:t>
              </a:r>
              <a:r>
                <a:rPr lang="en-US" b="true" sz="2000" spc="210">
                  <a:solidFill>
                    <a:srgbClr val="6E7A83"/>
                  </a:solidFill>
                  <a:latin typeface="Calibri (MS) Bold"/>
                  <a:ea typeface="Calibri (MS) Bold"/>
                  <a:cs typeface="Calibri (MS) Bold"/>
                  <a:sym typeface="Calibri (MS) Bold"/>
                </a:rPr>
                <a:t>BASELINE VARIANT</a:t>
              </a:r>
            </a:p>
          </p:txBody>
        </p:sp>
      </p:grpSp>
      <p:grpSp>
        <p:nvGrpSpPr>
          <p:cNvPr name="Group 13" id="13"/>
          <p:cNvGrpSpPr/>
          <p:nvPr/>
        </p:nvGrpSpPr>
        <p:grpSpPr>
          <a:xfrm rot="0">
            <a:off x="1234440" y="2935224"/>
            <a:ext cx="7406640" cy="521208"/>
            <a:chOff x="0" y="0"/>
            <a:chExt cx="9875520" cy="694944"/>
          </a:xfrm>
        </p:grpSpPr>
        <p:sp>
          <p:nvSpPr>
            <p:cNvPr name="Freeform 14" id="14"/>
            <p:cNvSpPr/>
            <p:nvPr/>
          </p:nvSpPr>
          <p:spPr>
            <a:xfrm flipH="false" flipV="false" rot="0">
              <a:off x="0" y="0"/>
              <a:ext cx="9875520" cy="694944"/>
            </a:xfrm>
            <a:custGeom>
              <a:avLst/>
              <a:gdLst/>
              <a:ahLst/>
              <a:cxnLst/>
              <a:rect r="r" b="b" t="t" l="l"/>
              <a:pathLst>
                <a:path h="694944" w="9875520">
                  <a:moveTo>
                    <a:pt x="0" y="0"/>
                  </a:moveTo>
                  <a:lnTo>
                    <a:pt x="9875520" y="0"/>
                  </a:lnTo>
                  <a:lnTo>
                    <a:pt x="9875520" y="694944"/>
                  </a:lnTo>
                  <a:lnTo>
                    <a:pt x="0" y="694944"/>
                  </a:lnTo>
                  <a:close/>
                </a:path>
              </a:pathLst>
            </a:custGeom>
            <a:blipFill>
              <a:blip r:embed="rId3">
                <a:alphaModFix amt="0"/>
              </a:blip>
              <a:stretch>
                <a:fillRect l="0" t="-226892" r="0" b="-226892"/>
              </a:stretch>
            </a:blipFill>
          </p:spPr>
        </p:sp>
        <p:sp>
          <p:nvSpPr>
            <p:cNvPr name="TextBox 15" id="15"/>
            <p:cNvSpPr txBox="true"/>
            <p:nvPr/>
          </p:nvSpPr>
          <p:spPr>
            <a:xfrm>
              <a:off x="0" y="-9525"/>
              <a:ext cx="9875520" cy="704469"/>
            </a:xfrm>
            <a:prstGeom prst="rect">
              <a:avLst/>
            </a:prstGeom>
          </p:spPr>
          <p:txBody>
            <a:bodyPr anchor="ctr" rtlCol="false" tIns="0" lIns="0" bIns="0" rIns="0"/>
            <a:lstStyle/>
            <a:p>
              <a:pPr algn="l">
                <a:lnSpc>
                  <a:spcPts val="2970"/>
                </a:lnSpc>
              </a:pPr>
              <a:r>
                <a:rPr lang="en-US" sz="2475" b="true">
                  <a:solidFill>
                    <a:srgbClr val="1B2A33"/>
                  </a:solidFill>
                  <a:latin typeface="Cambria Bold"/>
                  <a:ea typeface="Cambria Bold"/>
                  <a:cs typeface="Cambria Bold"/>
                  <a:sym typeface="Cambria Bold"/>
                </a:rPr>
                <a:t>Fixed closed-form prior</a:t>
              </a:r>
            </a:p>
          </p:txBody>
        </p:sp>
      </p:grpSp>
      <p:grpSp>
        <p:nvGrpSpPr>
          <p:cNvPr name="Group 16" id="16"/>
          <p:cNvGrpSpPr/>
          <p:nvPr/>
        </p:nvGrpSpPr>
        <p:grpSpPr>
          <a:xfrm rot="0">
            <a:off x="1234440" y="3336186"/>
            <a:ext cx="7338060" cy="3113532"/>
            <a:chOff x="0" y="0"/>
            <a:chExt cx="9784080" cy="4151376"/>
          </a:xfrm>
        </p:grpSpPr>
        <p:sp>
          <p:nvSpPr>
            <p:cNvPr name="Freeform 17" id="17"/>
            <p:cNvSpPr/>
            <p:nvPr/>
          </p:nvSpPr>
          <p:spPr>
            <a:xfrm flipH="false" flipV="false" rot="0">
              <a:off x="0" y="0"/>
              <a:ext cx="9784080" cy="4151376"/>
            </a:xfrm>
            <a:custGeom>
              <a:avLst/>
              <a:gdLst/>
              <a:ahLst/>
              <a:cxnLst/>
              <a:rect r="r" b="b" t="t" l="l"/>
              <a:pathLst>
                <a:path h="4151376" w="9784080">
                  <a:moveTo>
                    <a:pt x="0" y="0"/>
                  </a:moveTo>
                  <a:lnTo>
                    <a:pt x="9784080" y="0"/>
                  </a:lnTo>
                  <a:lnTo>
                    <a:pt x="9784080" y="4151376"/>
                  </a:lnTo>
                  <a:lnTo>
                    <a:pt x="0" y="4151376"/>
                  </a:lnTo>
                  <a:close/>
                </a:path>
              </a:pathLst>
            </a:custGeom>
            <a:blipFill>
              <a:blip r:embed="rId3">
                <a:alphaModFix amt="0"/>
              </a:blip>
              <a:stretch>
                <a:fillRect l="0" t="-4072" r="0" b="12226"/>
              </a:stretch>
            </a:blipFill>
          </p:spPr>
        </p:sp>
        <p:sp>
          <p:nvSpPr>
            <p:cNvPr name="TextBox 18" id="18"/>
            <p:cNvSpPr txBox="true"/>
            <p:nvPr/>
          </p:nvSpPr>
          <p:spPr>
            <a:xfrm>
              <a:off x="0" y="-123825"/>
              <a:ext cx="9784080" cy="4275201"/>
            </a:xfrm>
            <a:prstGeom prst="rect">
              <a:avLst/>
            </a:prstGeom>
          </p:spPr>
          <p:txBody>
            <a:bodyPr anchor="ctr" rtlCol="false" tIns="0" lIns="0" bIns="0" rIns="0"/>
            <a:lstStyle/>
            <a:p>
              <a:pPr algn="l" marL="361949" indent="-180975" lvl="1">
                <a:lnSpc>
                  <a:spcPts val="3199"/>
                </a:lnSpc>
                <a:buFont typeface="Arial"/>
                <a:buChar char="•"/>
              </a:pPr>
              <a:r>
                <a:rPr lang="en-US" sz="1999">
                  <a:solidFill>
                    <a:srgbClr val="39454E"/>
                  </a:solidFill>
                  <a:latin typeface="Calibri (MS)"/>
                  <a:ea typeface="Calibri (MS)"/>
                  <a:cs typeface="Calibri (MS)"/>
                  <a:sym typeface="Calibri (MS)"/>
                </a:rPr>
                <a:t>Integrate the laws analytically (as suggested in Phase-2 review) — no ODE solving.</a:t>
              </a:r>
            </a:p>
            <a:p>
              <a:pPr algn="l" marL="361949" indent="-180975" lvl="1">
                <a:lnSpc>
                  <a:spcPts val="3199"/>
                </a:lnSpc>
                <a:buFont typeface="Arial"/>
                <a:buChar char="•"/>
              </a:pPr>
              <a:r>
                <a:rPr lang="en-US" sz="1999">
                  <a:solidFill>
                    <a:srgbClr val="39454E"/>
                  </a:solidFill>
                  <a:latin typeface="Calibri (MS)"/>
                  <a:ea typeface="Calibri (MS)"/>
                  <a:cs typeface="Calibri (MS)"/>
                  <a:sym typeface="Calibri (MS)"/>
                </a:rPr>
                <a:t>Fit once on the training cells; a soft penalty pulls predictions toward that fixed curve.</a:t>
              </a:r>
            </a:p>
            <a:p>
              <a:pPr algn="l" marL="361949" indent="-180975" lvl="1">
                <a:lnSpc>
                  <a:spcPts val="3199"/>
                </a:lnSpc>
                <a:buFont typeface="Arial"/>
                <a:buChar char="•"/>
              </a:pPr>
              <a:r>
                <a:rPr lang="en-US" sz="1999">
                  <a:solidFill>
                    <a:srgbClr val="39454E"/>
                  </a:solidFill>
                  <a:latin typeface="Calibri (MS)"/>
                  <a:ea typeface="Calibri (MS)"/>
                  <a:cs typeface="Calibri (MS)"/>
                  <a:sym typeface="Calibri (MS)"/>
                </a:rPr>
                <a:t>Cheap to train, but assumes every new cell behaves like the training cells.</a:t>
              </a:r>
            </a:p>
          </p:txBody>
        </p:sp>
      </p:grpSp>
      <p:grpSp>
        <p:nvGrpSpPr>
          <p:cNvPr name="Group 19" id="19"/>
          <p:cNvGrpSpPr/>
          <p:nvPr/>
        </p:nvGrpSpPr>
        <p:grpSpPr>
          <a:xfrm rot="0">
            <a:off x="9285160" y="2180272"/>
            <a:ext cx="8189595" cy="4349115"/>
            <a:chOff x="0" y="0"/>
            <a:chExt cx="10919460" cy="5798820"/>
          </a:xfrm>
        </p:grpSpPr>
        <p:sp>
          <p:nvSpPr>
            <p:cNvPr name="Freeform 20" id="20"/>
            <p:cNvSpPr/>
            <p:nvPr/>
          </p:nvSpPr>
          <p:spPr>
            <a:xfrm flipH="false" flipV="false" rot="0">
              <a:off x="0" y="0"/>
              <a:ext cx="10919461" cy="5798820"/>
            </a:xfrm>
            <a:custGeom>
              <a:avLst/>
              <a:gdLst/>
              <a:ahLst/>
              <a:cxnLst/>
              <a:rect r="r" b="b" t="t" l="l"/>
              <a:pathLst>
                <a:path h="5798820" w="10919461">
                  <a:moveTo>
                    <a:pt x="0" y="128905"/>
                  </a:moveTo>
                  <a:cubicBezTo>
                    <a:pt x="0" y="57658"/>
                    <a:pt x="57658" y="0"/>
                    <a:pt x="128905" y="0"/>
                  </a:cubicBezTo>
                  <a:lnTo>
                    <a:pt x="10790555" y="0"/>
                  </a:lnTo>
                  <a:cubicBezTo>
                    <a:pt x="10861675" y="0"/>
                    <a:pt x="10919461" y="57658"/>
                    <a:pt x="10919461" y="128905"/>
                  </a:cubicBezTo>
                  <a:lnTo>
                    <a:pt x="10919461" y="5669915"/>
                  </a:lnTo>
                  <a:cubicBezTo>
                    <a:pt x="10919461" y="5741035"/>
                    <a:pt x="10861802" y="5798820"/>
                    <a:pt x="10790555" y="5798820"/>
                  </a:cubicBezTo>
                  <a:lnTo>
                    <a:pt x="128905" y="5798820"/>
                  </a:lnTo>
                  <a:cubicBezTo>
                    <a:pt x="57658" y="5798820"/>
                    <a:pt x="0" y="5741162"/>
                    <a:pt x="0" y="5669915"/>
                  </a:cubicBezTo>
                  <a:close/>
                </a:path>
              </a:pathLst>
            </a:custGeom>
            <a:solidFill>
              <a:srgbClr val="E0EBEC"/>
            </a:solidFill>
            <a:ln w="28575" cap="sq">
              <a:solidFill>
                <a:srgbClr val="1A5B6E"/>
              </a:solidFill>
              <a:prstDash val="solid"/>
              <a:miter/>
            </a:ln>
          </p:spPr>
        </p:sp>
      </p:grpSp>
      <p:grpSp>
        <p:nvGrpSpPr>
          <p:cNvPr name="Group 21" id="21"/>
          <p:cNvGrpSpPr/>
          <p:nvPr/>
        </p:nvGrpSpPr>
        <p:grpSpPr>
          <a:xfrm rot="0">
            <a:off x="9710928" y="2465451"/>
            <a:ext cx="7406640" cy="403399"/>
            <a:chOff x="0" y="0"/>
            <a:chExt cx="9875520" cy="537865"/>
          </a:xfrm>
        </p:grpSpPr>
        <p:sp>
          <p:nvSpPr>
            <p:cNvPr name="Freeform 22" id="22"/>
            <p:cNvSpPr/>
            <p:nvPr/>
          </p:nvSpPr>
          <p:spPr>
            <a:xfrm flipH="false" flipV="false" rot="0">
              <a:off x="0" y="0"/>
              <a:ext cx="9875520" cy="537865"/>
            </a:xfrm>
            <a:custGeom>
              <a:avLst/>
              <a:gdLst/>
              <a:ahLst/>
              <a:cxnLst/>
              <a:rect r="r" b="b" t="t" l="l"/>
              <a:pathLst>
                <a:path h="537865" w="9875520">
                  <a:moveTo>
                    <a:pt x="0" y="0"/>
                  </a:moveTo>
                  <a:lnTo>
                    <a:pt x="9875520" y="0"/>
                  </a:lnTo>
                  <a:lnTo>
                    <a:pt x="9875520" y="537865"/>
                  </a:lnTo>
                  <a:lnTo>
                    <a:pt x="0" y="537865"/>
                  </a:lnTo>
                  <a:close/>
                </a:path>
              </a:pathLst>
            </a:custGeom>
            <a:blipFill>
              <a:blip r:embed="rId3">
                <a:alphaModFix amt="0"/>
              </a:blip>
              <a:stretch>
                <a:fillRect l="0" t="-310155" r="0" b="-305358"/>
              </a:stretch>
            </a:blipFill>
          </p:spPr>
        </p:sp>
        <p:sp>
          <p:nvSpPr>
            <p:cNvPr name="TextBox 23" id="23"/>
            <p:cNvSpPr txBox="true"/>
            <p:nvPr/>
          </p:nvSpPr>
          <p:spPr>
            <a:xfrm>
              <a:off x="0" y="-38100"/>
              <a:ext cx="9875520" cy="575965"/>
            </a:xfrm>
            <a:prstGeom prst="rect">
              <a:avLst/>
            </a:prstGeom>
          </p:spPr>
          <p:txBody>
            <a:bodyPr anchor="ctr" rtlCol="false" tIns="0" lIns="0" bIns="0" rIns="0"/>
            <a:lstStyle/>
            <a:p>
              <a:pPr algn="l">
                <a:lnSpc>
                  <a:spcPts val="2400"/>
                </a:lnSpc>
              </a:pPr>
              <a:r>
                <a:rPr lang="en-US" b="true" sz="2000" spc="181">
                  <a:solidFill>
                    <a:srgbClr val="1A5B6E"/>
                  </a:solidFill>
                  <a:latin typeface="Calibri (MS) Bold"/>
                  <a:ea typeface="Calibri (MS) Bold"/>
                  <a:cs typeface="Calibri (MS) Bold"/>
                  <a:sym typeface="Calibri (MS) Bold"/>
                </a:rPr>
                <a:t>Route B    </a:t>
              </a:r>
              <a:r>
                <a:rPr lang="en-US" b="true" sz="2000" spc="181">
                  <a:solidFill>
                    <a:srgbClr val="6E7A83"/>
                  </a:solidFill>
                  <a:latin typeface="Calibri (MS) Bold"/>
                  <a:ea typeface="Calibri (MS) Bold"/>
                  <a:cs typeface="Calibri (MS) Bold"/>
                  <a:sym typeface="Calibri (MS) Bold"/>
                </a:rPr>
                <a:t>PROPOSED</a:t>
              </a:r>
            </a:p>
          </p:txBody>
        </p:sp>
      </p:grpSp>
      <p:grpSp>
        <p:nvGrpSpPr>
          <p:cNvPr name="Group 24" id="24"/>
          <p:cNvGrpSpPr/>
          <p:nvPr/>
        </p:nvGrpSpPr>
        <p:grpSpPr>
          <a:xfrm rot="0">
            <a:off x="9710928" y="2935224"/>
            <a:ext cx="7406640" cy="521208"/>
            <a:chOff x="0" y="0"/>
            <a:chExt cx="9875520" cy="694944"/>
          </a:xfrm>
        </p:grpSpPr>
        <p:sp>
          <p:nvSpPr>
            <p:cNvPr name="Freeform 25" id="25"/>
            <p:cNvSpPr/>
            <p:nvPr/>
          </p:nvSpPr>
          <p:spPr>
            <a:xfrm flipH="false" flipV="false" rot="0">
              <a:off x="0" y="0"/>
              <a:ext cx="9875520" cy="694944"/>
            </a:xfrm>
            <a:custGeom>
              <a:avLst/>
              <a:gdLst/>
              <a:ahLst/>
              <a:cxnLst/>
              <a:rect r="r" b="b" t="t" l="l"/>
              <a:pathLst>
                <a:path h="694944" w="9875520">
                  <a:moveTo>
                    <a:pt x="0" y="0"/>
                  </a:moveTo>
                  <a:lnTo>
                    <a:pt x="9875520" y="0"/>
                  </a:lnTo>
                  <a:lnTo>
                    <a:pt x="9875520" y="694944"/>
                  </a:lnTo>
                  <a:lnTo>
                    <a:pt x="0" y="694944"/>
                  </a:lnTo>
                  <a:close/>
                </a:path>
              </a:pathLst>
            </a:custGeom>
            <a:blipFill>
              <a:blip r:embed="rId3">
                <a:alphaModFix amt="0"/>
              </a:blip>
              <a:stretch>
                <a:fillRect l="0" t="-226892" r="0" b="-226892"/>
              </a:stretch>
            </a:blipFill>
          </p:spPr>
        </p:sp>
        <p:sp>
          <p:nvSpPr>
            <p:cNvPr name="TextBox 26" id="26"/>
            <p:cNvSpPr txBox="true"/>
            <p:nvPr/>
          </p:nvSpPr>
          <p:spPr>
            <a:xfrm>
              <a:off x="0" y="-9525"/>
              <a:ext cx="9875520" cy="704469"/>
            </a:xfrm>
            <a:prstGeom prst="rect">
              <a:avLst/>
            </a:prstGeom>
          </p:spPr>
          <p:txBody>
            <a:bodyPr anchor="ctr" rtlCol="false" tIns="0" lIns="0" bIns="0" rIns="0"/>
            <a:lstStyle/>
            <a:p>
              <a:pPr algn="l">
                <a:lnSpc>
                  <a:spcPts val="2970"/>
                </a:lnSpc>
              </a:pPr>
              <a:r>
                <a:rPr lang="en-US" sz="2475" b="true">
                  <a:solidFill>
                    <a:srgbClr val="1B2A33"/>
                  </a:solidFill>
                  <a:latin typeface="Cambria Bold"/>
                  <a:ea typeface="Cambria Bold"/>
                  <a:cs typeface="Cambria Bold"/>
                  <a:sym typeface="Cambria Bold"/>
                </a:rPr>
                <a:t>Learnable ODE residual</a:t>
              </a:r>
            </a:p>
          </p:txBody>
        </p:sp>
      </p:grpSp>
      <p:grpSp>
        <p:nvGrpSpPr>
          <p:cNvPr name="Group 27" id="27"/>
          <p:cNvGrpSpPr/>
          <p:nvPr/>
        </p:nvGrpSpPr>
        <p:grpSpPr>
          <a:xfrm rot="0">
            <a:off x="9710928" y="3212973"/>
            <a:ext cx="7338060" cy="3113532"/>
            <a:chOff x="0" y="0"/>
            <a:chExt cx="9784080" cy="4151376"/>
          </a:xfrm>
        </p:grpSpPr>
        <p:sp>
          <p:nvSpPr>
            <p:cNvPr name="Freeform 28" id="28"/>
            <p:cNvSpPr/>
            <p:nvPr/>
          </p:nvSpPr>
          <p:spPr>
            <a:xfrm flipH="false" flipV="false" rot="0">
              <a:off x="0" y="0"/>
              <a:ext cx="9784080" cy="4151376"/>
            </a:xfrm>
            <a:custGeom>
              <a:avLst/>
              <a:gdLst/>
              <a:ahLst/>
              <a:cxnLst/>
              <a:rect r="r" b="b" t="t" l="l"/>
              <a:pathLst>
                <a:path h="4151376" w="9784080">
                  <a:moveTo>
                    <a:pt x="0" y="0"/>
                  </a:moveTo>
                  <a:lnTo>
                    <a:pt x="9784080" y="0"/>
                  </a:lnTo>
                  <a:lnTo>
                    <a:pt x="9784080" y="4151376"/>
                  </a:lnTo>
                  <a:lnTo>
                    <a:pt x="0" y="4151376"/>
                  </a:lnTo>
                  <a:close/>
                </a:path>
              </a:pathLst>
            </a:custGeom>
            <a:blipFill>
              <a:blip r:embed="rId3">
                <a:alphaModFix amt="0"/>
              </a:blip>
              <a:stretch>
                <a:fillRect l="0" t="-4072" r="0" b="12226"/>
              </a:stretch>
            </a:blipFill>
          </p:spPr>
        </p:sp>
        <p:sp>
          <p:nvSpPr>
            <p:cNvPr name="TextBox 29" id="29"/>
            <p:cNvSpPr txBox="true"/>
            <p:nvPr/>
          </p:nvSpPr>
          <p:spPr>
            <a:xfrm>
              <a:off x="0" y="-123825"/>
              <a:ext cx="9784080" cy="4275201"/>
            </a:xfrm>
            <a:prstGeom prst="rect">
              <a:avLst/>
            </a:prstGeom>
          </p:spPr>
          <p:txBody>
            <a:bodyPr anchor="ctr" rtlCol="false" tIns="0" lIns="0" bIns="0" rIns="0"/>
            <a:lstStyle/>
            <a:p>
              <a:pPr algn="l" marL="361949" indent="-180975" lvl="1">
                <a:lnSpc>
                  <a:spcPts val="3199"/>
                </a:lnSpc>
                <a:buFont typeface="Arial"/>
                <a:buChar char="•"/>
              </a:pPr>
              <a:r>
                <a:rPr lang="en-US" sz="1999">
                  <a:solidFill>
                    <a:srgbClr val="39454E"/>
                  </a:solidFill>
                  <a:latin typeface="Calibri (MS)"/>
                  <a:ea typeface="Calibri (MS)"/>
                  <a:cs typeface="Calibri (MS)"/>
                  <a:sym typeface="Calibri (MS)"/>
                </a:rPr>
                <a:t>Verhulst parameters (r, K) are trainable — updated by backpropagation with the network.</a:t>
              </a:r>
            </a:p>
            <a:p>
              <a:pPr algn="l" marL="361949" indent="-180975" lvl="1">
                <a:lnSpc>
                  <a:spcPts val="3199"/>
                </a:lnSpc>
                <a:buFont typeface="Arial"/>
                <a:buChar char="•"/>
              </a:pPr>
              <a:r>
                <a:rPr lang="en-US" sz="1999">
                  <a:solidFill>
                    <a:srgbClr val="39454E"/>
                  </a:solidFill>
                  <a:latin typeface="Calibri (MS)"/>
                  <a:ea typeface="Calibri (MS)"/>
                  <a:cs typeface="Calibri (MS)"/>
                  <a:sym typeface="Calibri (MS)"/>
                </a:rPr>
                <a:t>The physical law adapts its shape to the training population.</a:t>
              </a:r>
            </a:p>
            <a:p>
              <a:pPr algn="l" marL="361949" indent="-180975" lvl="1">
                <a:lnSpc>
                  <a:spcPts val="3199"/>
                </a:lnSpc>
                <a:buFont typeface="Arial"/>
                <a:buChar char="•"/>
              </a:pPr>
              <a:r>
                <a:rPr lang="en-US" sz="1999">
                  <a:solidFill>
                    <a:srgbClr val="39454E"/>
                  </a:solidFill>
                  <a:latin typeface="Calibri (MS)"/>
                  <a:ea typeface="Calibri (MS)"/>
                  <a:cs typeface="Calibri (MS)"/>
                  <a:sym typeface="Calibri (MS)"/>
                </a:rPr>
                <a:t>≈ 3× training time, paid offline; the deployed inference network is unchanged.</a:t>
              </a:r>
            </a:p>
          </p:txBody>
        </p:sp>
      </p:grpSp>
      <p:grpSp>
        <p:nvGrpSpPr>
          <p:cNvPr name="Group 30" id="30"/>
          <p:cNvGrpSpPr/>
          <p:nvPr/>
        </p:nvGrpSpPr>
        <p:grpSpPr>
          <a:xfrm rot="0">
            <a:off x="813435" y="6917055"/>
            <a:ext cx="16656558" cy="2350770"/>
            <a:chOff x="0" y="0"/>
            <a:chExt cx="22208744" cy="3134360"/>
          </a:xfrm>
        </p:grpSpPr>
        <p:sp>
          <p:nvSpPr>
            <p:cNvPr name="Freeform 31" id="31"/>
            <p:cNvSpPr/>
            <p:nvPr/>
          </p:nvSpPr>
          <p:spPr>
            <a:xfrm flipH="false" flipV="false" rot="0">
              <a:off x="0" y="0"/>
              <a:ext cx="22208745" cy="3134360"/>
            </a:xfrm>
            <a:custGeom>
              <a:avLst/>
              <a:gdLst/>
              <a:ahLst/>
              <a:cxnLst/>
              <a:rect r="r" b="b" t="t" l="l"/>
              <a:pathLst>
                <a:path h="3134360" w="22208745">
                  <a:moveTo>
                    <a:pt x="0" y="129032"/>
                  </a:moveTo>
                  <a:cubicBezTo>
                    <a:pt x="0" y="57785"/>
                    <a:pt x="57785" y="0"/>
                    <a:pt x="129032" y="0"/>
                  </a:cubicBezTo>
                  <a:lnTo>
                    <a:pt x="22079713" y="0"/>
                  </a:lnTo>
                  <a:cubicBezTo>
                    <a:pt x="22150960" y="0"/>
                    <a:pt x="22208745" y="57785"/>
                    <a:pt x="22208745" y="129032"/>
                  </a:cubicBezTo>
                  <a:lnTo>
                    <a:pt x="22208745" y="3005328"/>
                  </a:lnTo>
                  <a:cubicBezTo>
                    <a:pt x="22208745" y="3076575"/>
                    <a:pt x="22150960" y="3134360"/>
                    <a:pt x="22079713" y="3134360"/>
                  </a:cubicBezTo>
                  <a:lnTo>
                    <a:pt x="129032" y="3134360"/>
                  </a:lnTo>
                  <a:cubicBezTo>
                    <a:pt x="57785" y="3134360"/>
                    <a:pt x="0" y="3076575"/>
                    <a:pt x="0" y="3005328"/>
                  </a:cubicBezTo>
                  <a:close/>
                </a:path>
              </a:pathLst>
            </a:custGeom>
            <a:solidFill>
              <a:srgbClr val="FFFFFF"/>
            </a:solidFill>
            <a:ln w="19050" cap="sq">
              <a:solidFill>
                <a:srgbClr val="CFDBDC"/>
              </a:solidFill>
              <a:prstDash val="solid"/>
              <a:miter/>
            </a:ln>
          </p:spPr>
        </p:sp>
      </p:grpSp>
      <p:grpSp>
        <p:nvGrpSpPr>
          <p:cNvPr name="Group 32" id="32"/>
          <p:cNvGrpSpPr/>
          <p:nvPr/>
        </p:nvGrpSpPr>
        <p:grpSpPr>
          <a:xfrm rot="0">
            <a:off x="1234440" y="7159752"/>
            <a:ext cx="15814548" cy="411480"/>
            <a:chOff x="0" y="0"/>
            <a:chExt cx="21086064" cy="548640"/>
          </a:xfrm>
        </p:grpSpPr>
        <p:sp>
          <p:nvSpPr>
            <p:cNvPr name="Freeform 33" id="33"/>
            <p:cNvSpPr/>
            <p:nvPr/>
          </p:nvSpPr>
          <p:spPr>
            <a:xfrm flipH="false" flipV="false" rot="0">
              <a:off x="0" y="0"/>
              <a:ext cx="21086065" cy="548640"/>
            </a:xfrm>
            <a:custGeom>
              <a:avLst/>
              <a:gdLst/>
              <a:ahLst/>
              <a:cxnLst/>
              <a:rect r="r" b="b" t="t" l="l"/>
              <a:pathLst>
                <a:path h="548640" w="21086065">
                  <a:moveTo>
                    <a:pt x="0" y="0"/>
                  </a:moveTo>
                  <a:lnTo>
                    <a:pt x="21086065" y="0"/>
                  </a:lnTo>
                  <a:lnTo>
                    <a:pt x="21086065" y="548640"/>
                  </a:lnTo>
                  <a:lnTo>
                    <a:pt x="0" y="548640"/>
                  </a:lnTo>
                  <a:close/>
                </a:path>
              </a:pathLst>
            </a:custGeom>
            <a:blipFill>
              <a:blip r:embed="rId3">
                <a:alphaModFix amt="0"/>
              </a:blip>
              <a:stretch>
                <a:fillRect l="0" t="-698874" r="0" b="-698874"/>
              </a:stretch>
            </a:blipFill>
          </p:spPr>
        </p:sp>
        <p:sp>
          <p:nvSpPr>
            <p:cNvPr name="TextBox 34" id="34"/>
            <p:cNvSpPr txBox="true"/>
            <p:nvPr/>
          </p:nvSpPr>
          <p:spPr>
            <a:xfrm>
              <a:off x="0" y="-47625"/>
              <a:ext cx="21086064" cy="596265"/>
            </a:xfrm>
            <a:prstGeom prst="rect">
              <a:avLst/>
            </a:prstGeom>
          </p:spPr>
          <p:txBody>
            <a:bodyPr anchor="ctr" rtlCol="false" tIns="0" lIns="0" bIns="0" rIns="0"/>
            <a:lstStyle/>
            <a:p>
              <a:pPr algn="l">
                <a:lnSpc>
                  <a:spcPts val="2340"/>
                </a:lnSpc>
              </a:pPr>
              <a:r>
                <a:rPr lang="en-US" sz="1950" b="true">
                  <a:solidFill>
                    <a:srgbClr val="1A5B6E"/>
                  </a:solidFill>
                  <a:latin typeface="Calibri (MS) Bold"/>
                  <a:ea typeface="Calibri (MS) Bold"/>
                  <a:cs typeface="Calibri (MS) Bold"/>
                  <a:sym typeface="Calibri (MS) Bold"/>
                </a:rPr>
                <a:t>Loss balancing — also tested both ways</a:t>
              </a:r>
            </a:p>
          </p:txBody>
        </p:sp>
      </p:grpSp>
      <p:grpSp>
        <p:nvGrpSpPr>
          <p:cNvPr name="Group 35" id="35"/>
          <p:cNvGrpSpPr/>
          <p:nvPr/>
        </p:nvGrpSpPr>
        <p:grpSpPr>
          <a:xfrm rot="0">
            <a:off x="1234440" y="7653528"/>
            <a:ext cx="16226028" cy="1440180"/>
            <a:chOff x="0" y="0"/>
            <a:chExt cx="21634704" cy="1920240"/>
          </a:xfrm>
        </p:grpSpPr>
        <p:sp>
          <p:nvSpPr>
            <p:cNvPr name="Freeform 36" id="36"/>
            <p:cNvSpPr/>
            <p:nvPr/>
          </p:nvSpPr>
          <p:spPr>
            <a:xfrm flipH="false" flipV="false" rot="0">
              <a:off x="0" y="0"/>
              <a:ext cx="21634704" cy="1920240"/>
            </a:xfrm>
            <a:custGeom>
              <a:avLst/>
              <a:gdLst/>
              <a:ahLst/>
              <a:cxnLst/>
              <a:rect r="r" b="b" t="t" l="l"/>
              <a:pathLst>
                <a:path h="1920240" w="21634704">
                  <a:moveTo>
                    <a:pt x="0" y="0"/>
                  </a:moveTo>
                  <a:lnTo>
                    <a:pt x="21634704" y="0"/>
                  </a:lnTo>
                  <a:lnTo>
                    <a:pt x="21634704" y="1920240"/>
                  </a:lnTo>
                  <a:lnTo>
                    <a:pt x="0" y="1920240"/>
                  </a:lnTo>
                  <a:close/>
                </a:path>
              </a:pathLst>
            </a:custGeom>
            <a:blipFill>
              <a:blip r:embed="rId3">
                <a:alphaModFix amt="0"/>
              </a:blip>
              <a:stretch>
                <a:fillRect l="0" t="-163964" r="2535" b="-163964"/>
              </a:stretch>
            </a:blipFill>
          </p:spPr>
        </p:sp>
        <p:sp>
          <p:nvSpPr>
            <p:cNvPr name="TextBox 37" id="37"/>
            <p:cNvSpPr txBox="true"/>
            <p:nvPr/>
          </p:nvSpPr>
          <p:spPr>
            <a:xfrm>
              <a:off x="0" y="-57150"/>
              <a:ext cx="21634704" cy="1977390"/>
            </a:xfrm>
            <a:prstGeom prst="rect">
              <a:avLst/>
            </a:prstGeom>
          </p:spPr>
          <p:txBody>
            <a:bodyPr anchor="ctr" rtlCol="false" tIns="0" lIns="0" bIns="0" rIns="0"/>
            <a:lstStyle/>
            <a:p>
              <a:pPr algn="l">
                <a:lnSpc>
                  <a:spcPts val="2332"/>
                </a:lnSpc>
              </a:pPr>
              <a:r>
                <a:rPr lang="en-US" sz="1800">
                  <a:solidFill>
                    <a:srgbClr val="39454E"/>
                  </a:solidFill>
                  <a:latin typeface="Calibri (MS)"/>
                  <a:ea typeface="Calibri (MS)"/>
                  <a:cs typeface="Calibri (MS)"/>
                  <a:sym typeface="Calibri (MS)"/>
                </a:rPr>
                <a:t>A tuned fixed weight (λphys = 0.1) versus learnable homoscedastic uncertainty weighting (Kendall et al., 2018), where per-task noise terms set the balance automatically.</a:t>
              </a:r>
            </a:p>
            <a:p>
              <a:pPr algn="l">
                <a:lnSpc>
                  <a:spcPts val="2332"/>
                </a:lnSpc>
              </a:pPr>
              <a:r>
                <a:rPr lang="en-US" sz="1800" i="true">
                  <a:solidFill>
                    <a:srgbClr val="6E7A83"/>
                  </a:solidFill>
                  <a:latin typeface="Calibri (MS) Italics"/>
                  <a:ea typeface="Calibri (MS) Italics"/>
                  <a:cs typeface="Calibri (MS) Italics"/>
                  <a:sym typeface="Calibri (MS) Italics"/>
                </a:rPr>
                <a:t>Note: Optuna's Bayesian TPE (hyperparameter search) is distinct from the Bayesian uncertainty-weighted loss — two different ideas, kept clearly separate.</a:t>
              </a:r>
            </a:p>
          </p:txBody>
        </p:sp>
      </p:grpSp>
      <p:grpSp>
        <p:nvGrpSpPr>
          <p:cNvPr name="Group 38" id="38"/>
          <p:cNvGrpSpPr/>
          <p:nvPr/>
        </p:nvGrpSpPr>
        <p:grpSpPr>
          <a:xfrm rot="0">
            <a:off x="822960" y="9683496"/>
            <a:ext cx="8229600" cy="411480"/>
            <a:chOff x="0" y="0"/>
            <a:chExt cx="10972800" cy="548640"/>
          </a:xfrm>
        </p:grpSpPr>
        <p:sp>
          <p:nvSpPr>
            <p:cNvPr name="Freeform 39" id="3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40" id="40"/>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6E7A83"/>
                  </a:solidFill>
                  <a:latin typeface="Calibri (MS)"/>
                  <a:ea typeface="Calibri (MS)"/>
                  <a:cs typeface="Calibri (MS)"/>
                  <a:sym typeface="Calibri (MS)"/>
                </a:rPr>
                <a:t>Rajat Sharma · CH24M559 · IIT Madras</a:t>
              </a:r>
            </a:p>
          </p:txBody>
        </p:sp>
      </p:grpSp>
      <p:grpSp>
        <p:nvGrpSpPr>
          <p:cNvPr name="Group 41" id="41"/>
          <p:cNvGrpSpPr/>
          <p:nvPr/>
        </p:nvGrpSpPr>
        <p:grpSpPr>
          <a:xfrm rot="0">
            <a:off x="16637508" y="9683496"/>
            <a:ext cx="822960" cy="411480"/>
            <a:chOff x="0" y="0"/>
            <a:chExt cx="1097280" cy="548640"/>
          </a:xfrm>
        </p:grpSpPr>
        <p:sp>
          <p:nvSpPr>
            <p:cNvPr name="Freeform 42" id="42"/>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3">
                <a:alphaModFix amt="0"/>
              </a:blip>
              <a:stretch>
                <a:fillRect l="-14151" t="0" r="-14151" b="0"/>
              </a:stretch>
            </a:blipFill>
          </p:spPr>
        </p:sp>
        <p:sp>
          <p:nvSpPr>
            <p:cNvPr name="TextBox 43" id="43"/>
            <p:cNvSpPr txBox="true"/>
            <p:nvPr/>
          </p:nvSpPr>
          <p:spPr>
            <a:xfrm>
              <a:off x="0" y="-38100"/>
              <a:ext cx="1097280" cy="586740"/>
            </a:xfrm>
            <a:prstGeom prst="rect">
              <a:avLst/>
            </a:prstGeom>
          </p:spPr>
          <p:txBody>
            <a:bodyPr anchor="ctr" rtlCol="false" tIns="0" lIns="0" bIns="0" rIns="0"/>
            <a:lstStyle/>
            <a:p>
              <a:pPr algn="r">
                <a:lnSpc>
                  <a:spcPts val="1709"/>
                </a:lnSpc>
              </a:pPr>
              <a:r>
                <a:rPr lang="en-US" sz="1425">
                  <a:solidFill>
                    <a:srgbClr val="6E7A83"/>
                  </a:solidFill>
                  <a:latin typeface="Calibri (MS)"/>
                  <a:ea typeface="Calibri (MS)"/>
                  <a:cs typeface="Calibri (MS)"/>
                  <a:sym typeface="Calibri (MS)"/>
                </a:rPr>
                <a:t>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BF0F1"/>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16637508" cy="391408"/>
            <a:chOff x="0" y="0"/>
            <a:chExt cx="22183344" cy="521878"/>
          </a:xfrm>
        </p:grpSpPr>
        <p:sp>
          <p:nvSpPr>
            <p:cNvPr name="Freeform 3" id="3"/>
            <p:cNvSpPr/>
            <p:nvPr/>
          </p:nvSpPr>
          <p:spPr>
            <a:xfrm flipH="false" flipV="false" rot="0">
              <a:off x="0" y="0"/>
              <a:ext cx="22183344" cy="521878"/>
            </a:xfrm>
            <a:custGeom>
              <a:avLst/>
              <a:gdLst/>
              <a:ahLst/>
              <a:cxnLst/>
              <a:rect r="r" b="b" t="t" l="l"/>
              <a:pathLst>
                <a:path h="521878" w="22183344">
                  <a:moveTo>
                    <a:pt x="0" y="0"/>
                  </a:moveTo>
                  <a:lnTo>
                    <a:pt x="22183344" y="0"/>
                  </a:lnTo>
                  <a:lnTo>
                    <a:pt x="22183344" y="521878"/>
                  </a:lnTo>
                  <a:lnTo>
                    <a:pt x="0" y="521878"/>
                  </a:lnTo>
                  <a:close/>
                </a:path>
              </a:pathLst>
            </a:custGeom>
            <a:blipFill>
              <a:blip r:embed="rId3">
                <a:alphaModFix amt="0"/>
              </a:blip>
              <a:stretch>
                <a:fillRect l="0" t="-782690" r="0" b="-773801"/>
              </a:stretch>
            </a:blipFill>
          </p:spPr>
        </p:sp>
        <p:sp>
          <p:nvSpPr>
            <p:cNvPr name="TextBox 4" id="4"/>
            <p:cNvSpPr txBox="true"/>
            <p:nvPr/>
          </p:nvSpPr>
          <p:spPr>
            <a:xfrm>
              <a:off x="0" y="-47625"/>
              <a:ext cx="22183344" cy="569503"/>
            </a:xfrm>
            <a:prstGeom prst="rect">
              <a:avLst/>
            </a:prstGeom>
          </p:spPr>
          <p:txBody>
            <a:bodyPr anchor="ctr" rtlCol="false" tIns="0" lIns="0" bIns="0" rIns="0"/>
            <a:lstStyle/>
            <a:p>
              <a:pPr algn="l">
                <a:lnSpc>
                  <a:spcPts val="2339"/>
                </a:lnSpc>
              </a:pPr>
              <a:r>
                <a:rPr lang="en-US" b="true" sz="1949" spc="425">
                  <a:solidFill>
                    <a:srgbClr val="1A5B6E"/>
                  </a:solidFill>
                  <a:latin typeface="Calibri (MS) Bold"/>
                  <a:ea typeface="Calibri (MS) Bold"/>
                  <a:cs typeface="Calibri (MS) Bold"/>
                  <a:sym typeface="Calibri (MS) Bold"/>
                </a:rPr>
                <a:t>DATASETS</a:t>
              </a:r>
            </a:p>
          </p:txBody>
        </p:sp>
      </p:grpSp>
      <p:grpSp>
        <p:nvGrpSpPr>
          <p:cNvPr name="Group 5" id="5"/>
          <p:cNvGrpSpPr/>
          <p:nvPr/>
        </p:nvGrpSpPr>
        <p:grpSpPr>
          <a:xfrm rot="0">
            <a:off x="822960" y="960120"/>
            <a:ext cx="16637508" cy="850392"/>
            <a:chOff x="0" y="0"/>
            <a:chExt cx="22183344" cy="1133856"/>
          </a:xfrm>
        </p:grpSpPr>
        <p:sp>
          <p:nvSpPr>
            <p:cNvPr name="Freeform 6" id="6"/>
            <p:cNvSpPr/>
            <p:nvPr/>
          </p:nvSpPr>
          <p:spPr>
            <a:xfrm flipH="false" flipV="false" rot="0">
              <a:off x="0" y="0"/>
              <a:ext cx="22183344" cy="1133856"/>
            </a:xfrm>
            <a:custGeom>
              <a:avLst/>
              <a:gdLst/>
              <a:ahLst/>
              <a:cxnLst/>
              <a:rect r="r" b="b" t="t" l="l"/>
              <a:pathLst>
                <a:path h="1133856" w="22183344">
                  <a:moveTo>
                    <a:pt x="0" y="0"/>
                  </a:moveTo>
                  <a:lnTo>
                    <a:pt x="22183344" y="0"/>
                  </a:lnTo>
                  <a:lnTo>
                    <a:pt x="22183344" y="1133856"/>
                  </a:lnTo>
                  <a:lnTo>
                    <a:pt x="0" y="1133856"/>
                  </a:lnTo>
                  <a:close/>
                </a:path>
              </a:pathLst>
            </a:custGeom>
            <a:blipFill>
              <a:blip r:embed="rId3">
                <a:alphaModFix amt="0"/>
              </a:blip>
              <a:stretch>
                <a:fillRect l="0" t="-331215" r="0" b="-331215"/>
              </a:stretch>
            </a:blipFill>
          </p:spPr>
        </p:sp>
        <p:sp>
          <p:nvSpPr>
            <p:cNvPr name="TextBox 7" id="7"/>
            <p:cNvSpPr txBox="true"/>
            <p:nvPr/>
          </p:nvSpPr>
          <p:spPr>
            <a:xfrm>
              <a:off x="0" y="-9525"/>
              <a:ext cx="22183344" cy="1143381"/>
            </a:xfrm>
            <a:prstGeom prst="rect">
              <a:avLst/>
            </a:prstGeom>
          </p:spPr>
          <p:txBody>
            <a:bodyPr anchor="ctr" rtlCol="false" tIns="0" lIns="0" bIns="0" rIns="0"/>
            <a:lstStyle/>
            <a:p>
              <a:pPr algn="l">
                <a:lnSpc>
                  <a:spcPts val="5220"/>
                </a:lnSpc>
              </a:pPr>
              <a:r>
                <a:rPr lang="en-US" sz="4350" b="true">
                  <a:solidFill>
                    <a:srgbClr val="1B2A33"/>
                  </a:solidFill>
                  <a:latin typeface="Cambria Bold"/>
                  <a:ea typeface="Cambria Bold"/>
                  <a:cs typeface="Cambria Bold"/>
                  <a:sym typeface="Cambria Bold"/>
                </a:rPr>
                <a:t>NASA PCoE and CALCE CS2_35</a:t>
              </a:r>
            </a:p>
          </p:txBody>
        </p:sp>
      </p:grpSp>
      <p:grpSp>
        <p:nvGrpSpPr>
          <p:cNvPr name="Group 8" id="8"/>
          <p:cNvGrpSpPr/>
          <p:nvPr/>
        </p:nvGrpSpPr>
        <p:grpSpPr>
          <a:xfrm rot="0">
            <a:off x="813435" y="2185035"/>
            <a:ext cx="8660130" cy="5742813"/>
            <a:chOff x="0" y="0"/>
            <a:chExt cx="11546840" cy="7657084"/>
          </a:xfrm>
        </p:grpSpPr>
        <p:sp>
          <p:nvSpPr>
            <p:cNvPr name="Freeform 9" id="9"/>
            <p:cNvSpPr/>
            <p:nvPr/>
          </p:nvSpPr>
          <p:spPr>
            <a:xfrm flipH="false" flipV="false" rot="0">
              <a:off x="0" y="0"/>
              <a:ext cx="11546840" cy="7657084"/>
            </a:xfrm>
            <a:custGeom>
              <a:avLst/>
              <a:gdLst/>
              <a:ahLst/>
              <a:cxnLst/>
              <a:rect r="r" b="b" t="t" l="l"/>
              <a:pathLst>
                <a:path h="7657084" w="11546840">
                  <a:moveTo>
                    <a:pt x="0" y="148085"/>
                  </a:moveTo>
                  <a:cubicBezTo>
                    <a:pt x="0" y="66287"/>
                    <a:pt x="57531" y="0"/>
                    <a:pt x="128524" y="0"/>
                  </a:cubicBezTo>
                  <a:lnTo>
                    <a:pt x="11418316" y="0"/>
                  </a:lnTo>
                  <a:cubicBezTo>
                    <a:pt x="11489310" y="0"/>
                    <a:pt x="11546840" y="66287"/>
                    <a:pt x="11546840" y="148085"/>
                  </a:cubicBezTo>
                  <a:lnTo>
                    <a:pt x="11546840" y="7508999"/>
                  </a:lnTo>
                  <a:cubicBezTo>
                    <a:pt x="11546840" y="7590797"/>
                    <a:pt x="11489310" y="7657084"/>
                    <a:pt x="11418316" y="7657084"/>
                  </a:cubicBezTo>
                  <a:lnTo>
                    <a:pt x="128524" y="7657084"/>
                  </a:lnTo>
                  <a:cubicBezTo>
                    <a:pt x="57531" y="7657085"/>
                    <a:pt x="0" y="7590797"/>
                    <a:pt x="0" y="7508999"/>
                  </a:cubicBezTo>
                  <a:close/>
                </a:path>
              </a:pathLst>
            </a:custGeom>
            <a:solidFill>
              <a:srgbClr val="FFFFFF"/>
            </a:solidFill>
            <a:ln w="19050" cap="sq">
              <a:solidFill>
                <a:srgbClr val="CFDBDC"/>
              </a:solidFill>
              <a:prstDash val="solid"/>
              <a:miter/>
            </a:ln>
          </p:spPr>
        </p:sp>
      </p:grpSp>
      <p:graphicFrame>
        <p:nvGraphicFramePr>
          <p:cNvPr name="Table 10" id="10"/>
          <p:cNvGraphicFramePr>
            <a:graphicFrameLocks noGrp="true"/>
          </p:cNvGraphicFramePr>
          <p:nvPr/>
        </p:nvGraphicFramePr>
        <p:xfrm>
          <a:off x="1028700" y="2414016"/>
          <a:ext cx="8115300" cy="5354718"/>
        </p:xfrm>
        <a:graphic>
          <a:graphicData uri="http://schemas.openxmlformats.org/drawingml/2006/table">
            <a:tbl>
              <a:tblPr/>
              <a:tblGrid>
                <a:gridCol w="1635113"/>
                <a:gridCol w="3344179"/>
                <a:gridCol w="3136008"/>
              </a:tblGrid>
              <a:tr h="709962">
                <a:tc>
                  <a:txBody>
                    <a:bodyPr anchor="t" rtlCol="false"/>
                    <a:lstStyle/>
                    <a:p>
                      <a:pPr algn="ctr">
                        <a:lnSpc>
                          <a:spcPts val="1679"/>
                        </a:lnSpc>
                        <a:defRPr/>
                      </a:pPr>
                      <a:endParaRPr lang="en-US" sz="1100"/>
                    </a:p>
                  </a:txBody>
                  <a:tcPr marL="64008" marR="64008" marT="64008" marB="64008" anchor="ctr">
                    <a:lnL cmpd="sng" algn="ctr" cap="flat" w="38100">
                      <a:solidFill>
                        <a:srgbClr val="CFDBDC"/>
                      </a:solidFill>
                      <a:prstDash val="solid"/>
                      <a:round/>
                      <a:headEnd type="none" w="med" len="med"/>
                      <a:tailEnd type="none" w="med" len="med"/>
                    </a:lnL>
                    <a:lnR cmpd="sng" algn="ctr" cap="flat" w="38100">
                      <a:solidFill>
                        <a:srgbClr val="CFDBDC"/>
                      </a:solidFill>
                      <a:prstDash val="solid"/>
                      <a:round/>
                      <a:headEnd type="none" w="med" len="med"/>
                      <a:tailEnd type="none" w="med" len="med"/>
                    </a:lnR>
                    <a:lnT cmpd="sng" algn="ctr" cap="flat" w="38100">
                      <a:solidFill>
                        <a:srgbClr val="CFDBDC"/>
                      </a:solidFill>
                      <a:prstDash val="solid"/>
                      <a:round/>
                      <a:headEnd type="none" w="med" len="med"/>
                      <a:tailEnd type="none" w="med" len="med"/>
                    </a:lnT>
                    <a:lnB cmpd="sng" algn="ctr" cap="flat" w="38100">
                      <a:solidFill>
                        <a:srgbClr val="CFDBDC"/>
                      </a:solidFill>
                      <a:prstDash val="solid"/>
                      <a:round/>
                      <a:headEnd type="none" w="med" len="med"/>
                      <a:tailEnd type="none" w="med" len="med"/>
                    </a:lnB>
                    <a:solidFill>
                      <a:srgbClr val="1A5B6E"/>
                    </a:solidFill>
                  </a:tcPr>
                </a:tc>
                <a:tc>
                  <a:txBody>
                    <a:bodyPr anchor="t" rtlCol="false"/>
                    <a:lstStyle/>
                    <a:p>
                      <a:pPr algn="ctr">
                        <a:lnSpc>
                          <a:spcPts val="2129"/>
                        </a:lnSpc>
                        <a:defRPr/>
                      </a:pPr>
                      <a:r>
                        <a:rPr lang="en-US" sz="1774" b="true">
                          <a:solidFill>
                            <a:srgbClr val="FFFFFF"/>
                          </a:solidFill>
                          <a:latin typeface="Calibri (MS) Bold"/>
                          <a:ea typeface="Calibri (MS) Bold"/>
                          <a:cs typeface="Calibri (MS) Bold"/>
                          <a:sym typeface="Calibri (MS) Bold"/>
                        </a:rPr>
                        <a:t>NASA PCoE (B0005/06/07/18)</a:t>
                      </a:r>
                      <a:endParaRPr lang="en-US" sz="1100"/>
                    </a:p>
                  </a:txBody>
                  <a:tcPr marL="64008" marR="64008" marT="64008" marB="64008" anchor="ctr">
                    <a:lnL cmpd="sng" algn="ctr" cap="flat" w="38100">
                      <a:solidFill>
                        <a:srgbClr val="CFDBDC"/>
                      </a:solidFill>
                      <a:prstDash val="solid"/>
                      <a:round/>
                      <a:headEnd type="none" w="med" len="med"/>
                      <a:tailEnd type="none" w="med" len="med"/>
                    </a:lnL>
                    <a:lnR cmpd="sng" algn="ctr" cap="flat" w="9525">
                      <a:solidFill>
                        <a:srgbClr val="CFDBDC"/>
                      </a:solidFill>
                      <a:prstDash val="solid"/>
                      <a:round/>
                      <a:headEnd type="none" w="med" len="med"/>
                      <a:tailEnd type="none" w="med" len="med"/>
                    </a:lnR>
                    <a:lnT cmpd="sng" algn="ctr" cap="flat" w="952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1A5B6E"/>
                    </a:solidFill>
                  </a:tcPr>
                </a:tc>
                <a:tc>
                  <a:txBody>
                    <a:bodyPr anchor="t" rtlCol="false"/>
                    <a:lstStyle/>
                    <a:p>
                      <a:pPr algn="ctr">
                        <a:lnSpc>
                          <a:spcPts val="2129"/>
                        </a:lnSpc>
                        <a:defRPr/>
                      </a:pPr>
                      <a:r>
                        <a:rPr lang="en-US" sz="1774" b="true">
                          <a:solidFill>
                            <a:srgbClr val="FFFFFF"/>
                          </a:solidFill>
                          <a:latin typeface="Calibri (MS) Bold"/>
                          <a:ea typeface="Calibri (MS) Bold"/>
                          <a:cs typeface="Calibri (MS) Bold"/>
                          <a:sym typeface="Calibri (MS) Bold"/>
                        </a:rPr>
                        <a:t>CALCE CS2_35</a:t>
                      </a:r>
                      <a:endParaRPr lang="en-US" sz="1100"/>
                    </a:p>
                  </a:txBody>
                  <a:tcPr marL="64008" marR="64008" marT="64008" marB="64008" anchor="ctr">
                    <a:lnL cmpd="sng" algn="ctr" cap="flat" w="9525">
                      <a:solidFill>
                        <a:srgbClr val="CFDBDC"/>
                      </a:solidFill>
                      <a:prstDash val="solid"/>
                      <a:round/>
                      <a:headEnd type="none" w="med" len="med"/>
                      <a:tailEnd type="none" w="med" len="med"/>
                    </a:lnL>
                    <a:lnR cmpd="sng" algn="ctr" cap="flat" w="9525">
                      <a:solidFill>
                        <a:srgbClr val="CFDBDC"/>
                      </a:solidFill>
                      <a:prstDash val="solid"/>
                      <a:round/>
                      <a:headEnd type="none" w="med" len="med"/>
                      <a:tailEnd type="none" w="med" len="med"/>
                    </a:lnR>
                    <a:lnT cmpd="sng" algn="ctr" cap="flat" w="952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1A5B6E"/>
                    </a:solidFill>
                  </a:tcPr>
                </a:tc>
              </a:tr>
              <a:tr h="687884">
                <a:tc>
                  <a:txBody>
                    <a:bodyPr anchor="t" rtlCol="false"/>
                    <a:lstStyle/>
                    <a:p>
                      <a:pPr algn="ctr">
                        <a:lnSpc>
                          <a:spcPts val="2279"/>
                        </a:lnSpc>
                        <a:defRPr/>
                      </a:pPr>
                      <a:r>
                        <a:rPr lang="en-US" sz="1899" b="true">
                          <a:solidFill>
                            <a:srgbClr val="1B2A33"/>
                          </a:solidFill>
                          <a:latin typeface="Calibri (MS) Bold"/>
                          <a:ea typeface="Calibri (MS) Bold"/>
                          <a:cs typeface="Calibri (MS) Bold"/>
                          <a:sym typeface="Calibri (MS) Bold"/>
                        </a:rPr>
                        <a:t>Cell</a:t>
                      </a:r>
                      <a:endParaRPr lang="en-US" sz="1100"/>
                    </a:p>
                  </a:txBody>
                  <a:tcPr marL="64008" marR="64008" marT="64008" marB="64008" anchor="ctr">
                    <a:lnL cmpd="sng" algn="ctr" cap="flat" w="38100">
                      <a:solidFill>
                        <a:srgbClr val="CFDBDC"/>
                      </a:solidFill>
                      <a:prstDash val="solid"/>
                      <a:round/>
                      <a:headEnd type="none" w="med" len="med"/>
                      <a:tailEnd type="none" w="med" len="med"/>
                    </a:lnL>
                    <a:lnR cmpd="sng" algn="ctr" cap="flat" w="38100">
                      <a:solidFill>
                        <a:srgbClr val="CFDBDC"/>
                      </a:solidFill>
                      <a:prstDash val="solid"/>
                      <a:round/>
                      <a:headEnd type="none" w="med" len="med"/>
                      <a:tailEnd type="none" w="med" len="med"/>
                    </a:lnR>
                    <a:lnT cmpd="sng" algn="ctr" cap="flat" w="38100">
                      <a:solidFill>
                        <a:srgbClr val="CFDBDC"/>
                      </a:solidFill>
                      <a:prstDash val="solid"/>
                      <a:round/>
                      <a:headEnd type="none" w="med" len="med"/>
                      <a:tailEnd type="none" w="med" len="med"/>
                    </a:lnT>
                    <a:lnB cmpd="sng" algn="ctr" cap="flat" w="38100">
                      <a:solidFill>
                        <a:srgbClr val="CFDBDC"/>
                      </a:solidFill>
                      <a:prstDash val="solid"/>
                      <a:round/>
                      <a:headEnd type="none" w="med" len="med"/>
                      <a:tailEnd type="none" w="med" len="med"/>
                    </a:lnB>
                    <a:solidFill>
                      <a:srgbClr val="E0EBEC"/>
                    </a:solidFill>
                  </a:tcPr>
                </a:tc>
                <a:tc>
                  <a:txBody>
                    <a:bodyPr anchor="t" rtlCol="false"/>
                    <a:lstStyle/>
                    <a:p>
                      <a:pPr algn="ctr">
                        <a:lnSpc>
                          <a:spcPts val="2039"/>
                        </a:lnSpc>
                        <a:defRPr/>
                      </a:pPr>
                      <a:r>
                        <a:rPr lang="en-US" sz="1699">
                          <a:solidFill>
                            <a:srgbClr val="39454E"/>
                          </a:solidFill>
                          <a:latin typeface="Calibri (MS)"/>
                          <a:ea typeface="Calibri (MS)"/>
                          <a:cs typeface="Calibri (MS)"/>
                          <a:sym typeface="Calibri (MS)"/>
                        </a:rPr>
                        <a:t>LiCoO₂, 18650 cylindrical</a:t>
                      </a:r>
                      <a:endParaRPr lang="en-US" sz="1100"/>
                    </a:p>
                  </a:txBody>
                  <a:tcPr marL="64008" marR="64008" marT="64008" marB="64008" anchor="ctr">
                    <a:lnL cmpd="sng" algn="ctr" cap="flat" w="38100">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c>
                  <a:txBody>
                    <a:bodyPr anchor="t" rtlCol="false"/>
                    <a:lstStyle/>
                    <a:p>
                      <a:pPr algn="ctr">
                        <a:lnSpc>
                          <a:spcPts val="2039"/>
                        </a:lnSpc>
                        <a:defRPr/>
                      </a:pPr>
                      <a:r>
                        <a:rPr lang="en-US" sz="1699">
                          <a:solidFill>
                            <a:srgbClr val="39454E"/>
                          </a:solidFill>
                          <a:latin typeface="Calibri (MS)"/>
                          <a:ea typeface="Calibri (MS)"/>
                          <a:cs typeface="Calibri (MS)"/>
                          <a:sym typeface="Calibri (MS)"/>
                        </a:rPr>
                        <a:t>LiCoO₂, prismatic</a:t>
                      </a:r>
                      <a:endParaRPr lang="en-US" sz="1100"/>
                    </a:p>
                  </a:txBody>
                  <a:tcPr marL="64008" marR="64008" marT="64008" marB="64008"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r>
              <a:tr h="844207">
                <a:tc>
                  <a:txBody>
                    <a:bodyPr anchor="t" rtlCol="false"/>
                    <a:lstStyle/>
                    <a:p>
                      <a:pPr algn="ctr">
                        <a:lnSpc>
                          <a:spcPts val="2279"/>
                        </a:lnSpc>
                        <a:defRPr/>
                      </a:pPr>
                      <a:r>
                        <a:rPr lang="en-US" sz="1899" b="true">
                          <a:solidFill>
                            <a:srgbClr val="1B2A33"/>
                          </a:solidFill>
                          <a:latin typeface="Calibri (MS) Bold"/>
                          <a:ea typeface="Calibri (MS) Bold"/>
                          <a:cs typeface="Calibri (MS) Bold"/>
                          <a:sym typeface="Calibri (MS) Bold"/>
                        </a:rPr>
                        <a:t>Rated capacity</a:t>
                      </a:r>
                      <a:endParaRPr lang="en-US" sz="1100"/>
                    </a:p>
                  </a:txBody>
                  <a:tcPr marL="64008" marR="64008" marT="64008" marB="64008" anchor="ctr">
                    <a:lnL cmpd="sng" algn="ctr" cap="flat" w="38100">
                      <a:solidFill>
                        <a:srgbClr val="CFDBDC"/>
                      </a:solidFill>
                      <a:prstDash val="solid"/>
                      <a:round/>
                      <a:headEnd type="none" w="med" len="med"/>
                      <a:tailEnd type="none" w="med" len="med"/>
                    </a:lnL>
                    <a:lnR cmpd="sng" algn="ctr" cap="flat" w="38100">
                      <a:solidFill>
                        <a:srgbClr val="CFDBDC"/>
                      </a:solidFill>
                      <a:prstDash val="solid"/>
                      <a:round/>
                      <a:headEnd type="none" w="med" len="med"/>
                      <a:tailEnd type="none" w="med" len="med"/>
                    </a:lnR>
                    <a:lnT cmpd="sng" algn="ctr" cap="flat" w="38100">
                      <a:solidFill>
                        <a:srgbClr val="CFDBDC"/>
                      </a:solidFill>
                      <a:prstDash val="solid"/>
                      <a:round/>
                      <a:headEnd type="none" w="med" len="med"/>
                      <a:tailEnd type="none" w="med" len="med"/>
                    </a:lnT>
                    <a:lnB cmpd="sng" algn="ctr" cap="flat" w="38100">
                      <a:solidFill>
                        <a:srgbClr val="CFDBDC"/>
                      </a:solidFill>
                      <a:prstDash val="solid"/>
                      <a:round/>
                      <a:headEnd type="none" w="med" len="med"/>
                      <a:tailEnd type="none" w="med" len="med"/>
                    </a:lnB>
                    <a:solidFill>
                      <a:srgbClr val="E0EBEC"/>
                    </a:solidFill>
                  </a:tcPr>
                </a:tc>
                <a:tc>
                  <a:txBody>
                    <a:bodyPr anchor="t" rtlCol="false"/>
                    <a:lstStyle/>
                    <a:p>
                      <a:pPr algn="ctr">
                        <a:lnSpc>
                          <a:spcPts val="2039"/>
                        </a:lnSpc>
                        <a:defRPr/>
                      </a:pPr>
                      <a:r>
                        <a:rPr lang="en-US" sz="1699">
                          <a:solidFill>
                            <a:srgbClr val="39454E"/>
                          </a:solidFill>
                          <a:latin typeface="Calibri (MS)"/>
                          <a:ea typeface="Calibri (MS)"/>
                          <a:cs typeface="Calibri (MS)"/>
                          <a:sym typeface="Calibri (MS)"/>
                        </a:rPr>
                        <a:t>2.0 Ah</a:t>
                      </a:r>
                      <a:endParaRPr lang="en-US" sz="1100"/>
                    </a:p>
                  </a:txBody>
                  <a:tcPr marL="64008" marR="64008" marT="64008" marB="64008" anchor="ctr">
                    <a:lnL cmpd="sng" algn="ctr" cap="flat" w="38100">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c>
                  <a:txBody>
                    <a:bodyPr anchor="t" rtlCol="false"/>
                    <a:lstStyle/>
                    <a:p>
                      <a:pPr algn="ctr">
                        <a:lnSpc>
                          <a:spcPts val="2039"/>
                        </a:lnSpc>
                        <a:defRPr/>
                      </a:pPr>
                      <a:r>
                        <a:rPr lang="en-US" sz="1699">
                          <a:solidFill>
                            <a:srgbClr val="39454E"/>
                          </a:solidFill>
                          <a:latin typeface="Calibri (MS)"/>
                          <a:ea typeface="Calibri (MS)"/>
                          <a:cs typeface="Calibri (MS)"/>
                          <a:sym typeface="Calibri (MS)"/>
                        </a:rPr>
                        <a:t>1.1 Ah</a:t>
                      </a:r>
                      <a:endParaRPr lang="en-US" sz="1100"/>
                    </a:p>
                  </a:txBody>
                  <a:tcPr marL="64008" marR="64008" marT="64008" marB="64008"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r>
              <a:tr h="687884">
                <a:tc>
                  <a:txBody>
                    <a:bodyPr anchor="t" rtlCol="false"/>
                    <a:lstStyle/>
                    <a:p>
                      <a:pPr algn="ctr">
                        <a:lnSpc>
                          <a:spcPts val="2279"/>
                        </a:lnSpc>
                        <a:defRPr/>
                      </a:pPr>
                      <a:r>
                        <a:rPr lang="en-US" sz="1899" b="true">
                          <a:solidFill>
                            <a:srgbClr val="1B2A33"/>
                          </a:solidFill>
                          <a:latin typeface="Calibri (MS) Bold"/>
                          <a:ea typeface="Calibri (MS) Bold"/>
                          <a:cs typeface="Calibri (MS) Bold"/>
                          <a:sym typeface="Calibri (MS) Bold"/>
                        </a:rPr>
                        <a:t>Cycles</a:t>
                      </a:r>
                      <a:endParaRPr lang="en-US" sz="1100"/>
                    </a:p>
                  </a:txBody>
                  <a:tcPr marL="64008" marR="64008" marT="64008" marB="64008" anchor="ctr">
                    <a:lnL cmpd="sng" algn="ctr" cap="flat" w="38100">
                      <a:solidFill>
                        <a:srgbClr val="CFDBDC"/>
                      </a:solidFill>
                      <a:prstDash val="solid"/>
                      <a:round/>
                      <a:headEnd type="none" w="med" len="med"/>
                      <a:tailEnd type="none" w="med" len="med"/>
                    </a:lnL>
                    <a:lnR cmpd="sng" algn="ctr" cap="flat" w="38100">
                      <a:solidFill>
                        <a:srgbClr val="CFDBDC"/>
                      </a:solidFill>
                      <a:prstDash val="solid"/>
                      <a:round/>
                      <a:headEnd type="none" w="med" len="med"/>
                      <a:tailEnd type="none" w="med" len="med"/>
                    </a:lnR>
                    <a:lnT cmpd="sng" algn="ctr" cap="flat" w="38100">
                      <a:solidFill>
                        <a:srgbClr val="CFDBDC"/>
                      </a:solidFill>
                      <a:prstDash val="solid"/>
                      <a:round/>
                      <a:headEnd type="none" w="med" len="med"/>
                      <a:tailEnd type="none" w="med" len="med"/>
                    </a:lnT>
                    <a:lnB cmpd="sng" algn="ctr" cap="flat" w="38100">
                      <a:solidFill>
                        <a:srgbClr val="CFDBDC"/>
                      </a:solidFill>
                      <a:prstDash val="solid"/>
                      <a:round/>
                      <a:headEnd type="none" w="med" len="med"/>
                      <a:tailEnd type="none" w="med" len="med"/>
                    </a:lnB>
                    <a:solidFill>
                      <a:srgbClr val="E0EBEC"/>
                    </a:solidFill>
                  </a:tcPr>
                </a:tc>
                <a:tc>
                  <a:txBody>
                    <a:bodyPr anchor="t" rtlCol="false"/>
                    <a:lstStyle/>
                    <a:p>
                      <a:pPr algn="ctr">
                        <a:lnSpc>
                          <a:spcPts val="2039"/>
                        </a:lnSpc>
                        <a:defRPr/>
                      </a:pPr>
                      <a:r>
                        <a:rPr lang="en-US" sz="1699">
                          <a:solidFill>
                            <a:srgbClr val="39454E"/>
                          </a:solidFill>
                          <a:latin typeface="Calibri (MS)"/>
                          <a:ea typeface="Calibri (MS)"/>
                          <a:cs typeface="Calibri (MS)"/>
                          <a:sym typeface="Calibri (MS)"/>
                        </a:rPr>
                        <a:t>168 / 168 / 168 / 132</a:t>
                      </a:r>
                      <a:endParaRPr lang="en-US" sz="1100"/>
                    </a:p>
                  </a:txBody>
                  <a:tcPr marL="64008" marR="64008" marT="64008" marB="64008" anchor="ctr">
                    <a:lnL cmpd="sng" algn="ctr" cap="flat" w="38100">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c>
                  <a:txBody>
                    <a:bodyPr anchor="t" rtlCol="false"/>
                    <a:lstStyle/>
                    <a:p>
                      <a:pPr algn="ctr">
                        <a:lnSpc>
                          <a:spcPts val="2039"/>
                        </a:lnSpc>
                        <a:defRPr/>
                      </a:pPr>
                      <a:r>
                        <a:rPr lang="en-US" sz="1699">
                          <a:solidFill>
                            <a:srgbClr val="39454E"/>
                          </a:solidFill>
                          <a:latin typeface="Calibri (MS)"/>
                          <a:ea typeface="Calibri (MS)"/>
                          <a:cs typeface="Calibri (MS)"/>
                          <a:sym typeface="Calibri (MS)"/>
                        </a:rPr>
                        <a:t>878  (260,931 records)</a:t>
                      </a:r>
                      <a:endParaRPr lang="en-US" sz="1100"/>
                    </a:p>
                  </a:txBody>
                  <a:tcPr marL="64008" marR="64008" marT="64008" marB="64008"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r>
              <a:tr h="1442685">
                <a:tc>
                  <a:txBody>
                    <a:bodyPr anchor="t" rtlCol="false"/>
                    <a:lstStyle/>
                    <a:p>
                      <a:pPr algn="ctr">
                        <a:lnSpc>
                          <a:spcPts val="2279"/>
                        </a:lnSpc>
                        <a:defRPr/>
                      </a:pPr>
                      <a:r>
                        <a:rPr lang="en-US" sz="1899" b="true">
                          <a:solidFill>
                            <a:srgbClr val="1B2A33"/>
                          </a:solidFill>
                          <a:latin typeface="Calibri (MS) Bold"/>
                          <a:ea typeface="Calibri (MS) Bold"/>
                          <a:cs typeface="Calibri (MS) Bold"/>
                          <a:sym typeface="Calibri (MS) Bold"/>
                        </a:rPr>
                        <a:t>Signature</a:t>
                      </a:r>
                      <a:endParaRPr lang="en-US" sz="1100"/>
                    </a:p>
                    <a:p>
                      <a:pPr algn="ctr">
                        <a:lnSpc>
                          <a:spcPts val="2279"/>
                        </a:lnSpc>
                      </a:pPr>
                      <a:r>
                        <a:rPr lang="en-US" sz="1899" b="true">
                          <a:solidFill>
                            <a:srgbClr val="1B2A33"/>
                          </a:solidFill>
                          <a:latin typeface="Calibri (MS) Bold"/>
                          <a:ea typeface="Calibri (MS) Bold"/>
                          <a:cs typeface="Calibri (MS) Bold"/>
                          <a:sym typeface="Calibri (MS) Bold"/>
                        </a:rPr>
                        <a:t>artifact</a:t>
                      </a:r>
                    </a:p>
                  </a:txBody>
                  <a:tcPr marL="64008" marR="64008" marT="64008" marB="64008" anchor="ctr">
                    <a:lnL cmpd="sng" algn="ctr" cap="flat" w="38100">
                      <a:solidFill>
                        <a:srgbClr val="CFDBDC"/>
                      </a:solidFill>
                      <a:prstDash val="solid"/>
                      <a:round/>
                      <a:headEnd type="none" w="med" len="med"/>
                      <a:tailEnd type="none" w="med" len="med"/>
                    </a:lnL>
                    <a:lnR cmpd="sng" algn="ctr" cap="flat" w="38100">
                      <a:solidFill>
                        <a:srgbClr val="CFDBDC"/>
                      </a:solidFill>
                      <a:prstDash val="solid"/>
                      <a:round/>
                      <a:headEnd type="none" w="med" len="med"/>
                      <a:tailEnd type="none" w="med" len="med"/>
                    </a:lnR>
                    <a:lnT cmpd="sng" algn="ctr" cap="flat" w="38100">
                      <a:solidFill>
                        <a:srgbClr val="CFDBDC"/>
                      </a:solidFill>
                      <a:prstDash val="solid"/>
                      <a:round/>
                      <a:headEnd type="none" w="med" len="med"/>
                      <a:tailEnd type="none" w="med" len="med"/>
                    </a:lnT>
                    <a:lnB cmpd="sng" algn="ctr" cap="flat" w="38100">
                      <a:solidFill>
                        <a:srgbClr val="CFDBDC"/>
                      </a:solidFill>
                      <a:prstDash val="solid"/>
                      <a:round/>
                      <a:headEnd type="none" w="med" len="med"/>
                      <a:tailEnd type="none" w="med" len="med"/>
                    </a:lnB>
                    <a:solidFill>
                      <a:srgbClr val="E0EBEC"/>
                    </a:solidFill>
                  </a:tcPr>
                </a:tc>
                <a:tc>
                  <a:txBody>
                    <a:bodyPr anchor="t" rtlCol="false"/>
                    <a:lstStyle/>
                    <a:p>
                      <a:pPr algn="ctr">
                        <a:lnSpc>
                          <a:spcPts val="2039"/>
                        </a:lnSpc>
                        <a:defRPr/>
                      </a:pPr>
                      <a:r>
                        <a:rPr lang="en-US" sz="1699">
                          <a:solidFill>
                            <a:srgbClr val="39454E"/>
                          </a:solidFill>
                          <a:latin typeface="Calibri (MS)"/>
                          <a:ea typeface="Calibri (MS)"/>
                          <a:cs typeface="Calibri (MS)"/>
                          <a:sym typeface="Calibri (MS)"/>
                        </a:rPr>
                        <a:t>Capacity regeneration — 36 upward “healing” jumps on B0005 (≤ 0.088 Ah)</a:t>
                      </a:r>
                      <a:endParaRPr lang="en-US" sz="1100"/>
                    </a:p>
                  </a:txBody>
                  <a:tcPr marL="64008" marR="64008" marT="64008" marB="64008" anchor="ctr">
                    <a:lnL cmpd="sng" algn="ctr" cap="flat" w="38100">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c>
                  <a:txBody>
                    <a:bodyPr anchor="t" rtlCol="false"/>
                    <a:lstStyle/>
                    <a:p>
                      <a:pPr algn="ctr">
                        <a:lnSpc>
                          <a:spcPts val="2039"/>
                        </a:lnSpc>
                        <a:defRPr/>
                      </a:pPr>
                      <a:r>
                        <a:rPr lang="en-US" sz="1699">
                          <a:solidFill>
                            <a:srgbClr val="39454E"/>
                          </a:solidFill>
                          <a:latin typeface="Calibri (MS)"/>
                          <a:ea typeface="Calibri (MS)"/>
                          <a:cs typeface="Calibri (MS)"/>
                          <a:sym typeface="Calibri (MS)"/>
                        </a:rPr>
                        <a:t>Knee-point ≈ cycle 650; 80% EOL ≈ cycle 585</a:t>
                      </a:r>
                      <a:endParaRPr lang="en-US" sz="1100"/>
                    </a:p>
                  </a:txBody>
                  <a:tcPr marL="64008" marR="64008" marT="64008" marB="64008"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r>
              <a:tr h="982097">
                <a:tc>
                  <a:txBody>
                    <a:bodyPr anchor="t" rtlCol="false"/>
                    <a:lstStyle/>
                    <a:p>
                      <a:pPr algn="ctr">
                        <a:lnSpc>
                          <a:spcPts val="2279"/>
                        </a:lnSpc>
                        <a:defRPr/>
                      </a:pPr>
                      <a:r>
                        <a:rPr lang="en-US" sz="1899" b="true">
                          <a:solidFill>
                            <a:srgbClr val="1B2A33"/>
                          </a:solidFill>
                          <a:latin typeface="Calibri (MS) Bold"/>
                          <a:ea typeface="Calibri (MS) Bold"/>
                          <a:cs typeface="Calibri (MS) Bold"/>
                          <a:sym typeface="Calibri (MS) Bold"/>
                        </a:rPr>
                        <a:t>Role in</a:t>
                      </a:r>
                      <a:endParaRPr lang="en-US" sz="1100"/>
                    </a:p>
                    <a:p>
                      <a:pPr algn="ctr">
                        <a:lnSpc>
                          <a:spcPts val="2279"/>
                        </a:lnSpc>
                      </a:pPr>
                      <a:r>
                        <a:rPr lang="en-US" sz="1899" b="true">
                          <a:solidFill>
                            <a:srgbClr val="1B2A33"/>
                          </a:solidFill>
                          <a:latin typeface="Calibri (MS) Bold"/>
                          <a:ea typeface="Calibri (MS) Bold"/>
                          <a:cs typeface="Calibri (MS) Bold"/>
                          <a:sym typeface="Calibri (MS) Bold"/>
                        </a:rPr>
                        <a:t>thesis</a:t>
                      </a:r>
                    </a:p>
                  </a:txBody>
                  <a:tcPr marL="64008" marR="64008" marT="64008" marB="64008" anchor="ctr">
                    <a:lnL cmpd="sng" algn="ctr" cap="flat" w="38100">
                      <a:solidFill>
                        <a:srgbClr val="CFDBDC"/>
                      </a:solidFill>
                      <a:prstDash val="solid"/>
                      <a:round/>
                      <a:headEnd type="none" w="med" len="med"/>
                      <a:tailEnd type="none" w="med" len="med"/>
                    </a:lnL>
                    <a:lnR cmpd="sng" algn="ctr" cap="flat" w="38100">
                      <a:solidFill>
                        <a:srgbClr val="CFDBDC"/>
                      </a:solidFill>
                      <a:prstDash val="solid"/>
                      <a:round/>
                      <a:headEnd type="none" w="med" len="med"/>
                      <a:tailEnd type="none" w="med" len="med"/>
                    </a:lnR>
                    <a:lnT cmpd="sng" algn="ctr" cap="flat" w="38100">
                      <a:solidFill>
                        <a:srgbClr val="CFDBDC"/>
                      </a:solidFill>
                      <a:prstDash val="solid"/>
                      <a:round/>
                      <a:headEnd type="none" w="med" len="med"/>
                      <a:tailEnd type="none" w="med" len="med"/>
                    </a:lnT>
                    <a:lnB cmpd="sng" algn="ctr" cap="flat" w="38100">
                      <a:solidFill>
                        <a:srgbClr val="CFDBDC"/>
                      </a:solidFill>
                      <a:prstDash val="solid"/>
                      <a:round/>
                      <a:headEnd type="none" w="med" len="med"/>
                      <a:tailEnd type="none" w="med" len="med"/>
                    </a:lnB>
                    <a:solidFill>
                      <a:srgbClr val="E0EBEC"/>
                    </a:solidFill>
                  </a:tcPr>
                </a:tc>
                <a:tc>
                  <a:txBody>
                    <a:bodyPr anchor="t" rtlCol="false"/>
                    <a:lstStyle/>
                    <a:p>
                      <a:pPr algn="ctr">
                        <a:lnSpc>
                          <a:spcPts val="2039"/>
                        </a:lnSpc>
                        <a:defRPr/>
                      </a:pPr>
                      <a:r>
                        <a:rPr lang="en-US" sz="1699">
                          <a:solidFill>
                            <a:srgbClr val="39454E"/>
                          </a:solidFill>
                          <a:latin typeface="Calibri (MS)"/>
                          <a:ea typeface="Calibri (MS)"/>
                          <a:cs typeface="Calibri (MS)"/>
                          <a:sym typeface="Calibri (MS)"/>
                        </a:rPr>
                        <a:t>Noise-robustness &amp; physical-consistency test (LOCO)</a:t>
                      </a:r>
                      <a:endParaRPr lang="en-US" sz="1100"/>
                    </a:p>
                  </a:txBody>
                  <a:tcPr marL="64008" marR="64008" marT="64008" marB="64008" anchor="ctr">
                    <a:lnL cmpd="sng" algn="ctr" cap="flat" w="38100">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c>
                  <a:txBody>
                    <a:bodyPr anchor="t" rtlCol="false"/>
                    <a:lstStyle/>
                    <a:p>
                      <a:pPr algn="ctr">
                        <a:lnSpc>
                          <a:spcPts val="2039"/>
                        </a:lnSpc>
                        <a:defRPr/>
                      </a:pPr>
                      <a:r>
                        <a:rPr lang="en-US" sz="1699">
                          <a:solidFill>
                            <a:srgbClr val="39454E"/>
                          </a:solidFill>
                          <a:latin typeface="Calibri (MS)"/>
                          <a:ea typeface="Calibri (MS)"/>
                          <a:cs typeface="Calibri (MS)"/>
                          <a:sym typeface="Calibri (MS)"/>
                        </a:rPr>
                        <a:t>Zero-shot cross-dataset generalization</a:t>
                      </a:r>
                      <a:endParaRPr lang="en-US" sz="1100"/>
                    </a:p>
                  </a:txBody>
                  <a:tcPr marL="64008" marR="64008" marT="64008" marB="64008"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r>
            </a:tbl>
          </a:graphicData>
        </a:graphic>
      </p:graphicFrame>
      <p:grpSp>
        <p:nvGrpSpPr>
          <p:cNvPr name="Group 11" id="11"/>
          <p:cNvGrpSpPr/>
          <p:nvPr/>
        </p:nvGrpSpPr>
        <p:grpSpPr>
          <a:xfrm rot="0">
            <a:off x="9797415" y="2185035"/>
            <a:ext cx="7672578" cy="4984242"/>
            <a:chOff x="0" y="0"/>
            <a:chExt cx="10230104" cy="6645656"/>
          </a:xfrm>
        </p:grpSpPr>
        <p:sp>
          <p:nvSpPr>
            <p:cNvPr name="Freeform 12" id="12"/>
            <p:cNvSpPr/>
            <p:nvPr/>
          </p:nvSpPr>
          <p:spPr>
            <a:xfrm flipH="false" flipV="false" rot="0">
              <a:off x="0" y="0"/>
              <a:ext cx="10230104" cy="6645656"/>
            </a:xfrm>
            <a:custGeom>
              <a:avLst/>
              <a:gdLst/>
              <a:ahLst/>
              <a:cxnLst/>
              <a:rect r="r" b="b" t="t" l="l"/>
              <a:pathLst>
                <a:path h="6645656" w="10230104">
                  <a:moveTo>
                    <a:pt x="0" y="128524"/>
                  </a:moveTo>
                  <a:cubicBezTo>
                    <a:pt x="0" y="57531"/>
                    <a:pt x="57531" y="0"/>
                    <a:pt x="128524" y="0"/>
                  </a:cubicBezTo>
                  <a:lnTo>
                    <a:pt x="10101580" y="0"/>
                  </a:lnTo>
                  <a:cubicBezTo>
                    <a:pt x="10172574" y="0"/>
                    <a:pt x="10230104" y="57531"/>
                    <a:pt x="10230104" y="128524"/>
                  </a:cubicBezTo>
                  <a:lnTo>
                    <a:pt x="10230104" y="6517132"/>
                  </a:lnTo>
                  <a:cubicBezTo>
                    <a:pt x="10230104" y="6588125"/>
                    <a:pt x="10172574" y="6645656"/>
                    <a:pt x="10101580" y="6645656"/>
                  </a:cubicBezTo>
                  <a:lnTo>
                    <a:pt x="128524" y="6645656"/>
                  </a:lnTo>
                  <a:cubicBezTo>
                    <a:pt x="57531" y="6645656"/>
                    <a:pt x="0" y="6588125"/>
                    <a:pt x="0" y="6517132"/>
                  </a:cubicBezTo>
                  <a:close/>
                </a:path>
              </a:pathLst>
            </a:custGeom>
            <a:solidFill>
              <a:srgbClr val="FFFFFF"/>
            </a:solidFill>
            <a:ln w="19050" cap="sq">
              <a:solidFill>
                <a:srgbClr val="CFDBDC"/>
              </a:solidFill>
              <a:prstDash val="solid"/>
              <a:miter/>
            </a:ln>
          </p:spPr>
        </p:sp>
      </p:grpSp>
      <p:grpSp>
        <p:nvGrpSpPr>
          <p:cNvPr name="Group 13" id="13"/>
          <p:cNvGrpSpPr/>
          <p:nvPr/>
        </p:nvGrpSpPr>
        <p:grpSpPr>
          <a:xfrm rot="0">
            <a:off x="10279732" y="2414016"/>
            <a:ext cx="6707943" cy="4526280"/>
            <a:chOff x="0" y="0"/>
            <a:chExt cx="8943924" cy="6035040"/>
          </a:xfrm>
        </p:grpSpPr>
        <p:sp>
          <p:nvSpPr>
            <p:cNvPr name="Freeform 14" id="14" descr="/tmp/figs/fig5_1.png"/>
            <p:cNvSpPr/>
            <p:nvPr/>
          </p:nvSpPr>
          <p:spPr>
            <a:xfrm flipH="false" flipV="false" rot="0">
              <a:off x="0" y="0"/>
              <a:ext cx="8943975" cy="6035040"/>
            </a:xfrm>
            <a:custGeom>
              <a:avLst/>
              <a:gdLst/>
              <a:ahLst/>
              <a:cxnLst/>
              <a:rect r="r" b="b" t="t" l="l"/>
              <a:pathLst>
                <a:path h="6035040" w="8943975">
                  <a:moveTo>
                    <a:pt x="0" y="0"/>
                  </a:moveTo>
                  <a:lnTo>
                    <a:pt x="8943975" y="0"/>
                  </a:lnTo>
                  <a:lnTo>
                    <a:pt x="8943975" y="6035040"/>
                  </a:lnTo>
                  <a:lnTo>
                    <a:pt x="0" y="6035040"/>
                  </a:lnTo>
                  <a:lnTo>
                    <a:pt x="0" y="0"/>
                  </a:lnTo>
                  <a:close/>
                </a:path>
              </a:pathLst>
            </a:custGeom>
            <a:blipFill>
              <a:blip r:embed="rId4"/>
              <a:stretch>
                <a:fillRect l="-7" t="0" r="-7" b="0"/>
              </a:stretch>
            </a:blipFill>
          </p:spPr>
        </p:sp>
      </p:grpSp>
      <p:grpSp>
        <p:nvGrpSpPr>
          <p:cNvPr name="Group 15" id="15"/>
          <p:cNvGrpSpPr/>
          <p:nvPr/>
        </p:nvGrpSpPr>
        <p:grpSpPr>
          <a:xfrm rot="0">
            <a:off x="9806940" y="7242048"/>
            <a:ext cx="7653528" cy="685800"/>
            <a:chOff x="0" y="0"/>
            <a:chExt cx="10204704" cy="914400"/>
          </a:xfrm>
        </p:grpSpPr>
        <p:sp>
          <p:nvSpPr>
            <p:cNvPr name="Freeform 16" id="16"/>
            <p:cNvSpPr/>
            <p:nvPr/>
          </p:nvSpPr>
          <p:spPr>
            <a:xfrm flipH="false" flipV="false" rot="0">
              <a:off x="0" y="0"/>
              <a:ext cx="10204704" cy="914400"/>
            </a:xfrm>
            <a:custGeom>
              <a:avLst/>
              <a:gdLst/>
              <a:ahLst/>
              <a:cxnLst/>
              <a:rect r="r" b="b" t="t" l="l"/>
              <a:pathLst>
                <a:path h="914400" w="10204704">
                  <a:moveTo>
                    <a:pt x="0" y="0"/>
                  </a:moveTo>
                  <a:lnTo>
                    <a:pt x="10204704" y="0"/>
                  </a:lnTo>
                  <a:lnTo>
                    <a:pt x="10204704" y="914400"/>
                  </a:lnTo>
                  <a:lnTo>
                    <a:pt x="0" y="914400"/>
                  </a:lnTo>
                  <a:close/>
                </a:path>
              </a:pathLst>
            </a:custGeom>
            <a:blipFill>
              <a:blip r:embed="rId3">
                <a:alphaModFix amt="0"/>
              </a:blip>
              <a:stretch>
                <a:fillRect l="0" t="-167453" r="0" b="-167453"/>
              </a:stretch>
            </a:blipFill>
          </p:spPr>
        </p:sp>
        <p:sp>
          <p:nvSpPr>
            <p:cNvPr name="TextBox 17" id="17"/>
            <p:cNvSpPr txBox="true"/>
            <p:nvPr/>
          </p:nvSpPr>
          <p:spPr>
            <a:xfrm>
              <a:off x="0" y="-28575"/>
              <a:ext cx="10204704" cy="942975"/>
            </a:xfrm>
            <a:prstGeom prst="rect">
              <a:avLst/>
            </a:prstGeom>
          </p:spPr>
          <p:txBody>
            <a:bodyPr anchor="ctr" rtlCol="false" tIns="0" lIns="0" bIns="0" rIns="0"/>
            <a:lstStyle/>
            <a:p>
              <a:pPr algn="ctr">
                <a:lnSpc>
                  <a:spcPts val="1988"/>
                </a:lnSpc>
              </a:pPr>
              <a:r>
                <a:rPr lang="en-US" sz="1624" i="true">
                  <a:solidFill>
                    <a:srgbClr val="6E7A83"/>
                  </a:solidFill>
                  <a:latin typeface="Calibri (MS) Italics"/>
                  <a:ea typeface="Calibri (MS) Italics"/>
                  <a:cs typeface="Calibri (MS) Italics"/>
                  <a:sym typeface="Calibri (MS) Italics"/>
                </a:rPr>
                <a:t>Fig. 5.1 — NASA capacity fade for all four cells; upward spikes are regeneration after rest. Dashed line marks 80% EOL (1.60 Ah).</a:t>
              </a:r>
            </a:p>
          </p:txBody>
        </p:sp>
      </p:grpSp>
      <p:grpSp>
        <p:nvGrpSpPr>
          <p:cNvPr name="Group 18" id="18"/>
          <p:cNvGrpSpPr/>
          <p:nvPr/>
        </p:nvGrpSpPr>
        <p:grpSpPr>
          <a:xfrm rot="0">
            <a:off x="813435" y="8151495"/>
            <a:ext cx="16656558" cy="1253490"/>
            <a:chOff x="0" y="0"/>
            <a:chExt cx="22208744" cy="1671320"/>
          </a:xfrm>
        </p:grpSpPr>
        <p:sp>
          <p:nvSpPr>
            <p:cNvPr name="Freeform 19" id="19"/>
            <p:cNvSpPr/>
            <p:nvPr/>
          </p:nvSpPr>
          <p:spPr>
            <a:xfrm flipH="false" flipV="false" rot="0">
              <a:off x="0" y="0"/>
              <a:ext cx="22208744" cy="1671320"/>
            </a:xfrm>
            <a:custGeom>
              <a:avLst/>
              <a:gdLst/>
              <a:ahLst/>
              <a:cxnLst/>
              <a:rect r="r" b="b" t="t" l="l"/>
              <a:pathLst>
                <a:path h="1671320" w="22208744">
                  <a:moveTo>
                    <a:pt x="0" y="130048"/>
                  </a:moveTo>
                  <a:cubicBezTo>
                    <a:pt x="0" y="58166"/>
                    <a:pt x="58166" y="0"/>
                    <a:pt x="130048" y="0"/>
                  </a:cubicBezTo>
                  <a:lnTo>
                    <a:pt x="22078696" y="0"/>
                  </a:lnTo>
                  <a:cubicBezTo>
                    <a:pt x="22150451" y="0"/>
                    <a:pt x="22208744" y="58166"/>
                    <a:pt x="22208744" y="130048"/>
                  </a:cubicBezTo>
                  <a:lnTo>
                    <a:pt x="22208744" y="1541272"/>
                  </a:lnTo>
                  <a:cubicBezTo>
                    <a:pt x="22208744" y="1613027"/>
                    <a:pt x="22150578" y="1671320"/>
                    <a:pt x="22078696" y="1671320"/>
                  </a:cubicBezTo>
                  <a:lnTo>
                    <a:pt x="130048" y="1671320"/>
                  </a:lnTo>
                  <a:cubicBezTo>
                    <a:pt x="58166" y="1671320"/>
                    <a:pt x="0" y="1613154"/>
                    <a:pt x="0" y="1541272"/>
                  </a:cubicBezTo>
                  <a:close/>
                </a:path>
              </a:pathLst>
            </a:custGeom>
            <a:solidFill>
              <a:srgbClr val="E0EBEC"/>
            </a:solidFill>
            <a:ln w="19050" cap="sq">
              <a:solidFill>
                <a:srgbClr val="CFDBDC"/>
              </a:solidFill>
              <a:prstDash val="solid"/>
              <a:miter/>
            </a:ln>
          </p:spPr>
        </p:sp>
      </p:grpSp>
      <p:grpSp>
        <p:nvGrpSpPr>
          <p:cNvPr name="Group 20" id="20"/>
          <p:cNvGrpSpPr/>
          <p:nvPr/>
        </p:nvGrpSpPr>
        <p:grpSpPr>
          <a:xfrm rot="0">
            <a:off x="1207008" y="8161020"/>
            <a:ext cx="15869412" cy="1234440"/>
            <a:chOff x="0" y="0"/>
            <a:chExt cx="21159216" cy="1645920"/>
          </a:xfrm>
        </p:grpSpPr>
        <p:sp>
          <p:nvSpPr>
            <p:cNvPr name="Freeform 21" id="21"/>
            <p:cNvSpPr/>
            <p:nvPr/>
          </p:nvSpPr>
          <p:spPr>
            <a:xfrm flipH="false" flipV="false" rot="0">
              <a:off x="0" y="0"/>
              <a:ext cx="21159215" cy="1645920"/>
            </a:xfrm>
            <a:custGeom>
              <a:avLst/>
              <a:gdLst/>
              <a:ahLst/>
              <a:cxnLst/>
              <a:rect r="r" b="b" t="t" l="l"/>
              <a:pathLst>
                <a:path h="1645920" w="21159215">
                  <a:moveTo>
                    <a:pt x="0" y="0"/>
                  </a:moveTo>
                  <a:lnTo>
                    <a:pt x="21159215" y="0"/>
                  </a:lnTo>
                  <a:lnTo>
                    <a:pt x="21159215" y="1645920"/>
                  </a:lnTo>
                  <a:lnTo>
                    <a:pt x="0" y="1645920"/>
                  </a:lnTo>
                  <a:close/>
                </a:path>
              </a:pathLst>
            </a:custGeom>
            <a:blipFill>
              <a:blip r:embed="rId3">
                <a:alphaModFix amt="0"/>
              </a:blip>
              <a:stretch>
                <a:fillRect l="0" t="-200490" r="0" b="-200490"/>
              </a:stretch>
            </a:blipFill>
          </p:spPr>
        </p:sp>
        <p:sp>
          <p:nvSpPr>
            <p:cNvPr name="TextBox 22" id="22"/>
            <p:cNvSpPr txBox="true"/>
            <p:nvPr/>
          </p:nvSpPr>
          <p:spPr>
            <a:xfrm>
              <a:off x="0" y="-47625"/>
              <a:ext cx="21159216" cy="1693545"/>
            </a:xfrm>
            <a:prstGeom prst="rect">
              <a:avLst/>
            </a:prstGeom>
          </p:spPr>
          <p:txBody>
            <a:bodyPr anchor="ctr" rtlCol="false" tIns="0" lIns="0" bIns="0" rIns="0"/>
            <a:lstStyle/>
            <a:p>
              <a:pPr algn="l">
                <a:lnSpc>
                  <a:spcPts val="2215"/>
                </a:lnSpc>
              </a:pPr>
              <a:r>
                <a:rPr lang="en-US" sz="1774" b="true">
                  <a:solidFill>
                    <a:srgbClr val="1B2A33"/>
                  </a:solidFill>
                  <a:latin typeface="Calibri (MS) Bold"/>
                  <a:ea typeface="Calibri (MS) Bold"/>
                  <a:cs typeface="Calibri (MS) Bold"/>
                  <a:sym typeface="Calibri (MS) Bold"/>
                </a:rPr>
                <a:t>One shared representation.  </a:t>
              </a:r>
              <a:r>
                <a:rPr lang="en-US" sz="1774">
                  <a:solidFill>
                    <a:srgbClr val="39454E"/>
                  </a:solidFill>
                  <a:latin typeface="Calibri (MS)"/>
                  <a:ea typeface="Calibri (MS)"/>
                  <a:cs typeface="Calibri (MS)"/>
                  <a:sym typeface="Calibri (MS)"/>
                </a:rPr>
                <a:t>Eight per-cycle features — ICA peak V / magnitude / area (dQ/dV after Savitzky–Golay), discharge time, v-min, v-mean, v-variance, IR proxy — plus a fixed cycle coordinate (cycle/500). Labels kept raw; scalers and priors fit on training cells only (leak-free).</a:t>
              </a:r>
            </a:p>
          </p:txBody>
        </p:sp>
      </p:grpSp>
      <p:grpSp>
        <p:nvGrpSpPr>
          <p:cNvPr name="Group 23" id="23"/>
          <p:cNvGrpSpPr/>
          <p:nvPr/>
        </p:nvGrpSpPr>
        <p:grpSpPr>
          <a:xfrm rot="0">
            <a:off x="822960" y="9683496"/>
            <a:ext cx="8229600" cy="411480"/>
            <a:chOff x="0" y="0"/>
            <a:chExt cx="10972800" cy="548640"/>
          </a:xfrm>
        </p:grpSpPr>
        <p:sp>
          <p:nvSpPr>
            <p:cNvPr name="Freeform 24" id="24"/>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25" id="25"/>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6E7A83"/>
                  </a:solidFill>
                  <a:latin typeface="Calibri (MS)"/>
                  <a:ea typeface="Calibri (MS)"/>
                  <a:cs typeface="Calibri (MS)"/>
                  <a:sym typeface="Calibri (MS)"/>
                </a:rPr>
                <a:t>Rajat Sharma · CH24M559 · IIT Madras</a:t>
              </a:r>
            </a:p>
          </p:txBody>
        </p:sp>
      </p:grpSp>
      <p:grpSp>
        <p:nvGrpSpPr>
          <p:cNvPr name="Group 26" id="26"/>
          <p:cNvGrpSpPr/>
          <p:nvPr/>
        </p:nvGrpSpPr>
        <p:grpSpPr>
          <a:xfrm rot="0">
            <a:off x="16637508" y="9683496"/>
            <a:ext cx="822960" cy="411480"/>
            <a:chOff x="0" y="0"/>
            <a:chExt cx="1097280" cy="548640"/>
          </a:xfrm>
        </p:grpSpPr>
        <p:sp>
          <p:nvSpPr>
            <p:cNvPr name="Freeform 27" id="27"/>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3">
                <a:alphaModFix amt="0"/>
              </a:blip>
              <a:stretch>
                <a:fillRect l="-14151" t="0" r="-14151" b="0"/>
              </a:stretch>
            </a:blipFill>
          </p:spPr>
        </p:sp>
        <p:sp>
          <p:nvSpPr>
            <p:cNvPr name="TextBox 28" id="28"/>
            <p:cNvSpPr txBox="true"/>
            <p:nvPr/>
          </p:nvSpPr>
          <p:spPr>
            <a:xfrm>
              <a:off x="0" y="-38100"/>
              <a:ext cx="1097280" cy="586740"/>
            </a:xfrm>
            <a:prstGeom prst="rect">
              <a:avLst/>
            </a:prstGeom>
          </p:spPr>
          <p:txBody>
            <a:bodyPr anchor="ctr" rtlCol="false" tIns="0" lIns="0" bIns="0" rIns="0"/>
            <a:lstStyle/>
            <a:p>
              <a:pPr algn="r">
                <a:lnSpc>
                  <a:spcPts val="1709"/>
                </a:lnSpc>
              </a:pPr>
              <a:r>
                <a:rPr lang="en-US" sz="1425">
                  <a:solidFill>
                    <a:srgbClr val="6E7A83"/>
                  </a:solidFill>
                  <a:latin typeface="Calibri (MS)"/>
                  <a:ea typeface="Calibri (MS)"/>
                  <a:cs typeface="Calibri (MS)"/>
                  <a:sym typeface="Calibri (MS)"/>
                </a:rPr>
                <a:t>8</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BF0F1"/>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16637508" cy="391408"/>
            <a:chOff x="0" y="0"/>
            <a:chExt cx="22183344" cy="521878"/>
          </a:xfrm>
        </p:grpSpPr>
        <p:sp>
          <p:nvSpPr>
            <p:cNvPr name="Freeform 3" id="3"/>
            <p:cNvSpPr/>
            <p:nvPr/>
          </p:nvSpPr>
          <p:spPr>
            <a:xfrm flipH="false" flipV="false" rot="0">
              <a:off x="0" y="0"/>
              <a:ext cx="22183344" cy="521878"/>
            </a:xfrm>
            <a:custGeom>
              <a:avLst/>
              <a:gdLst/>
              <a:ahLst/>
              <a:cxnLst/>
              <a:rect r="r" b="b" t="t" l="l"/>
              <a:pathLst>
                <a:path h="521878" w="22183344">
                  <a:moveTo>
                    <a:pt x="0" y="0"/>
                  </a:moveTo>
                  <a:lnTo>
                    <a:pt x="22183344" y="0"/>
                  </a:lnTo>
                  <a:lnTo>
                    <a:pt x="22183344" y="521878"/>
                  </a:lnTo>
                  <a:lnTo>
                    <a:pt x="0" y="521878"/>
                  </a:lnTo>
                  <a:close/>
                </a:path>
              </a:pathLst>
            </a:custGeom>
            <a:blipFill>
              <a:blip r:embed="rId3">
                <a:alphaModFix amt="0"/>
              </a:blip>
              <a:stretch>
                <a:fillRect l="0" t="-782690" r="0" b="-773801"/>
              </a:stretch>
            </a:blipFill>
          </p:spPr>
        </p:sp>
        <p:sp>
          <p:nvSpPr>
            <p:cNvPr name="TextBox 4" id="4"/>
            <p:cNvSpPr txBox="true"/>
            <p:nvPr/>
          </p:nvSpPr>
          <p:spPr>
            <a:xfrm>
              <a:off x="0" y="-47625"/>
              <a:ext cx="22183344" cy="569503"/>
            </a:xfrm>
            <a:prstGeom prst="rect">
              <a:avLst/>
            </a:prstGeom>
          </p:spPr>
          <p:txBody>
            <a:bodyPr anchor="ctr" rtlCol="false" tIns="0" lIns="0" bIns="0" rIns="0"/>
            <a:lstStyle/>
            <a:p>
              <a:pPr algn="l">
                <a:lnSpc>
                  <a:spcPts val="2339"/>
                </a:lnSpc>
              </a:pPr>
              <a:r>
                <a:rPr lang="en-US" b="true" sz="1949" spc="425">
                  <a:solidFill>
                    <a:srgbClr val="1A5B6E"/>
                  </a:solidFill>
                  <a:latin typeface="Calibri (MS) Bold"/>
                  <a:ea typeface="Calibri (MS) Bold"/>
                  <a:cs typeface="Calibri (MS) Bold"/>
                  <a:sym typeface="Calibri (MS) Bold"/>
                </a:rPr>
                <a:t>EXPERIMENTAL SETUP</a:t>
              </a:r>
            </a:p>
          </p:txBody>
        </p:sp>
      </p:grpSp>
      <p:grpSp>
        <p:nvGrpSpPr>
          <p:cNvPr name="Group 5" id="5"/>
          <p:cNvGrpSpPr/>
          <p:nvPr/>
        </p:nvGrpSpPr>
        <p:grpSpPr>
          <a:xfrm rot="0">
            <a:off x="822960" y="960120"/>
            <a:ext cx="16637508" cy="850392"/>
            <a:chOff x="0" y="0"/>
            <a:chExt cx="22183344" cy="1133856"/>
          </a:xfrm>
        </p:grpSpPr>
        <p:sp>
          <p:nvSpPr>
            <p:cNvPr name="Freeform 6" id="6"/>
            <p:cNvSpPr/>
            <p:nvPr/>
          </p:nvSpPr>
          <p:spPr>
            <a:xfrm flipH="false" flipV="false" rot="0">
              <a:off x="0" y="0"/>
              <a:ext cx="22183344" cy="1133856"/>
            </a:xfrm>
            <a:custGeom>
              <a:avLst/>
              <a:gdLst/>
              <a:ahLst/>
              <a:cxnLst/>
              <a:rect r="r" b="b" t="t" l="l"/>
              <a:pathLst>
                <a:path h="1133856" w="22183344">
                  <a:moveTo>
                    <a:pt x="0" y="0"/>
                  </a:moveTo>
                  <a:lnTo>
                    <a:pt x="22183344" y="0"/>
                  </a:lnTo>
                  <a:lnTo>
                    <a:pt x="22183344" y="1133856"/>
                  </a:lnTo>
                  <a:lnTo>
                    <a:pt x="0" y="1133856"/>
                  </a:lnTo>
                  <a:close/>
                </a:path>
              </a:pathLst>
            </a:custGeom>
            <a:blipFill>
              <a:blip r:embed="rId3">
                <a:alphaModFix amt="0"/>
              </a:blip>
              <a:stretch>
                <a:fillRect l="0" t="-331215" r="0" b="-331215"/>
              </a:stretch>
            </a:blipFill>
          </p:spPr>
        </p:sp>
        <p:sp>
          <p:nvSpPr>
            <p:cNvPr name="TextBox 7" id="7"/>
            <p:cNvSpPr txBox="true"/>
            <p:nvPr/>
          </p:nvSpPr>
          <p:spPr>
            <a:xfrm>
              <a:off x="0" y="-9525"/>
              <a:ext cx="22183344" cy="1143381"/>
            </a:xfrm>
            <a:prstGeom prst="rect">
              <a:avLst/>
            </a:prstGeom>
          </p:spPr>
          <p:txBody>
            <a:bodyPr anchor="ctr" rtlCol="false" tIns="0" lIns="0" bIns="0" rIns="0"/>
            <a:lstStyle/>
            <a:p>
              <a:pPr algn="l">
                <a:lnSpc>
                  <a:spcPts val="5220"/>
                </a:lnSpc>
              </a:pPr>
              <a:r>
                <a:rPr lang="en-US" sz="4350" b="true">
                  <a:solidFill>
                    <a:srgbClr val="1B2A33"/>
                  </a:solidFill>
                  <a:latin typeface="Cambria Bold"/>
                  <a:ea typeface="Cambria Bold"/>
                  <a:cs typeface="Cambria Bold"/>
                  <a:sym typeface="Cambria Bold"/>
                </a:rPr>
                <a:t>A Leak-Free, Ten-Model Benchmark</a:t>
              </a:r>
            </a:p>
          </p:txBody>
        </p:sp>
      </p:grpSp>
      <p:grpSp>
        <p:nvGrpSpPr>
          <p:cNvPr name="Group 8" id="8"/>
          <p:cNvGrpSpPr/>
          <p:nvPr/>
        </p:nvGrpSpPr>
        <p:grpSpPr>
          <a:xfrm rot="0">
            <a:off x="1000887" y="2516420"/>
            <a:ext cx="7562850" cy="4627457"/>
            <a:chOff x="0" y="0"/>
            <a:chExt cx="10083800" cy="6169942"/>
          </a:xfrm>
        </p:grpSpPr>
        <p:sp>
          <p:nvSpPr>
            <p:cNvPr name="Freeform 9" id="9"/>
            <p:cNvSpPr/>
            <p:nvPr/>
          </p:nvSpPr>
          <p:spPr>
            <a:xfrm flipH="false" flipV="false" rot="0">
              <a:off x="0" y="0"/>
              <a:ext cx="10083800" cy="6169942"/>
            </a:xfrm>
            <a:custGeom>
              <a:avLst/>
              <a:gdLst/>
              <a:ahLst/>
              <a:cxnLst/>
              <a:rect r="r" b="b" t="t" l="l"/>
              <a:pathLst>
                <a:path h="6169942" w="10083800">
                  <a:moveTo>
                    <a:pt x="0" y="110787"/>
                  </a:moveTo>
                  <a:cubicBezTo>
                    <a:pt x="0" y="49592"/>
                    <a:pt x="57531" y="0"/>
                    <a:pt x="128524" y="0"/>
                  </a:cubicBezTo>
                  <a:lnTo>
                    <a:pt x="9955276" y="0"/>
                  </a:lnTo>
                  <a:cubicBezTo>
                    <a:pt x="10026269" y="0"/>
                    <a:pt x="10083800" y="49592"/>
                    <a:pt x="10083800" y="110787"/>
                  </a:cubicBezTo>
                  <a:lnTo>
                    <a:pt x="10083800" y="6059155"/>
                  </a:lnTo>
                  <a:cubicBezTo>
                    <a:pt x="10083800" y="6120351"/>
                    <a:pt x="10026269" y="6169942"/>
                    <a:pt x="9955276" y="6169942"/>
                  </a:cubicBezTo>
                  <a:lnTo>
                    <a:pt x="128524" y="6169942"/>
                  </a:lnTo>
                  <a:cubicBezTo>
                    <a:pt x="57531" y="6169942"/>
                    <a:pt x="0" y="6120351"/>
                    <a:pt x="0" y="6059155"/>
                  </a:cubicBezTo>
                  <a:close/>
                </a:path>
              </a:pathLst>
            </a:custGeom>
            <a:solidFill>
              <a:srgbClr val="FFFFFF"/>
            </a:solidFill>
            <a:ln w="19050" cap="sq">
              <a:solidFill>
                <a:srgbClr val="CFDBDC"/>
              </a:solidFill>
              <a:prstDash val="solid"/>
              <a:miter/>
            </a:ln>
          </p:spPr>
        </p:sp>
      </p:grpSp>
      <p:grpSp>
        <p:nvGrpSpPr>
          <p:cNvPr name="Group 10" id="10"/>
          <p:cNvGrpSpPr/>
          <p:nvPr/>
        </p:nvGrpSpPr>
        <p:grpSpPr>
          <a:xfrm rot="0">
            <a:off x="1353312" y="2737781"/>
            <a:ext cx="6858000" cy="411480"/>
            <a:chOff x="0" y="0"/>
            <a:chExt cx="9144000" cy="548640"/>
          </a:xfrm>
        </p:grpSpPr>
        <p:sp>
          <p:nvSpPr>
            <p:cNvPr name="Freeform 11" id="11"/>
            <p:cNvSpPr/>
            <p:nvPr/>
          </p:nvSpPr>
          <p:spPr>
            <a:xfrm flipH="false" flipV="false" rot="0">
              <a:off x="0" y="0"/>
              <a:ext cx="9144000" cy="548640"/>
            </a:xfrm>
            <a:custGeom>
              <a:avLst/>
              <a:gdLst/>
              <a:ahLst/>
              <a:cxnLst/>
              <a:rect r="r" b="b" t="t" l="l"/>
              <a:pathLst>
                <a:path h="548640" w="9144000">
                  <a:moveTo>
                    <a:pt x="0" y="0"/>
                  </a:moveTo>
                  <a:lnTo>
                    <a:pt x="9144000" y="0"/>
                  </a:lnTo>
                  <a:lnTo>
                    <a:pt x="9144000" y="548640"/>
                  </a:lnTo>
                  <a:lnTo>
                    <a:pt x="0" y="548640"/>
                  </a:lnTo>
                  <a:close/>
                </a:path>
              </a:pathLst>
            </a:custGeom>
            <a:blipFill>
              <a:blip r:embed="rId3">
                <a:alphaModFix amt="0"/>
              </a:blip>
              <a:stretch>
                <a:fillRect l="0" t="-274750" r="0" b="-274750"/>
              </a:stretch>
            </a:blipFill>
          </p:spPr>
        </p:sp>
        <p:sp>
          <p:nvSpPr>
            <p:cNvPr name="TextBox 12" id="12"/>
            <p:cNvSpPr txBox="true"/>
            <p:nvPr/>
          </p:nvSpPr>
          <p:spPr>
            <a:xfrm>
              <a:off x="0" y="-19050"/>
              <a:ext cx="9144000" cy="567690"/>
            </a:xfrm>
            <a:prstGeom prst="rect">
              <a:avLst/>
            </a:prstGeom>
          </p:spPr>
          <p:txBody>
            <a:bodyPr anchor="ctr" rtlCol="false" tIns="0" lIns="0" bIns="0" rIns="0"/>
            <a:lstStyle/>
            <a:p>
              <a:pPr algn="l">
                <a:lnSpc>
                  <a:spcPts val="2610"/>
                </a:lnSpc>
              </a:pPr>
              <a:r>
                <a:rPr lang="en-US" sz="2175" b="true">
                  <a:solidFill>
                    <a:srgbClr val="1A5B6E"/>
                  </a:solidFill>
                  <a:latin typeface="Cambria Bold"/>
                  <a:ea typeface="Cambria Bold"/>
                  <a:cs typeface="Cambria Bold"/>
                  <a:sym typeface="Cambria Bold"/>
                </a:rPr>
                <a:t>Leave-One-Cell-Out (LOCO) protocol</a:t>
              </a:r>
            </a:p>
          </p:txBody>
        </p:sp>
      </p:grpSp>
      <p:grpSp>
        <p:nvGrpSpPr>
          <p:cNvPr name="Group 13" id="13"/>
          <p:cNvGrpSpPr/>
          <p:nvPr/>
        </p:nvGrpSpPr>
        <p:grpSpPr>
          <a:xfrm rot="0">
            <a:off x="1353312" y="3310405"/>
            <a:ext cx="6789420" cy="3457787"/>
            <a:chOff x="0" y="0"/>
            <a:chExt cx="9052560" cy="4610382"/>
          </a:xfrm>
        </p:grpSpPr>
        <p:sp>
          <p:nvSpPr>
            <p:cNvPr name="Freeform 14" id="14"/>
            <p:cNvSpPr/>
            <p:nvPr/>
          </p:nvSpPr>
          <p:spPr>
            <a:xfrm flipH="false" flipV="false" rot="0">
              <a:off x="0" y="0"/>
              <a:ext cx="9052560" cy="4610382"/>
            </a:xfrm>
            <a:custGeom>
              <a:avLst/>
              <a:gdLst/>
              <a:ahLst/>
              <a:cxnLst/>
              <a:rect r="r" b="b" t="t" l="l"/>
              <a:pathLst>
                <a:path h="4610382" w="9052560">
                  <a:moveTo>
                    <a:pt x="0" y="0"/>
                  </a:moveTo>
                  <a:lnTo>
                    <a:pt x="9052560" y="0"/>
                  </a:lnTo>
                  <a:lnTo>
                    <a:pt x="9052560" y="4610382"/>
                  </a:lnTo>
                  <a:lnTo>
                    <a:pt x="0" y="4610382"/>
                  </a:lnTo>
                  <a:close/>
                </a:path>
              </a:pathLst>
            </a:custGeom>
            <a:blipFill>
              <a:blip r:embed="rId3">
                <a:alphaModFix amt="0"/>
              </a:blip>
              <a:stretch>
                <a:fillRect l="-32943" t="0" r="-32943" b="-26934"/>
              </a:stretch>
            </a:blipFill>
          </p:spPr>
        </p:sp>
        <p:sp>
          <p:nvSpPr>
            <p:cNvPr name="TextBox 15" id="15"/>
            <p:cNvSpPr txBox="true"/>
            <p:nvPr/>
          </p:nvSpPr>
          <p:spPr>
            <a:xfrm>
              <a:off x="0" y="-114300"/>
              <a:ext cx="9052560" cy="4724682"/>
            </a:xfrm>
            <a:prstGeom prst="rect">
              <a:avLst/>
            </a:prstGeom>
          </p:spPr>
          <p:txBody>
            <a:bodyPr anchor="ctr" rtlCol="false" tIns="0" lIns="0" bIns="0" rIns="0"/>
            <a:lstStyle/>
            <a:p>
              <a:pPr algn="l" marL="348376" indent="-174188" lvl="1">
                <a:lnSpc>
                  <a:spcPts val="3079"/>
                </a:lnSpc>
                <a:buFont typeface="Arial"/>
                <a:buChar char="•"/>
              </a:pPr>
              <a:r>
                <a:rPr lang="en-US" sz="1924">
                  <a:solidFill>
                    <a:srgbClr val="39454E"/>
                  </a:solidFill>
                  <a:latin typeface="Calibri (MS)"/>
                  <a:ea typeface="Calibri (MS)"/>
                  <a:cs typeface="Calibri (MS)"/>
                  <a:sym typeface="Calibri (MS)"/>
                </a:rPr>
                <a:t>4 folds × 3 seeds = 12 runs on NASA.</a:t>
              </a:r>
            </a:p>
            <a:p>
              <a:pPr algn="l" marL="348376" indent="-174188" lvl="1">
                <a:lnSpc>
                  <a:spcPts val="3079"/>
                </a:lnSpc>
                <a:buFont typeface="Arial"/>
                <a:buChar char="•"/>
              </a:pPr>
              <a:r>
                <a:rPr lang="en-US" sz="1924">
                  <a:solidFill>
                    <a:srgbClr val="39454E"/>
                  </a:solidFill>
                  <a:latin typeface="Calibri (MS)"/>
                  <a:ea typeface="Calibri (MS)"/>
                  <a:cs typeface="Calibri (MS)"/>
                  <a:sym typeface="Calibri (MS)"/>
                </a:rPr>
                <a:t>Per fold: train on 2 cells, validate on 1, test on 1 — whole cells never mix.</a:t>
              </a:r>
            </a:p>
            <a:p>
              <a:pPr algn="l" marL="348376" indent="-174188" lvl="1">
                <a:lnSpc>
                  <a:spcPts val="3079"/>
                </a:lnSpc>
                <a:buFont typeface="Arial"/>
                <a:buChar char="•"/>
              </a:pPr>
              <a:r>
                <a:rPr lang="en-US" sz="1924">
                  <a:solidFill>
                    <a:srgbClr val="39454E"/>
                  </a:solidFill>
                  <a:latin typeface="Calibri (MS)"/>
                  <a:ea typeface="Calibri (MS)"/>
                  <a:cs typeface="Calibri (MS)"/>
                  <a:sym typeface="Calibri (MS)"/>
                </a:rPr>
                <a:t>Scalers and physics priors fit on training cells only.</a:t>
              </a:r>
            </a:p>
            <a:p>
              <a:pPr algn="l" marL="348376" indent="-174188" lvl="1">
                <a:lnSpc>
                  <a:spcPts val="3079"/>
                </a:lnSpc>
                <a:buFont typeface="Arial"/>
                <a:buChar char="•"/>
              </a:pPr>
              <a:r>
                <a:rPr lang="en-US" sz="1924">
                  <a:solidFill>
                    <a:srgbClr val="39454E"/>
                  </a:solidFill>
                  <a:latin typeface="Calibri (MS)"/>
                  <a:ea typeface="Calibri (MS)"/>
                  <a:cs typeface="Calibri (MS)"/>
                  <a:sym typeface="Calibri (MS)"/>
                </a:rPr>
                <a:t>Every model gets the same fixed-scale cycle input (cycle/500). An earlier per-trajectory scaling leaked test-cell life — found and corrected.</a:t>
              </a:r>
            </a:p>
            <a:p>
              <a:pPr algn="l" marL="348376" indent="-174188" lvl="1">
                <a:lnSpc>
                  <a:spcPts val="3079"/>
                </a:lnSpc>
                <a:buFont typeface="Arial"/>
                <a:buChar char="•"/>
              </a:pPr>
              <a:r>
                <a:rPr lang="en-US" sz="1924">
                  <a:solidFill>
                    <a:srgbClr val="39454E"/>
                  </a:solidFill>
                  <a:latin typeface="Calibri (MS)"/>
                  <a:ea typeface="Calibri (MS)"/>
                  <a:cs typeface="Calibri (MS)"/>
                  <a:sym typeface="Calibri (MS)"/>
                </a:rPr>
                <a:t>Plus a zero-shot NASA → CALCE transfer test.</a:t>
              </a:r>
            </a:p>
          </p:txBody>
        </p:sp>
      </p:grpSp>
      <p:grpSp>
        <p:nvGrpSpPr>
          <p:cNvPr name="Group 16" id="16"/>
          <p:cNvGrpSpPr/>
          <p:nvPr/>
        </p:nvGrpSpPr>
        <p:grpSpPr>
          <a:xfrm rot="0">
            <a:off x="8887587" y="2516420"/>
            <a:ext cx="8198358" cy="4627457"/>
            <a:chOff x="0" y="0"/>
            <a:chExt cx="10931144" cy="6169942"/>
          </a:xfrm>
        </p:grpSpPr>
        <p:sp>
          <p:nvSpPr>
            <p:cNvPr name="Freeform 17" id="17"/>
            <p:cNvSpPr/>
            <p:nvPr/>
          </p:nvSpPr>
          <p:spPr>
            <a:xfrm flipH="false" flipV="false" rot="0">
              <a:off x="0" y="0"/>
              <a:ext cx="10931144" cy="6169942"/>
            </a:xfrm>
            <a:custGeom>
              <a:avLst/>
              <a:gdLst/>
              <a:ahLst/>
              <a:cxnLst/>
              <a:rect r="r" b="b" t="t" l="l"/>
              <a:pathLst>
                <a:path h="6169942" w="10931144">
                  <a:moveTo>
                    <a:pt x="0" y="110787"/>
                  </a:moveTo>
                  <a:cubicBezTo>
                    <a:pt x="0" y="49592"/>
                    <a:pt x="53782" y="0"/>
                    <a:pt x="120149" y="0"/>
                  </a:cubicBezTo>
                  <a:lnTo>
                    <a:pt x="10810995" y="0"/>
                  </a:lnTo>
                  <a:cubicBezTo>
                    <a:pt x="10877362" y="0"/>
                    <a:pt x="10931144" y="49592"/>
                    <a:pt x="10931144" y="110787"/>
                  </a:cubicBezTo>
                  <a:lnTo>
                    <a:pt x="10931144" y="6059155"/>
                  </a:lnTo>
                  <a:cubicBezTo>
                    <a:pt x="10931144" y="6120351"/>
                    <a:pt x="10877362" y="6169942"/>
                    <a:pt x="10810995" y="6169942"/>
                  </a:cubicBezTo>
                  <a:lnTo>
                    <a:pt x="120149" y="6169942"/>
                  </a:lnTo>
                  <a:cubicBezTo>
                    <a:pt x="53782" y="6169942"/>
                    <a:pt x="0" y="6120351"/>
                    <a:pt x="0" y="6059155"/>
                  </a:cubicBezTo>
                  <a:close/>
                </a:path>
              </a:pathLst>
            </a:custGeom>
            <a:solidFill>
              <a:srgbClr val="FFFFFF"/>
            </a:solidFill>
            <a:ln w="19050" cap="sq">
              <a:solidFill>
                <a:srgbClr val="CFDBDC"/>
              </a:solidFill>
              <a:prstDash val="solid"/>
              <a:miter/>
            </a:ln>
          </p:spPr>
        </p:sp>
      </p:grpSp>
      <p:grpSp>
        <p:nvGrpSpPr>
          <p:cNvPr name="Group 18" id="18"/>
          <p:cNvGrpSpPr/>
          <p:nvPr/>
        </p:nvGrpSpPr>
        <p:grpSpPr>
          <a:xfrm rot="0">
            <a:off x="9194673" y="2737781"/>
            <a:ext cx="8092440" cy="411480"/>
            <a:chOff x="0" y="0"/>
            <a:chExt cx="10789920" cy="548640"/>
          </a:xfrm>
        </p:grpSpPr>
        <p:sp>
          <p:nvSpPr>
            <p:cNvPr name="Freeform 19" id="19"/>
            <p:cNvSpPr/>
            <p:nvPr/>
          </p:nvSpPr>
          <p:spPr>
            <a:xfrm flipH="false" flipV="false" rot="0">
              <a:off x="0" y="0"/>
              <a:ext cx="10789920" cy="548640"/>
            </a:xfrm>
            <a:custGeom>
              <a:avLst/>
              <a:gdLst/>
              <a:ahLst/>
              <a:cxnLst/>
              <a:rect r="r" b="b" t="t" l="l"/>
              <a:pathLst>
                <a:path h="548640" w="10789920">
                  <a:moveTo>
                    <a:pt x="0" y="0"/>
                  </a:moveTo>
                  <a:lnTo>
                    <a:pt x="10789920" y="0"/>
                  </a:lnTo>
                  <a:lnTo>
                    <a:pt x="10789920" y="548640"/>
                  </a:lnTo>
                  <a:lnTo>
                    <a:pt x="0" y="548640"/>
                  </a:lnTo>
                  <a:close/>
                </a:path>
              </a:pathLst>
            </a:custGeom>
            <a:blipFill>
              <a:blip r:embed="rId3">
                <a:alphaModFix amt="0"/>
              </a:blip>
              <a:stretch>
                <a:fillRect l="0" t="-333205" r="0" b="-333205"/>
              </a:stretch>
            </a:blipFill>
          </p:spPr>
        </p:sp>
        <p:sp>
          <p:nvSpPr>
            <p:cNvPr name="TextBox 20" id="20"/>
            <p:cNvSpPr txBox="true"/>
            <p:nvPr/>
          </p:nvSpPr>
          <p:spPr>
            <a:xfrm>
              <a:off x="0" y="-19050"/>
              <a:ext cx="10789920" cy="567690"/>
            </a:xfrm>
            <a:prstGeom prst="rect">
              <a:avLst/>
            </a:prstGeom>
          </p:spPr>
          <p:txBody>
            <a:bodyPr anchor="ctr" rtlCol="false" tIns="0" lIns="0" bIns="0" rIns="0"/>
            <a:lstStyle/>
            <a:p>
              <a:pPr algn="l">
                <a:lnSpc>
                  <a:spcPts val="2610"/>
                </a:lnSpc>
              </a:pPr>
              <a:r>
                <a:rPr lang="en-US" sz="2175" b="true">
                  <a:solidFill>
                    <a:srgbClr val="1A5B6E"/>
                  </a:solidFill>
                  <a:latin typeface="Cambria Bold"/>
                  <a:ea typeface="Cambria Bold"/>
                  <a:cs typeface="Cambria Bold"/>
                  <a:sym typeface="Cambria Bold"/>
                </a:rPr>
                <a:t>Ten models, one identical protocol</a:t>
              </a:r>
            </a:p>
          </p:txBody>
        </p:sp>
      </p:grpSp>
      <p:graphicFrame>
        <p:nvGraphicFramePr>
          <p:cNvPr name="Table 21" id="21"/>
          <p:cNvGraphicFramePr>
            <a:graphicFrameLocks noGrp="true"/>
          </p:cNvGraphicFramePr>
          <p:nvPr/>
        </p:nvGraphicFramePr>
        <p:xfrm>
          <a:off x="9281541" y="3408669"/>
          <a:ext cx="7410450" cy="3439531"/>
        </p:xfrm>
        <a:graphic>
          <a:graphicData uri="http://schemas.openxmlformats.org/drawingml/2006/table">
            <a:tbl>
              <a:tblPr/>
              <a:tblGrid>
                <a:gridCol w="2986074"/>
                <a:gridCol w="4424376"/>
              </a:tblGrid>
              <a:tr h="537869">
                <a:tc>
                  <a:txBody>
                    <a:bodyPr anchor="t" rtlCol="false"/>
                    <a:lstStyle/>
                    <a:p>
                      <a:pPr algn="ctr">
                        <a:lnSpc>
                          <a:spcPts val="2249"/>
                        </a:lnSpc>
                        <a:defRPr/>
                      </a:pPr>
                      <a:r>
                        <a:rPr lang="en-US" sz="1874" b="true">
                          <a:solidFill>
                            <a:srgbClr val="FFFFFF"/>
                          </a:solidFill>
                          <a:latin typeface="Calibri (MS) Bold"/>
                          <a:ea typeface="Calibri (MS) Bold"/>
                          <a:cs typeface="Calibri (MS) Bold"/>
                          <a:sym typeface="Calibri (MS) Bold"/>
                        </a:rPr>
                        <a:t>Category</a:t>
                      </a:r>
                      <a:endParaRPr lang="en-US" sz="1100"/>
                    </a:p>
                  </a:txBody>
                  <a:tcPr marL="64008" marR="64008" marT="64008" marB="64008"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1A5B6E"/>
                    </a:solidFill>
                  </a:tcPr>
                </a:tc>
                <a:tc>
                  <a:txBody>
                    <a:bodyPr anchor="t" rtlCol="false"/>
                    <a:lstStyle/>
                    <a:p>
                      <a:pPr algn="ctr">
                        <a:lnSpc>
                          <a:spcPts val="2249"/>
                        </a:lnSpc>
                        <a:defRPr/>
                      </a:pPr>
                      <a:r>
                        <a:rPr lang="en-US" sz="1874" b="true">
                          <a:solidFill>
                            <a:srgbClr val="FFFFFF"/>
                          </a:solidFill>
                          <a:latin typeface="Calibri (MS) Bold"/>
                          <a:ea typeface="Calibri (MS) Bold"/>
                          <a:cs typeface="Calibri (MS) Bold"/>
                          <a:sym typeface="Calibri (MS) Bold"/>
                        </a:rPr>
                        <a:t>Models</a:t>
                      </a:r>
                      <a:endParaRPr lang="en-US" sz="1100"/>
                    </a:p>
                  </a:txBody>
                  <a:tcPr marL="64008" marR="64008" marT="64008" marB="64008"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1A5B6E"/>
                    </a:solidFill>
                  </a:tcPr>
                </a:tc>
              </a:tr>
              <a:tr h="606291">
                <a:tc>
                  <a:txBody>
                    <a:bodyPr anchor="t" rtlCol="false"/>
                    <a:lstStyle/>
                    <a:p>
                      <a:pPr algn="ctr">
                        <a:lnSpc>
                          <a:spcPts val="2159"/>
                        </a:lnSpc>
                        <a:defRPr/>
                      </a:pPr>
                      <a:r>
                        <a:rPr lang="en-US" sz="1799" b="true">
                          <a:solidFill>
                            <a:srgbClr val="1B2A33"/>
                          </a:solidFill>
                          <a:latin typeface="Calibri (MS) Bold"/>
                          <a:ea typeface="Calibri (MS) Bold"/>
                          <a:cs typeface="Calibri (MS) Bold"/>
                          <a:sym typeface="Calibri (MS) Bold"/>
                        </a:rPr>
                        <a:t>Reference floors</a:t>
                      </a:r>
                      <a:endParaRPr lang="en-US" sz="1100"/>
                    </a:p>
                  </a:txBody>
                  <a:tcPr marL="64008" marR="64008" marT="64008" marB="64008"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E0EBEC"/>
                    </a:solidFill>
                  </a:tcPr>
                </a:tc>
                <a:tc>
                  <a:txBody>
                    <a:bodyPr anchor="t" rtlCol="false"/>
                    <a:lstStyle/>
                    <a:p>
                      <a:pPr algn="ctr">
                        <a:lnSpc>
                          <a:spcPts val="2159"/>
                        </a:lnSpc>
                        <a:defRPr/>
                      </a:pPr>
                      <a:r>
                        <a:rPr lang="en-US" sz="1799">
                          <a:solidFill>
                            <a:srgbClr val="39454E"/>
                          </a:solidFill>
                          <a:latin typeface="Calibri (MS)"/>
                          <a:ea typeface="Calibri (MS)"/>
                          <a:cs typeface="Calibri (MS)"/>
                          <a:sym typeface="Calibri (MS)"/>
                        </a:rPr>
                        <a:t>Double-exp curve fit · SVR (RBF)</a:t>
                      </a:r>
                      <a:endParaRPr lang="en-US" sz="1100"/>
                    </a:p>
                  </a:txBody>
                  <a:tcPr marL="64008" marR="64008" marT="64008" marB="64008"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r>
              <a:tr h="849652">
                <a:tc>
                  <a:txBody>
                    <a:bodyPr anchor="t" rtlCol="false"/>
                    <a:lstStyle/>
                    <a:p>
                      <a:pPr algn="ctr">
                        <a:lnSpc>
                          <a:spcPts val="2159"/>
                        </a:lnSpc>
                        <a:defRPr/>
                      </a:pPr>
                      <a:r>
                        <a:rPr lang="en-US" sz="1799" b="true">
                          <a:solidFill>
                            <a:srgbClr val="1B2A33"/>
                          </a:solidFill>
                          <a:latin typeface="Calibri (MS) Bold"/>
                          <a:ea typeface="Calibri (MS) Bold"/>
                          <a:cs typeface="Calibri (MS) Bold"/>
                          <a:sym typeface="Calibri (MS) Bold"/>
                        </a:rPr>
                        <a:t>Data-driven</a:t>
                      </a:r>
                      <a:endParaRPr lang="en-US" sz="1100"/>
                    </a:p>
                  </a:txBody>
                  <a:tcPr marL="64008" marR="64008" marT="64008" marB="64008"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E0EBEC"/>
                    </a:solidFill>
                  </a:tcPr>
                </a:tc>
                <a:tc>
                  <a:txBody>
                    <a:bodyPr anchor="t" rtlCol="false"/>
                    <a:lstStyle/>
                    <a:p>
                      <a:pPr algn="ctr">
                        <a:lnSpc>
                          <a:spcPts val="2159"/>
                        </a:lnSpc>
                        <a:defRPr/>
                      </a:pPr>
                      <a:r>
                        <a:rPr lang="en-US" sz="1799">
                          <a:solidFill>
                            <a:srgbClr val="39454E"/>
                          </a:solidFill>
                          <a:latin typeface="Calibri (MS)"/>
                          <a:ea typeface="Calibri (MS)"/>
                          <a:cs typeface="Calibri (MS)"/>
                          <a:sym typeface="Calibri (MS)"/>
                        </a:rPr>
                        <a:t>LSTM · GRU · Transformer (17k) · Transformer (225k)</a:t>
                      </a:r>
                      <a:endParaRPr lang="en-US" sz="1100"/>
                    </a:p>
                  </a:txBody>
                  <a:tcPr marL="64008" marR="64008" marT="64008" marB="64008"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r>
              <a:tr h="596067">
                <a:tc>
                  <a:txBody>
                    <a:bodyPr anchor="t" rtlCol="false"/>
                    <a:lstStyle/>
                    <a:p>
                      <a:pPr algn="ctr">
                        <a:lnSpc>
                          <a:spcPts val="2159"/>
                        </a:lnSpc>
                        <a:defRPr/>
                      </a:pPr>
                      <a:r>
                        <a:rPr lang="en-US" sz="1799" b="true">
                          <a:solidFill>
                            <a:srgbClr val="1B2A33"/>
                          </a:solidFill>
                          <a:latin typeface="Calibri (MS) Bold"/>
                          <a:ea typeface="Calibri (MS) Bold"/>
                          <a:cs typeface="Calibri (MS) Bold"/>
                          <a:sym typeface="Calibri (MS) Bold"/>
                        </a:rPr>
                        <a:t>Physics-informed</a:t>
                      </a:r>
                      <a:endParaRPr lang="en-US" sz="1100"/>
                    </a:p>
                  </a:txBody>
                  <a:tcPr marL="64008" marR="64008" marT="64008" marB="64008"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E0EBEC"/>
                    </a:solidFill>
                  </a:tcPr>
                </a:tc>
                <a:tc>
                  <a:txBody>
                    <a:bodyPr anchor="t" rtlCol="false"/>
                    <a:lstStyle/>
                    <a:p>
                      <a:pPr algn="ctr">
                        <a:lnSpc>
                          <a:spcPts val="2159"/>
                        </a:lnSpc>
                        <a:defRPr/>
                      </a:pPr>
                      <a:r>
                        <a:rPr lang="en-US" sz="1799">
                          <a:solidFill>
                            <a:srgbClr val="39454E"/>
                          </a:solidFill>
                          <a:latin typeface="Calibri (MS)"/>
                          <a:ea typeface="Calibri (MS)"/>
                          <a:cs typeface="Calibri (MS)"/>
                          <a:sym typeface="Calibri (MS)"/>
                        </a:rPr>
                        <a:t>Neural-ODE</a:t>
                      </a:r>
                      <a:endParaRPr lang="en-US" sz="1100"/>
                    </a:p>
                  </a:txBody>
                  <a:tcPr marL="64008" marR="64008" marT="64008" marB="64008"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r>
              <a:tr h="849652">
                <a:tc>
                  <a:txBody>
                    <a:bodyPr anchor="t" rtlCol="false"/>
                    <a:lstStyle/>
                    <a:p>
                      <a:pPr algn="ctr">
                        <a:lnSpc>
                          <a:spcPts val="2159"/>
                        </a:lnSpc>
                        <a:defRPr/>
                      </a:pPr>
                      <a:r>
                        <a:rPr lang="en-US" sz="1799" b="true">
                          <a:solidFill>
                            <a:srgbClr val="1B2A33"/>
                          </a:solidFill>
                          <a:latin typeface="Calibri (MS) Bold"/>
                          <a:ea typeface="Calibri (MS) Bold"/>
                          <a:cs typeface="Calibri (MS) Bold"/>
                          <a:sym typeface="Calibri (MS) Bold"/>
                        </a:rPr>
                        <a:t>Controls &amp; proposed</a:t>
                      </a:r>
                      <a:endParaRPr lang="en-US" sz="1100"/>
                    </a:p>
                  </a:txBody>
                  <a:tcPr marL="64008" marR="64008" marT="64008" marB="64008"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E0EBEC"/>
                    </a:solidFill>
                  </a:tcPr>
                </a:tc>
                <a:tc>
                  <a:txBody>
                    <a:bodyPr anchor="t" rtlCol="false"/>
                    <a:lstStyle/>
                    <a:p>
                      <a:pPr algn="ctr">
                        <a:lnSpc>
                          <a:spcPts val="2159"/>
                        </a:lnSpc>
                        <a:defRPr/>
                      </a:pPr>
                      <a:r>
                        <a:rPr lang="en-US" sz="1799">
                          <a:solidFill>
                            <a:srgbClr val="39454E"/>
                          </a:solidFill>
                          <a:latin typeface="Calibri (MS)"/>
                          <a:ea typeface="Calibri (MS)"/>
                          <a:cs typeface="Calibri (MS)"/>
                          <a:sym typeface="Calibri (MS)"/>
                        </a:rPr>
                        <a:t>Backbone-64 (physics off) · Hybrid A (fixed) · Hybrid B (learnable)</a:t>
                      </a:r>
                      <a:endParaRPr lang="en-US" sz="1100"/>
                    </a:p>
                  </a:txBody>
                  <a:tcPr marL="64008" marR="64008" marT="64008" marB="64008"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r>
            </a:tbl>
          </a:graphicData>
        </a:graphic>
      </p:graphicFrame>
      <p:grpSp>
        <p:nvGrpSpPr>
          <p:cNvPr name="Group 22" id="22"/>
          <p:cNvGrpSpPr/>
          <p:nvPr/>
        </p:nvGrpSpPr>
        <p:grpSpPr>
          <a:xfrm rot="0">
            <a:off x="1028700" y="7467325"/>
            <a:ext cx="16020288" cy="1596390"/>
            <a:chOff x="0" y="0"/>
            <a:chExt cx="21360384" cy="2128520"/>
          </a:xfrm>
        </p:grpSpPr>
        <p:grpSp>
          <p:nvGrpSpPr>
            <p:cNvPr name="Group 23" id="23"/>
            <p:cNvGrpSpPr/>
            <p:nvPr/>
          </p:nvGrpSpPr>
          <p:grpSpPr>
            <a:xfrm rot="0">
              <a:off x="0" y="0"/>
              <a:ext cx="21360384" cy="2128520"/>
              <a:chOff x="0" y="0"/>
              <a:chExt cx="21360384" cy="2128520"/>
            </a:xfrm>
          </p:grpSpPr>
          <p:sp>
            <p:nvSpPr>
              <p:cNvPr name="Freeform 24" id="24"/>
              <p:cNvSpPr/>
              <p:nvPr/>
            </p:nvSpPr>
            <p:spPr>
              <a:xfrm flipH="false" flipV="false" rot="0">
                <a:off x="0" y="0"/>
                <a:ext cx="21360383" cy="2128520"/>
              </a:xfrm>
              <a:custGeom>
                <a:avLst/>
                <a:gdLst/>
                <a:ahLst/>
                <a:cxnLst/>
                <a:rect r="r" b="b" t="t" l="l"/>
                <a:pathLst>
                  <a:path h="2128520" w="21360383">
                    <a:moveTo>
                      <a:pt x="0" y="129540"/>
                    </a:moveTo>
                    <a:cubicBezTo>
                      <a:pt x="0" y="58039"/>
                      <a:pt x="55822" y="0"/>
                      <a:pt x="124592" y="0"/>
                    </a:cubicBezTo>
                    <a:lnTo>
                      <a:pt x="21235792" y="0"/>
                    </a:lnTo>
                    <a:cubicBezTo>
                      <a:pt x="21304563" y="0"/>
                      <a:pt x="21360383" y="58039"/>
                      <a:pt x="21360383" y="129540"/>
                    </a:cubicBezTo>
                    <a:lnTo>
                      <a:pt x="21360383" y="1998980"/>
                    </a:lnTo>
                    <a:cubicBezTo>
                      <a:pt x="21360383" y="2070481"/>
                      <a:pt x="21304563" y="2128520"/>
                      <a:pt x="21235792" y="2128520"/>
                    </a:cubicBezTo>
                    <a:lnTo>
                      <a:pt x="124592" y="2128520"/>
                    </a:lnTo>
                    <a:cubicBezTo>
                      <a:pt x="55822" y="2128520"/>
                      <a:pt x="0" y="2070481"/>
                      <a:pt x="0" y="1998980"/>
                    </a:cubicBezTo>
                    <a:close/>
                  </a:path>
                </a:pathLst>
              </a:custGeom>
              <a:solidFill>
                <a:srgbClr val="E0EBEC"/>
              </a:solidFill>
              <a:ln w="19050" cap="sq">
                <a:solidFill>
                  <a:srgbClr val="CFDBDC"/>
                </a:solidFill>
                <a:prstDash val="solid"/>
                <a:miter/>
              </a:ln>
            </p:spPr>
          </p:sp>
        </p:grpSp>
        <p:grpSp>
          <p:nvGrpSpPr>
            <p:cNvPr name="Group 25" id="25"/>
            <p:cNvGrpSpPr/>
            <p:nvPr/>
          </p:nvGrpSpPr>
          <p:grpSpPr>
            <a:xfrm rot="0">
              <a:off x="285864" y="12700"/>
              <a:ext cx="21074520" cy="2103120"/>
              <a:chOff x="0" y="0"/>
              <a:chExt cx="21074520" cy="2103120"/>
            </a:xfrm>
          </p:grpSpPr>
          <p:sp>
            <p:nvSpPr>
              <p:cNvPr name="Freeform 26" id="26"/>
              <p:cNvSpPr/>
              <p:nvPr/>
            </p:nvSpPr>
            <p:spPr>
              <a:xfrm flipH="false" flipV="false" rot="0">
                <a:off x="0" y="0"/>
                <a:ext cx="21074520" cy="2103120"/>
              </a:xfrm>
              <a:custGeom>
                <a:avLst/>
                <a:gdLst/>
                <a:ahLst/>
                <a:cxnLst/>
                <a:rect r="r" b="b" t="t" l="l"/>
                <a:pathLst>
                  <a:path h="2103120" w="21074520">
                    <a:moveTo>
                      <a:pt x="0" y="0"/>
                    </a:moveTo>
                    <a:lnTo>
                      <a:pt x="21074520" y="0"/>
                    </a:lnTo>
                    <a:lnTo>
                      <a:pt x="21074520" y="2103120"/>
                    </a:lnTo>
                    <a:lnTo>
                      <a:pt x="0" y="2103120"/>
                    </a:lnTo>
                    <a:close/>
                  </a:path>
                </a:pathLst>
              </a:custGeom>
              <a:blipFill>
                <a:blip r:embed="rId3">
                  <a:alphaModFix amt="0"/>
                </a:blip>
                <a:stretch>
                  <a:fillRect l="0" t="-146036" r="-401" b="-146036"/>
                </a:stretch>
              </a:blipFill>
            </p:spPr>
          </p:sp>
          <p:sp>
            <p:nvSpPr>
              <p:cNvPr name="TextBox 27" id="27"/>
              <p:cNvSpPr txBox="true"/>
              <p:nvPr/>
            </p:nvSpPr>
            <p:spPr>
              <a:xfrm>
                <a:off x="0" y="-57150"/>
                <a:ext cx="21074520" cy="2160270"/>
              </a:xfrm>
              <a:prstGeom prst="rect">
                <a:avLst/>
              </a:prstGeom>
            </p:spPr>
            <p:txBody>
              <a:bodyPr anchor="ctr" rtlCol="false" tIns="0" lIns="0" bIns="0" rIns="0"/>
              <a:lstStyle/>
              <a:p>
                <a:pPr algn="l">
                  <a:lnSpc>
                    <a:spcPts val="2353"/>
                  </a:lnSpc>
                </a:pPr>
                <a:r>
                  <a:rPr lang="en-US" sz="1849" b="true">
                    <a:solidFill>
                      <a:srgbClr val="1B2A33"/>
                    </a:solidFill>
                    <a:latin typeface="Calibri (MS) Bold"/>
                    <a:ea typeface="Calibri (MS) Bold"/>
                    <a:cs typeface="Calibri (MS) Bold"/>
                    <a:sym typeface="Calibri (MS) Bold"/>
                  </a:rPr>
                  <a:t>Metrics.  </a:t>
                </a:r>
                <a:r>
                  <a:rPr lang="en-US" sz="1849">
                    <a:solidFill>
                      <a:srgbClr val="39454E"/>
                    </a:solidFill>
                    <a:latin typeface="Calibri (MS)"/>
                    <a:ea typeface="Calibri (MS)"/>
                    <a:cs typeface="Calibri (MS)"/>
                    <a:sym typeface="Calibri (MS)"/>
                  </a:rPr>
                  <a:t>SOH RMSE / MAE (mean ± 95% CI) · Physical Consistency Score, PCS = fraction with dSOH/dt ≤ 0 (ground truth itself scores ≈ 0.85–0.90 due to real regeneration) · PHM prognostics α–λ (±20% cone) and CRA, post-EOL cycles masked · paired Wilcoxon tests over 12 runs · Cortex-M4 int8 profile.</a:t>
                </a:r>
              </a:p>
            </p:txBody>
          </p:sp>
        </p:grpSp>
      </p:grpSp>
      <p:grpSp>
        <p:nvGrpSpPr>
          <p:cNvPr name="Group 28" id="28"/>
          <p:cNvGrpSpPr/>
          <p:nvPr/>
        </p:nvGrpSpPr>
        <p:grpSpPr>
          <a:xfrm rot="0">
            <a:off x="822960" y="9683496"/>
            <a:ext cx="8229600" cy="411480"/>
            <a:chOff x="0" y="0"/>
            <a:chExt cx="10972800" cy="548640"/>
          </a:xfrm>
        </p:grpSpPr>
        <p:sp>
          <p:nvSpPr>
            <p:cNvPr name="Freeform 29" id="29"/>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30" id="30"/>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6E7A83"/>
                  </a:solidFill>
                  <a:latin typeface="Calibri (MS)"/>
                  <a:ea typeface="Calibri (MS)"/>
                  <a:cs typeface="Calibri (MS)"/>
                  <a:sym typeface="Calibri (MS)"/>
                </a:rPr>
                <a:t>Rajat Sharma · CH24M559 · IIT Madras</a:t>
              </a:r>
            </a:p>
          </p:txBody>
        </p:sp>
      </p:grpSp>
      <p:grpSp>
        <p:nvGrpSpPr>
          <p:cNvPr name="Group 31" id="31"/>
          <p:cNvGrpSpPr/>
          <p:nvPr/>
        </p:nvGrpSpPr>
        <p:grpSpPr>
          <a:xfrm rot="0">
            <a:off x="16637508" y="9683496"/>
            <a:ext cx="822960" cy="411480"/>
            <a:chOff x="0" y="0"/>
            <a:chExt cx="1097280" cy="548640"/>
          </a:xfrm>
        </p:grpSpPr>
        <p:sp>
          <p:nvSpPr>
            <p:cNvPr name="Freeform 32" id="32"/>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3">
                <a:alphaModFix amt="0"/>
              </a:blip>
              <a:stretch>
                <a:fillRect l="-14151" t="0" r="-14151" b="0"/>
              </a:stretch>
            </a:blipFill>
          </p:spPr>
        </p:sp>
        <p:sp>
          <p:nvSpPr>
            <p:cNvPr name="TextBox 33" id="33"/>
            <p:cNvSpPr txBox="true"/>
            <p:nvPr/>
          </p:nvSpPr>
          <p:spPr>
            <a:xfrm>
              <a:off x="0" y="-38100"/>
              <a:ext cx="1097280" cy="586740"/>
            </a:xfrm>
            <a:prstGeom prst="rect">
              <a:avLst/>
            </a:prstGeom>
          </p:spPr>
          <p:txBody>
            <a:bodyPr anchor="ctr" rtlCol="false" tIns="0" lIns="0" bIns="0" rIns="0"/>
            <a:lstStyle/>
            <a:p>
              <a:pPr algn="r">
                <a:lnSpc>
                  <a:spcPts val="1709"/>
                </a:lnSpc>
              </a:pPr>
              <a:r>
                <a:rPr lang="en-US" sz="1425">
                  <a:solidFill>
                    <a:srgbClr val="6E7A83"/>
                  </a:solidFill>
                  <a:latin typeface="Calibri (MS)"/>
                  <a:ea typeface="Calibri (MS)"/>
                  <a:cs typeface="Calibri (MS)"/>
                  <a:sym typeface="Calibri (MS)"/>
                </a:rPr>
                <a:t>9</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BF0F1"/>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16637508" cy="391408"/>
            <a:chOff x="0" y="0"/>
            <a:chExt cx="22183344" cy="521878"/>
          </a:xfrm>
        </p:grpSpPr>
        <p:sp>
          <p:nvSpPr>
            <p:cNvPr name="Freeform 3" id="3"/>
            <p:cNvSpPr/>
            <p:nvPr/>
          </p:nvSpPr>
          <p:spPr>
            <a:xfrm flipH="false" flipV="false" rot="0">
              <a:off x="0" y="0"/>
              <a:ext cx="22183344" cy="521878"/>
            </a:xfrm>
            <a:custGeom>
              <a:avLst/>
              <a:gdLst/>
              <a:ahLst/>
              <a:cxnLst/>
              <a:rect r="r" b="b" t="t" l="l"/>
              <a:pathLst>
                <a:path h="521878" w="22183344">
                  <a:moveTo>
                    <a:pt x="0" y="0"/>
                  </a:moveTo>
                  <a:lnTo>
                    <a:pt x="22183344" y="0"/>
                  </a:lnTo>
                  <a:lnTo>
                    <a:pt x="22183344" y="521878"/>
                  </a:lnTo>
                  <a:lnTo>
                    <a:pt x="0" y="521878"/>
                  </a:lnTo>
                  <a:close/>
                </a:path>
              </a:pathLst>
            </a:custGeom>
            <a:blipFill>
              <a:blip r:embed="rId3">
                <a:alphaModFix amt="0"/>
              </a:blip>
              <a:stretch>
                <a:fillRect l="0" t="-782690" r="0" b="-773801"/>
              </a:stretch>
            </a:blipFill>
          </p:spPr>
        </p:sp>
        <p:sp>
          <p:nvSpPr>
            <p:cNvPr name="TextBox 4" id="4"/>
            <p:cNvSpPr txBox="true"/>
            <p:nvPr/>
          </p:nvSpPr>
          <p:spPr>
            <a:xfrm>
              <a:off x="0" y="-47625"/>
              <a:ext cx="22183344" cy="569503"/>
            </a:xfrm>
            <a:prstGeom prst="rect">
              <a:avLst/>
            </a:prstGeom>
          </p:spPr>
          <p:txBody>
            <a:bodyPr anchor="ctr" rtlCol="false" tIns="0" lIns="0" bIns="0" rIns="0"/>
            <a:lstStyle/>
            <a:p>
              <a:pPr algn="l">
                <a:lnSpc>
                  <a:spcPts val="2339"/>
                </a:lnSpc>
              </a:pPr>
              <a:r>
                <a:rPr lang="en-US" b="true" sz="1949" spc="425">
                  <a:solidFill>
                    <a:srgbClr val="1A5B6E"/>
                  </a:solidFill>
                  <a:latin typeface="Calibri (MS) Bold"/>
                  <a:ea typeface="Calibri (MS) Bold"/>
                  <a:cs typeface="Calibri (MS) Bold"/>
                  <a:sym typeface="Calibri (MS) Bold"/>
                </a:rPr>
                <a:t>RESULTS I</a:t>
              </a:r>
            </a:p>
          </p:txBody>
        </p:sp>
      </p:grpSp>
      <p:grpSp>
        <p:nvGrpSpPr>
          <p:cNvPr name="Group 5" id="5"/>
          <p:cNvGrpSpPr/>
          <p:nvPr/>
        </p:nvGrpSpPr>
        <p:grpSpPr>
          <a:xfrm rot="0">
            <a:off x="822960" y="960120"/>
            <a:ext cx="16637508" cy="850392"/>
            <a:chOff x="0" y="0"/>
            <a:chExt cx="22183344" cy="1133856"/>
          </a:xfrm>
        </p:grpSpPr>
        <p:sp>
          <p:nvSpPr>
            <p:cNvPr name="Freeform 6" id="6"/>
            <p:cNvSpPr/>
            <p:nvPr/>
          </p:nvSpPr>
          <p:spPr>
            <a:xfrm flipH="false" flipV="false" rot="0">
              <a:off x="0" y="0"/>
              <a:ext cx="22183344" cy="1133856"/>
            </a:xfrm>
            <a:custGeom>
              <a:avLst/>
              <a:gdLst/>
              <a:ahLst/>
              <a:cxnLst/>
              <a:rect r="r" b="b" t="t" l="l"/>
              <a:pathLst>
                <a:path h="1133856" w="22183344">
                  <a:moveTo>
                    <a:pt x="0" y="0"/>
                  </a:moveTo>
                  <a:lnTo>
                    <a:pt x="22183344" y="0"/>
                  </a:lnTo>
                  <a:lnTo>
                    <a:pt x="22183344" y="1133856"/>
                  </a:lnTo>
                  <a:lnTo>
                    <a:pt x="0" y="1133856"/>
                  </a:lnTo>
                  <a:close/>
                </a:path>
              </a:pathLst>
            </a:custGeom>
            <a:blipFill>
              <a:blip r:embed="rId3">
                <a:alphaModFix amt="0"/>
              </a:blip>
              <a:stretch>
                <a:fillRect l="0" t="-331215" r="0" b="-331215"/>
              </a:stretch>
            </a:blipFill>
          </p:spPr>
        </p:sp>
        <p:sp>
          <p:nvSpPr>
            <p:cNvPr name="TextBox 7" id="7"/>
            <p:cNvSpPr txBox="true"/>
            <p:nvPr/>
          </p:nvSpPr>
          <p:spPr>
            <a:xfrm>
              <a:off x="0" y="-9525"/>
              <a:ext cx="22183344" cy="1143381"/>
            </a:xfrm>
            <a:prstGeom prst="rect">
              <a:avLst/>
            </a:prstGeom>
          </p:spPr>
          <p:txBody>
            <a:bodyPr anchor="ctr" rtlCol="false" tIns="0" lIns="0" bIns="0" rIns="0"/>
            <a:lstStyle/>
            <a:p>
              <a:pPr algn="l">
                <a:lnSpc>
                  <a:spcPts val="5220"/>
                </a:lnSpc>
              </a:pPr>
              <a:r>
                <a:rPr lang="en-US" sz="4350" b="true">
                  <a:solidFill>
                    <a:srgbClr val="1B2A33"/>
                  </a:solidFill>
                  <a:latin typeface="Cambria Bold"/>
                  <a:ea typeface="Cambria Bold"/>
                  <a:cs typeface="Cambria Bold"/>
                  <a:sym typeface="Cambria Bold"/>
                </a:rPr>
                <a:t>Learnable Physics Wins — and the Gain Is Attributable</a:t>
              </a:r>
            </a:p>
          </p:txBody>
        </p:sp>
      </p:grpSp>
      <p:grpSp>
        <p:nvGrpSpPr>
          <p:cNvPr name="Group 8" id="8"/>
          <p:cNvGrpSpPr/>
          <p:nvPr/>
        </p:nvGrpSpPr>
        <p:grpSpPr>
          <a:xfrm rot="0">
            <a:off x="813435" y="2185035"/>
            <a:ext cx="9688830" cy="5313426"/>
            <a:chOff x="0" y="0"/>
            <a:chExt cx="12918440" cy="7084568"/>
          </a:xfrm>
        </p:grpSpPr>
        <p:sp>
          <p:nvSpPr>
            <p:cNvPr name="Freeform 9" id="9"/>
            <p:cNvSpPr/>
            <p:nvPr/>
          </p:nvSpPr>
          <p:spPr>
            <a:xfrm flipH="false" flipV="false" rot="0">
              <a:off x="0" y="0"/>
              <a:ext cx="12918313" cy="7084568"/>
            </a:xfrm>
            <a:custGeom>
              <a:avLst/>
              <a:gdLst/>
              <a:ahLst/>
              <a:cxnLst/>
              <a:rect r="r" b="b" t="t" l="l"/>
              <a:pathLst>
                <a:path h="7084568" w="12918313">
                  <a:moveTo>
                    <a:pt x="0" y="128397"/>
                  </a:moveTo>
                  <a:cubicBezTo>
                    <a:pt x="0" y="57531"/>
                    <a:pt x="57531" y="0"/>
                    <a:pt x="128397" y="0"/>
                  </a:cubicBezTo>
                  <a:lnTo>
                    <a:pt x="12789915" y="0"/>
                  </a:lnTo>
                  <a:cubicBezTo>
                    <a:pt x="12860909" y="0"/>
                    <a:pt x="12918313" y="57531"/>
                    <a:pt x="12918313" y="128397"/>
                  </a:cubicBezTo>
                  <a:lnTo>
                    <a:pt x="12918313" y="6956171"/>
                  </a:lnTo>
                  <a:cubicBezTo>
                    <a:pt x="12918313" y="7027164"/>
                    <a:pt x="12860782" y="7084568"/>
                    <a:pt x="12789915" y="7084568"/>
                  </a:cubicBezTo>
                  <a:lnTo>
                    <a:pt x="128397" y="7084568"/>
                  </a:lnTo>
                  <a:cubicBezTo>
                    <a:pt x="57531" y="7084568"/>
                    <a:pt x="0" y="7027037"/>
                    <a:pt x="0" y="6956171"/>
                  </a:cubicBezTo>
                  <a:close/>
                </a:path>
              </a:pathLst>
            </a:custGeom>
            <a:solidFill>
              <a:srgbClr val="FFFFFF"/>
            </a:solidFill>
            <a:ln w="19050" cap="sq">
              <a:solidFill>
                <a:srgbClr val="CFDBDC"/>
              </a:solidFill>
              <a:prstDash val="solid"/>
              <a:miter/>
            </a:ln>
          </p:spPr>
        </p:sp>
      </p:grpSp>
      <p:grpSp>
        <p:nvGrpSpPr>
          <p:cNvPr name="Group 10" id="10"/>
          <p:cNvGrpSpPr/>
          <p:nvPr/>
        </p:nvGrpSpPr>
        <p:grpSpPr>
          <a:xfrm rot="0">
            <a:off x="1108281" y="2414016"/>
            <a:ext cx="9099137" cy="4855464"/>
            <a:chOff x="0" y="0"/>
            <a:chExt cx="12132183" cy="6473952"/>
          </a:xfrm>
        </p:grpSpPr>
        <p:sp>
          <p:nvSpPr>
            <p:cNvPr name="Freeform 11" id="11" descr="/tmp/figs/fig6_3.png"/>
            <p:cNvSpPr/>
            <p:nvPr/>
          </p:nvSpPr>
          <p:spPr>
            <a:xfrm flipH="false" flipV="false" rot="0">
              <a:off x="0" y="0"/>
              <a:ext cx="12132183" cy="6473952"/>
            </a:xfrm>
            <a:custGeom>
              <a:avLst/>
              <a:gdLst/>
              <a:ahLst/>
              <a:cxnLst/>
              <a:rect r="r" b="b" t="t" l="l"/>
              <a:pathLst>
                <a:path h="6473952" w="12132183">
                  <a:moveTo>
                    <a:pt x="0" y="0"/>
                  </a:moveTo>
                  <a:lnTo>
                    <a:pt x="12132183" y="0"/>
                  </a:lnTo>
                  <a:lnTo>
                    <a:pt x="12132183" y="6473952"/>
                  </a:lnTo>
                  <a:lnTo>
                    <a:pt x="0" y="6473952"/>
                  </a:lnTo>
                  <a:lnTo>
                    <a:pt x="0" y="0"/>
                  </a:lnTo>
                  <a:close/>
                </a:path>
              </a:pathLst>
            </a:custGeom>
            <a:blipFill>
              <a:blip r:embed="rId4"/>
              <a:stretch>
                <a:fillRect l="0" t="-1" r="0" b="-1"/>
              </a:stretch>
            </a:blipFill>
          </p:spPr>
        </p:sp>
      </p:grpSp>
      <p:grpSp>
        <p:nvGrpSpPr>
          <p:cNvPr name="Group 12" id="12"/>
          <p:cNvGrpSpPr/>
          <p:nvPr/>
        </p:nvGrpSpPr>
        <p:grpSpPr>
          <a:xfrm rot="0">
            <a:off x="822960" y="7571232"/>
            <a:ext cx="9669780" cy="685800"/>
            <a:chOff x="0" y="0"/>
            <a:chExt cx="12893040" cy="914400"/>
          </a:xfrm>
        </p:grpSpPr>
        <p:sp>
          <p:nvSpPr>
            <p:cNvPr name="Freeform 13" id="13"/>
            <p:cNvSpPr/>
            <p:nvPr/>
          </p:nvSpPr>
          <p:spPr>
            <a:xfrm flipH="false" flipV="false" rot="0">
              <a:off x="0" y="0"/>
              <a:ext cx="12893040" cy="914400"/>
            </a:xfrm>
            <a:custGeom>
              <a:avLst/>
              <a:gdLst/>
              <a:ahLst/>
              <a:cxnLst/>
              <a:rect r="r" b="b" t="t" l="l"/>
              <a:pathLst>
                <a:path h="914400" w="12893040">
                  <a:moveTo>
                    <a:pt x="0" y="0"/>
                  </a:moveTo>
                  <a:lnTo>
                    <a:pt x="12893040" y="0"/>
                  </a:lnTo>
                  <a:lnTo>
                    <a:pt x="12893040" y="914400"/>
                  </a:lnTo>
                  <a:lnTo>
                    <a:pt x="0" y="914400"/>
                  </a:lnTo>
                  <a:close/>
                </a:path>
              </a:pathLst>
            </a:custGeom>
            <a:blipFill>
              <a:blip r:embed="rId3">
                <a:alphaModFix amt="0"/>
              </a:blip>
              <a:stretch>
                <a:fillRect l="0" t="-224739" r="0" b="-224739"/>
              </a:stretch>
            </a:blipFill>
          </p:spPr>
        </p:sp>
        <p:sp>
          <p:nvSpPr>
            <p:cNvPr name="TextBox 14" id="14"/>
            <p:cNvSpPr txBox="true"/>
            <p:nvPr/>
          </p:nvSpPr>
          <p:spPr>
            <a:xfrm>
              <a:off x="0" y="-38100"/>
              <a:ext cx="12893040" cy="952500"/>
            </a:xfrm>
            <a:prstGeom prst="rect">
              <a:avLst/>
            </a:prstGeom>
          </p:spPr>
          <p:txBody>
            <a:bodyPr anchor="ctr" rtlCol="false" tIns="0" lIns="0" bIns="0" rIns="0"/>
            <a:lstStyle/>
            <a:p>
              <a:pPr algn="ctr">
                <a:lnSpc>
                  <a:spcPts val="1744"/>
                </a:lnSpc>
              </a:pPr>
              <a:r>
                <a:rPr lang="en-US" sz="1425" i="true">
                  <a:solidFill>
                    <a:srgbClr val="6E7A83"/>
                  </a:solidFill>
                  <a:latin typeface="Calibri (MS) Italics"/>
                  <a:ea typeface="Calibri (MS) Italics"/>
                  <a:cs typeface="Calibri (MS) Italics"/>
                  <a:sym typeface="Calibri (MS) Italics"/>
                </a:rPr>
                <a:t>Fig. 6.3 — SOH RMSE, NASA leave-one-cell-out (mean ± 95% CI; parameter counts above bars).</a:t>
              </a:r>
            </a:p>
          </p:txBody>
        </p:sp>
      </p:grpSp>
      <p:grpSp>
        <p:nvGrpSpPr>
          <p:cNvPr name="Group 15" id="15"/>
          <p:cNvGrpSpPr/>
          <p:nvPr/>
        </p:nvGrpSpPr>
        <p:grpSpPr>
          <a:xfrm rot="0">
            <a:off x="10757535" y="2185035"/>
            <a:ext cx="6712458" cy="4339590"/>
            <a:chOff x="0" y="0"/>
            <a:chExt cx="8949944" cy="5786120"/>
          </a:xfrm>
        </p:grpSpPr>
        <p:sp>
          <p:nvSpPr>
            <p:cNvPr name="Freeform 16" id="16"/>
            <p:cNvSpPr/>
            <p:nvPr/>
          </p:nvSpPr>
          <p:spPr>
            <a:xfrm flipH="false" flipV="false" rot="0">
              <a:off x="0" y="0"/>
              <a:ext cx="8949944" cy="5786120"/>
            </a:xfrm>
            <a:custGeom>
              <a:avLst/>
              <a:gdLst/>
              <a:ahLst/>
              <a:cxnLst/>
              <a:rect r="r" b="b" t="t" l="l"/>
              <a:pathLst>
                <a:path h="5786120" w="8949944">
                  <a:moveTo>
                    <a:pt x="0" y="128524"/>
                  </a:moveTo>
                  <a:cubicBezTo>
                    <a:pt x="0" y="57531"/>
                    <a:pt x="57531" y="0"/>
                    <a:pt x="128524" y="0"/>
                  </a:cubicBezTo>
                  <a:lnTo>
                    <a:pt x="8821420" y="0"/>
                  </a:lnTo>
                  <a:cubicBezTo>
                    <a:pt x="8892413" y="0"/>
                    <a:pt x="8949944" y="57531"/>
                    <a:pt x="8949944" y="128524"/>
                  </a:cubicBezTo>
                  <a:lnTo>
                    <a:pt x="8949944" y="5657596"/>
                  </a:lnTo>
                  <a:cubicBezTo>
                    <a:pt x="8949944" y="5728589"/>
                    <a:pt x="8892413" y="5786120"/>
                    <a:pt x="8821420" y="5786120"/>
                  </a:cubicBezTo>
                  <a:lnTo>
                    <a:pt x="128524" y="5786120"/>
                  </a:lnTo>
                  <a:cubicBezTo>
                    <a:pt x="57531" y="5786120"/>
                    <a:pt x="0" y="5728589"/>
                    <a:pt x="0" y="5657596"/>
                  </a:cubicBezTo>
                  <a:close/>
                </a:path>
              </a:pathLst>
            </a:custGeom>
            <a:solidFill>
              <a:srgbClr val="FFFFFF"/>
            </a:solidFill>
            <a:ln w="19050" cap="sq">
              <a:solidFill>
                <a:srgbClr val="CFDBDC"/>
              </a:solidFill>
              <a:prstDash val="solid"/>
              <a:miter/>
            </a:ln>
          </p:spPr>
        </p:sp>
      </p:grpSp>
      <p:graphicFrame>
        <p:nvGraphicFramePr>
          <p:cNvPr name="Table 17" id="17"/>
          <p:cNvGraphicFramePr>
            <a:graphicFrameLocks noGrp="true"/>
          </p:cNvGraphicFramePr>
          <p:nvPr/>
        </p:nvGraphicFramePr>
        <p:xfrm>
          <a:off x="10959084" y="2386584"/>
          <a:ext cx="6286500" cy="3964517"/>
        </p:xfrm>
        <a:graphic>
          <a:graphicData uri="http://schemas.openxmlformats.org/drawingml/2006/table">
            <a:tbl>
              <a:tblPr/>
              <a:tblGrid>
                <a:gridCol w="3668529"/>
                <a:gridCol w="1308985"/>
                <a:gridCol w="1308985"/>
              </a:tblGrid>
              <a:tr h="660753">
                <a:tc>
                  <a:txBody>
                    <a:bodyPr anchor="t" rtlCol="false"/>
                    <a:lstStyle/>
                    <a:p>
                      <a:pPr algn="ctr">
                        <a:lnSpc>
                          <a:spcPts val="2129"/>
                        </a:lnSpc>
                        <a:defRPr/>
                      </a:pPr>
                      <a:r>
                        <a:rPr lang="en-US" sz="1774" b="true">
                          <a:solidFill>
                            <a:srgbClr val="FFFFFF"/>
                          </a:solidFill>
                          <a:latin typeface="Calibri (MS) Bold"/>
                          <a:ea typeface="Calibri (MS) Bold"/>
                          <a:cs typeface="Calibri (MS) Bold"/>
                          <a:sym typeface="Calibri (MS) Bold"/>
                        </a:rPr>
                        <a:t>Model</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1A5B6E"/>
                    </a:solidFill>
                  </a:tcPr>
                </a:tc>
                <a:tc>
                  <a:txBody>
                    <a:bodyPr anchor="t" rtlCol="false"/>
                    <a:lstStyle/>
                    <a:p>
                      <a:pPr algn="ctr">
                        <a:lnSpc>
                          <a:spcPts val="2129"/>
                        </a:lnSpc>
                        <a:defRPr/>
                      </a:pPr>
                      <a:r>
                        <a:rPr lang="en-US" sz="1774" b="true">
                          <a:solidFill>
                            <a:srgbClr val="FFFFFF"/>
                          </a:solidFill>
                          <a:latin typeface="Calibri (MS) Bold"/>
                          <a:ea typeface="Calibri (MS) Bold"/>
                          <a:cs typeface="Calibri (MS) Bold"/>
                          <a:sym typeface="Calibri (MS) Bold"/>
                        </a:rPr>
                        <a:t>RMSE</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1A5B6E"/>
                    </a:solidFill>
                  </a:tcPr>
                </a:tc>
                <a:tc>
                  <a:txBody>
                    <a:bodyPr anchor="t" rtlCol="false"/>
                    <a:lstStyle/>
                    <a:p>
                      <a:pPr algn="ctr">
                        <a:lnSpc>
                          <a:spcPts val="2129"/>
                        </a:lnSpc>
                        <a:defRPr/>
                      </a:pPr>
                      <a:r>
                        <a:rPr lang="en-US" sz="1774" b="true">
                          <a:solidFill>
                            <a:srgbClr val="FFFFFF"/>
                          </a:solidFill>
                          <a:latin typeface="Calibri (MS) Bold"/>
                          <a:ea typeface="Calibri (MS) Bold"/>
                          <a:cs typeface="Calibri (MS) Bold"/>
                          <a:sym typeface="Calibri (MS) Bold"/>
                        </a:rPr>
                        <a:t>PCS</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1A5B6E"/>
                    </a:solidFill>
                  </a:tcPr>
                </a:tc>
              </a:tr>
              <a:tr h="660753">
                <a:tc>
                  <a:txBody>
                    <a:bodyPr anchor="t" rtlCol="false"/>
                    <a:lstStyle/>
                    <a:p>
                      <a:pPr algn="ctr">
                        <a:lnSpc>
                          <a:spcPts val="2129"/>
                        </a:lnSpc>
                        <a:defRPr/>
                      </a:pPr>
                      <a:r>
                        <a:rPr lang="en-US" sz="1774">
                          <a:solidFill>
                            <a:srgbClr val="39454E"/>
                          </a:solidFill>
                          <a:latin typeface="Calibri (MS)"/>
                          <a:ea typeface="Calibri (MS)"/>
                          <a:cs typeface="Calibri (MS)"/>
                          <a:sym typeface="Calibri (MS)"/>
                        </a:rPr>
                        <a:t>LSTM</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c>
                  <a:txBody>
                    <a:bodyPr anchor="t" rtlCol="false"/>
                    <a:lstStyle/>
                    <a:p>
                      <a:pPr algn="ctr">
                        <a:lnSpc>
                          <a:spcPts val="2129"/>
                        </a:lnSpc>
                        <a:defRPr/>
                      </a:pPr>
                      <a:r>
                        <a:rPr lang="en-US" sz="1774">
                          <a:solidFill>
                            <a:srgbClr val="39454E"/>
                          </a:solidFill>
                          <a:latin typeface="Calibri (MS)"/>
                          <a:ea typeface="Calibri (MS)"/>
                          <a:cs typeface="Calibri (MS)"/>
                          <a:sym typeface="Calibri (MS)"/>
                        </a:rPr>
                        <a:t>0.0369</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c>
                  <a:txBody>
                    <a:bodyPr anchor="t" rtlCol="false"/>
                    <a:lstStyle/>
                    <a:p>
                      <a:pPr algn="ctr">
                        <a:lnSpc>
                          <a:spcPts val="2129"/>
                        </a:lnSpc>
                        <a:defRPr/>
                      </a:pPr>
                      <a:r>
                        <a:rPr lang="en-US" sz="1774">
                          <a:solidFill>
                            <a:srgbClr val="39454E"/>
                          </a:solidFill>
                          <a:latin typeface="Calibri (MS)"/>
                          <a:ea typeface="Calibri (MS)"/>
                          <a:cs typeface="Calibri (MS)"/>
                          <a:sym typeface="Calibri (MS)"/>
                        </a:rPr>
                        <a:t>0.800</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r>
              <a:tr h="660753">
                <a:tc>
                  <a:txBody>
                    <a:bodyPr anchor="t" rtlCol="false"/>
                    <a:lstStyle/>
                    <a:p>
                      <a:pPr algn="ctr">
                        <a:lnSpc>
                          <a:spcPts val="2129"/>
                        </a:lnSpc>
                        <a:defRPr/>
                      </a:pPr>
                      <a:r>
                        <a:rPr lang="en-US" sz="1774">
                          <a:solidFill>
                            <a:srgbClr val="39454E"/>
                          </a:solidFill>
                          <a:latin typeface="Calibri (MS)"/>
                          <a:ea typeface="Calibri (MS)"/>
                          <a:cs typeface="Calibri (MS)"/>
                          <a:sym typeface="Calibri (MS)"/>
                        </a:rPr>
                        <a:t>Transformer (225k)</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c>
                  <a:txBody>
                    <a:bodyPr anchor="t" rtlCol="false"/>
                    <a:lstStyle/>
                    <a:p>
                      <a:pPr algn="ctr">
                        <a:lnSpc>
                          <a:spcPts val="2129"/>
                        </a:lnSpc>
                        <a:defRPr/>
                      </a:pPr>
                      <a:r>
                        <a:rPr lang="en-US" sz="1774">
                          <a:solidFill>
                            <a:srgbClr val="39454E"/>
                          </a:solidFill>
                          <a:latin typeface="Calibri (MS)"/>
                          <a:ea typeface="Calibri (MS)"/>
                          <a:cs typeface="Calibri (MS)"/>
                          <a:sym typeface="Calibri (MS)"/>
                        </a:rPr>
                        <a:t>0.0369</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c>
                  <a:txBody>
                    <a:bodyPr anchor="t" rtlCol="false"/>
                    <a:lstStyle/>
                    <a:p>
                      <a:pPr algn="ctr">
                        <a:lnSpc>
                          <a:spcPts val="2129"/>
                        </a:lnSpc>
                        <a:defRPr/>
                      </a:pPr>
                      <a:r>
                        <a:rPr lang="en-US" sz="1774">
                          <a:solidFill>
                            <a:srgbClr val="39454E"/>
                          </a:solidFill>
                          <a:latin typeface="Calibri (MS)"/>
                          <a:ea typeface="Calibri (MS)"/>
                          <a:cs typeface="Calibri (MS)"/>
                          <a:sym typeface="Calibri (MS)"/>
                        </a:rPr>
                        <a:t>0.770</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r>
              <a:tr h="660753">
                <a:tc>
                  <a:txBody>
                    <a:bodyPr anchor="t" rtlCol="false"/>
                    <a:lstStyle/>
                    <a:p>
                      <a:pPr algn="ctr">
                        <a:lnSpc>
                          <a:spcPts val="2129"/>
                        </a:lnSpc>
                        <a:defRPr/>
                      </a:pPr>
                      <a:r>
                        <a:rPr lang="en-US" sz="1774">
                          <a:solidFill>
                            <a:srgbClr val="39454E"/>
                          </a:solidFill>
                          <a:latin typeface="Calibri (MS)"/>
                          <a:ea typeface="Calibri (MS)"/>
                          <a:cs typeface="Calibri (MS)"/>
                          <a:sym typeface="Calibri (MS)"/>
                        </a:rPr>
                        <a:t>Backbone-64 (physics off)</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c>
                  <a:txBody>
                    <a:bodyPr anchor="t" rtlCol="false"/>
                    <a:lstStyle/>
                    <a:p>
                      <a:pPr algn="ctr">
                        <a:lnSpc>
                          <a:spcPts val="2129"/>
                        </a:lnSpc>
                        <a:defRPr/>
                      </a:pPr>
                      <a:r>
                        <a:rPr lang="en-US" sz="1774">
                          <a:solidFill>
                            <a:srgbClr val="39454E"/>
                          </a:solidFill>
                          <a:latin typeface="Calibri (MS)"/>
                          <a:ea typeface="Calibri (MS)"/>
                          <a:cs typeface="Calibri (MS)"/>
                          <a:sym typeface="Calibri (MS)"/>
                        </a:rPr>
                        <a:t>0.0377</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c>
                  <a:txBody>
                    <a:bodyPr anchor="t" rtlCol="false"/>
                    <a:lstStyle/>
                    <a:p>
                      <a:pPr algn="ctr">
                        <a:lnSpc>
                          <a:spcPts val="2129"/>
                        </a:lnSpc>
                        <a:defRPr/>
                      </a:pPr>
                      <a:r>
                        <a:rPr lang="en-US" sz="1774">
                          <a:solidFill>
                            <a:srgbClr val="39454E"/>
                          </a:solidFill>
                          <a:latin typeface="Calibri (MS)"/>
                          <a:ea typeface="Calibri (MS)"/>
                          <a:cs typeface="Calibri (MS)"/>
                          <a:sym typeface="Calibri (MS)"/>
                        </a:rPr>
                        <a:t>0.879</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r>
              <a:tr h="660753">
                <a:tc>
                  <a:txBody>
                    <a:bodyPr anchor="t" rtlCol="false"/>
                    <a:lstStyle/>
                    <a:p>
                      <a:pPr algn="ctr">
                        <a:lnSpc>
                          <a:spcPts val="2129"/>
                        </a:lnSpc>
                        <a:defRPr/>
                      </a:pPr>
                      <a:r>
                        <a:rPr lang="en-US" sz="1774">
                          <a:solidFill>
                            <a:srgbClr val="39454E"/>
                          </a:solidFill>
                          <a:latin typeface="Calibri (MS)"/>
                          <a:ea typeface="Calibri (MS)"/>
                          <a:cs typeface="Calibri (MS)"/>
                          <a:sym typeface="Calibri (MS)"/>
                        </a:rPr>
                        <a:t>Hybrid A (fixed prior)</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c>
                  <a:txBody>
                    <a:bodyPr anchor="t" rtlCol="false"/>
                    <a:lstStyle/>
                    <a:p>
                      <a:pPr algn="ctr">
                        <a:lnSpc>
                          <a:spcPts val="2129"/>
                        </a:lnSpc>
                        <a:defRPr/>
                      </a:pPr>
                      <a:r>
                        <a:rPr lang="en-US" sz="1774">
                          <a:solidFill>
                            <a:srgbClr val="39454E"/>
                          </a:solidFill>
                          <a:latin typeface="Calibri (MS)"/>
                          <a:ea typeface="Calibri (MS)"/>
                          <a:cs typeface="Calibri (MS)"/>
                          <a:sym typeface="Calibri (MS)"/>
                        </a:rPr>
                        <a:t>0.0382</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c>
                  <a:txBody>
                    <a:bodyPr anchor="t" rtlCol="false"/>
                    <a:lstStyle/>
                    <a:p>
                      <a:pPr algn="ctr">
                        <a:lnSpc>
                          <a:spcPts val="2129"/>
                        </a:lnSpc>
                        <a:defRPr/>
                      </a:pPr>
                      <a:r>
                        <a:rPr lang="en-US" sz="1774">
                          <a:solidFill>
                            <a:srgbClr val="39454E"/>
                          </a:solidFill>
                          <a:latin typeface="Calibri (MS)"/>
                          <a:ea typeface="Calibri (MS)"/>
                          <a:cs typeface="Calibri (MS)"/>
                          <a:sym typeface="Calibri (MS)"/>
                        </a:rPr>
                        <a:t>0.876</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FFFFFF"/>
                    </a:solidFill>
                  </a:tcPr>
                </a:tc>
              </a:tr>
              <a:tr h="660753">
                <a:tc>
                  <a:txBody>
                    <a:bodyPr anchor="t" rtlCol="false"/>
                    <a:lstStyle/>
                    <a:p>
                      <a:pPr algn="ctr">
                        <a:lnSpc>
                          <a:spcPts val="2129"/>
                        </a:lnSpc>
                        <a:defRPr/>
                      </a:pPr>
                      <a:r>
                        <a:rPr lang="en-US" sz="1774" b="true">
                          <a:solidFill>
                            <a:srgbClr val="1B2A33"/>
                          </a:solidFill>
                          <a:latin typeface="Calibri (MS) Bold"/>
                          <a:ea typeface="Calibri (MS) Bold"/>
                          <a:cs typeface="Calibri (MS) Bold"/>
                          <a:sym typeface="Calibri (MS) Bold"/>
                        </a:rPr>
                        <a:t>Hybrid B (learnable)</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E0EBEC"/>
                    </a:solidFill>
                  </a:tcPr>
                </a:tc>
                <a:tc>
                  <a:txBody>
                    <a:bodyPr anchor="t" rtlCol="false"/>
                    <a:lstStyle/>
                    <a:p>
                      <a:pPr algn="ctr">
                        <a:lnSpc>
                          <a:spcPts val="2129"/>
                        </a:lnSpc>
                        <a:defRPr/>
                      </a:pPr>
                      <a:r>
                        <a:rPr lang="en-US" sz="1774" b="true">
                          <a:solidFill>
                            <a:srgbClr val="1B2A33"/>
                          </a:solidFill>
                          <a:latin typeface="Calibri (MS) Bold"/>
                          <a:ea typeface="Calibri (MS) Bold"/>
                          <a:cs typeface="Calibri (MS) Bold"/>
                          <a:sym typeface="Calibri (MS) Bold"/>
                        </a:rPr>
                        <a:t>0.0292</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E0EBEC"/>
                    </a:solidFill>
                  </a:tcPr>
                </a:tc>
                <a:tc>
                  <a:txBody>
                    <a:bodyPr anchor="t" rtlCol="false"/>
                    <a:lstStyle/>
                    <a:p>
                      <a:pPr algn="ctr">
                        <a:lnSpc>
                          <a:spcPts val="2129"/>
                        </a:lnSpc>
                        <a:defRPr/>
                      </a:pPr>
                      <a:r>
                        <a:rPr lang="en-US" sz="1774" b="true">
                          <a:solidFill>
                            <a:srgbClr val="1B2A33"/>
                          </a:solidFill>
                          <a:latin typeface="Calibri (MS) Bold"/>
                          <a:ea typeface="Calibri (MS) Bold"/>
                          <a:cs typeface="Calibri (MS) Bold"/>
                          <a:sym typeface="Calibri (MS) Bold"/>
                        </a:rPr>
                        <a:t>0.884</a:t>
                      </a:r>
                      <a:endParaRPr lang="en-US" sz="1100"/>
                    </a:p>
                  </a:txBody>
                  <a:tcPr marL="54864" marR="54864" marT="54864" marB="54864" anchor="ctr">
                    <a:lnL cmpd="sng" algn="ctr" cap="flat" w="28575">
                      <a:solidFill>
                        <a:srgbClr val="CFDBDC"/>
                      </a:solidFill>
                      <a:prstDash val="solid"/>
                      <a:round/>
                      <a:headEnd type="none" w="med" len="med"/>
                      <a:tailEnd type="none" w="med" len="med"/>
                    </a:lnL>
                    <a:lnR cmpd="sng" algn="ctr" cap="flat" w="28575">
                      <a:solidFill>
                        <a:srgbClr val="CFDBDC"/>
                      </a:solidFill>
                      <a:prstDash val="solid"/>
                      <a:round/>
                      <a:headEnd type="none" w="med" len="med"/>
                      <a:tailEnd type="none" w="med" len="med"/>
                    </a:lnR>
                    <a:lnT cmpd="sng" algn="ctr" cap="flat" w="28575">
                      <a:solidFill>
                        <a:srgbClr val="CFDBDC"/>
                      </a:solidFill>
                      <a:prstDash val="solid"/>
                      <a:round/>
                      <a:headEnd type="none" w="med" len="med"/>
                      <a:tailEnd type="none" w="med" len="med"/>
                    </a:lnT>
                    <a:lnB cmpd="sng" algn="ctr" cap="flat" w="28575">
                      <a:solidFill>
                        <a:srgbClr val="CFDBDC"/>
                      </a:solidFill>
                      <a:prstDash val="solid"/>
                      <a:round/>
                      <a:headEnd type="none" w="med" len="med"/>
                      <a:tailEnd type="none" w="med" len="med"/>
                    </a:lnB>
                    <a:solidFill>
                      <a:srgbClr val="E0EBEC"/>
                    </a:solidFill>
                  </a:tcPr>
                </a:tc>
              </a:tr>
            </a:tbl>
          </a:graphicData>
        </a:graphic>
      </p:graphicFrame>
      <p:sp>
        <p:nvSpPr>
          <p:cNvPr name="TextBox 18" id="18"/>
          <p:cNvSpPr txBox="true"/>
          <p:nvPr/>
        </p:nvSpPr>
        <p:spPr>
          <a:xfrm rot="0">
            <a:off x="10767060" y="7079628"/>
            <a:ext cx="6693408" cy="926059"/>
          </a:xfrm>
          <a:prstGeom prst="rect">
            <a:avLst/>
          </a:prstGeom>
        </p:spPr>
        <p:txBody>
          <a:bodyPr anchor="t" rtlCol="false" tIns="0" lIns="0" bIns="0" rIns="0">
            <a:spAutoFit/>
          </a:bodyPr>
          <a:lstStyle/>
          <a:p>
            <a:pPr algn="ctr">
              <a:lnSpc>
                <a:spcPts val="2353"/>
              </a:lnSpc>
            </a:pPr>
            <a:r>
              <a:rPr lang="en-US" sz="1849" b="true">
                <a:solidFill>
                  <a:srgbClr val="1A5B6E"/>
                </a:solidFill>
                <a:latin typeface="Calibri (MS) Bold"/>
                <a:ea typeface="Calibri (MS) Bold"/>
                <a:cs typeface="Calibri (MS) Bold"/>
                <a:sym typeface="Calibri (MS) Bold"/>
              </a:rPr>
              <a:t>−22.6%  </a:t>
            </a:r>
            <a:r>
              <a:rPr lang="en-US" sz="1849">
                <a:solidFill>
                  <a:srgbClr val="39454E"/>
                </a:solidFill>
                <a:latin typeface="Calibri (MS)"/>
                <a:ea typeface="Calibri (MS)"/>
                <a:cs typeface="Calibri (MS)"/>
                <a:sym typeface="Calibri (MS)"/>
              </a:rPr>
              <a:t>vs. the identical 41k backbone with physics off (0.0377 → 0.0292), on 11 of 12 runs (Wilcoxon p = 0.021) — the gain is attributable to the physics, not model size.</a:t>
            </a:r>
          </a:p>
        </p:txBody>
      </p:sp>
      <p:sp>
        <p:nvSpPr>
          <p:cNvPr name="TextBox 19" id="19"/>
          <p:cNvSpPr txBox="true"/>
          <p:nvPr/>
        </p:nvSpPr>
        <p:spPr>
          <a:xfrm rot="0">
            <a:off x="10755630" y="8377619"/>
            <a:ext cx="6693408" cy="865480"/>
          </a:xfrm>
          <a:prstGeom prst="rect">
            <a:avLst/>
          </a:prstGeom>
        </p:spPr>
        <p:txBody>
          <a:bodyPr anchor="t" rtlCol="false" tIns="0" lIns="0" bIns="0" rIns="0">
            <a:spAutoFit/>
          </a:bodyPr>
          <a:lstStyle/>
          <a:p>
            <a:pPr algn="ctr">
              <a:lnSpc>
                <a:spcPts val="2215"/>
              </a:lnSpc>
            </a:pPr>
            <a:r>
              <a:rPr lang="en-US" sz="1774" b="true">
                <a:solidFill>
                  <a:srgbClr val="1B2A33"/>
                </a:solidFill>
                <a:latin typeface="Calibri (MS) Bold"/>
                <a:ea typeface="Calibri (MS) Bold"/>
                <a:cs typeface="Calibri (MS) Bold"/>
                <a:sym typeface="Calibri (MS) Bold"/>
              </a:rPr>
              <a:t>Per cell:  </a:t>
            </a:r>
            <a:r>
              <a:rPr lang="en-US" sz="1774">
                <a:solidFill>
                  <a:srgbClr val="39454E"/>
                </a:solidFill>
                <a:latin typeface="Calibri (MS)"/>
                <a:ea typeface="Calibri (MS)"/>
                <a:cs typeface="Calibri (MS)"/>
                <a:sym typeface="Calibri (MS)"/>
              </a:rPr>
              <a:t>Route B ≤ Route A on every cell; biggest gap on the atypical B0006 (0.027 vs 0.051, where the LSTM fails at 0.063). Learned parameters stay readable: r ≈ −0.89, K ≈ 0.87.</a:t>
            </a:r>
          </a:p>
        </p:txBody>
      </p:sp>
      <p:grpSp>
        <p:nvGrpSpPr>
          <p:cNvPr name="Group 20" id="20"/>
          <p:cNvGrpSpPr/>
          <p:nvPr/>
        </p:nvGrpSpPr>
        <p:grpSpPr>
          <a:xfrm rot="0">
            <a:off x="813435" y="7836027"/>
            <a:ext cx="9688830" cy="1568958"/>
            <a:chOff x="0" y="0"/>
            <a:chExt cx="12918440" cy="2091944"/>
          </a:xfrm>
        </p:grpSpPr>
        <p:sp>
          <p:nvSpPr>
            <p:cNvPr name="Freeform 21" id="21"/>
            <p:cNvSpPr/>
            <p:nvPr/>
          </p:nvSpPr>
          <p:spPr>
            <a:xfrm flipH="false" flipV="false" rot="0">
              <a:off x="0" y="0"/>
              <a:ext cx="12918440" cy="2091944"/>
            </a:xfrm>
            <a:custGeom>
              <a:avLst/>
              <a:gdLst/>
              <a:ahLst/>
              <a:cxnLst/>
              <a:rect r="r" b="b" t="t" l="l"/>
              <a:pathLst>
                <a:path h="2091944" w="12918440">
                  <a:moveTo>
                    <a:pt x="0" y="129540"/>
                  </a:moveTo>
                  <a:cubicBezTo>
                    <a:pt x="0" y="58039"/>
                    <a:pt x="58039" y="0"/>
                    <a:pt x="129540" y="0"/>
                  </a:cubicBezTo>
                  <a:lnTo>
                    <a:pt x="12788900" y="0"/>
                  </a:lnTo>
                  <a:cubicBezTo>
                    <a:pt x="12860528" y="0"/>
                    <a:pt x="12918440" y="58039"/>
                    <a:pt x="12918440" y="129540"/>
                  </a:cubicBezTo>
                  <a:lnTo>
                    <a:pt x="12918440" y="1962404"/>
                  </a:lnTo>
                  <a:cubicBezTo>
                    <a:pt x="12918440" y="2034032"/>
                    <a:pt x="12860401" y="2091944"/>
                    <a:pt x="12788900" y="2091944"/>
                  </a:cubicBezTo>
                  <a:lnTo>
                    <a:pt x="129540" y="2091944"/>
                  </a:lnTo>
                  <a:cubicBezTo>
                    <a:pt x="57912" y="2091944"/>
                    <a:pt x="0" y="2033905"/>
                    <a:pt x="0" y="1962404"/>
                  </a:cubicBezTo>
                  <a:close/>
                </a:path>
              </a:pathLst>
            </a:custGeom>
            <a:solidFill>
              <a:srgbClr val="E0EBEC"/>
            </a:solidFill>
            <a:ln w="19050" cap="sq">
              <a:solidFill>
                <a:srgbClr val="CFDBDC"/>
              </a:solidFill>
              <a:prstDash val="solid"/>
              <a:miter/>
            </a:ln>
          </p:spPr>
        </p:sp>
      </p:grpSp>
      <p:grpSp>
        <p:nvGrpSpPr>
          <p:cNvPr name="Group 22" id="22"/>
          <p:cNvGrpSpPr/>
          <p:nvPr/>
        </p:nvGrpSpPr>
        <p:grpSpPr>
          <a:xfrm rot="0">
            <a:off x="1207008" y="7845552"/>
            <a:ext cx="8915400" cy="1549908"/>
            <a:chOff x="0" y="0"/>
            <a:chExt cx="11887200" cy="2066544"/>
          </a:xfrm>
        </p:grpSpPr>
        <p:sp>
          <p:nvSpPr>
            <p:cNvPr name="Freeform 23" id="23"/>
            <p:cNvSpPr/>
            <p:nvPr/>
          </p:nvSpPr>
          <p:spPr>
            <a:xfrm flipH="false" flipV="false" rot="0">
              <a:off x="0" y="0"/>
              <a:ext cx="11887200" cy="2066544"/>
            </a:xfrm>
            <a:custGeom>
              <a:avLst/>
              <a:gdLst/>
              <a:ahLst/>
              <a:cxnLst/>
              <a:rect r="r" b="b" t="t" l="l"/>
              <a:pathLst>
                <a:path h="2066544" w="11887200">
                  <a:moveTo>
                    <a:pt x="0" y="0"/>
                  </a:moveTo>
                  <a:lnTo>
                    <a:pt x="11887200" y="0"/>
                  </a:lnTo>
                  <a:lnTo>
                    <a:pt x="11887200" y="2066544"/>
                  </a:lnTo>
                  <a:lnTo>
                    <a:pt x="0" y="2066544"/>
                  </a:lnTo>
                  <a:close/>
                </a:path>
              </a:pathLst>
            </a:custGeom>
            <a:blipFill>
              <a:blip r:embed="rId3">
                <a:alphaModFix amt="0"/>
              </a:blip>
              <a:stretch>
                <a:fillRect l="0" t="-62082" r="0" b="-62082"/>
              </a:stretch>
            </a:blipFill>
          </p:spPr>
        </p:sp>
        <p:sp>
          <p:nvSpPr>
            <p:cNvPr name="TextBox 24" id="24"/>
            <p:cNvSpPr txBox="true"/>
            <p:nvPr/>
          </p:nvSpPr>
          <p:spPr>
            <a:xfrm>
              <a:off x="0" y="-57150"/>
              <a:ext cx="11887200" cy="2123694"/>
            </a:xfrm>
            <a:prstGeom prst="rect">
              <a:avLst/>
            </a:prstGeom>
          </p:spPr>
          <p:txBody>
            <a:bodyPr anchor="ctr" rtlCol="false" tIns="0" lIns="0" bIns="0" rIns="0"/>
            <a:lstStyle/>
            <a:p>
              <a:pPr algn="l">
                <a:lnSpc>
                  <a:spcPts val="2488"/>
                </a:lnSpc>
              </a:pPr>
              <a:r>
                <a:rPr lang="en-US" sz="1974" b="true">
                  <a:solidFill>
                    <a:srgbClr val="1B2A33"/>
                  </a:solidFill>
                  <a:latin typeface="Calibri (MS) Bold"/>
                  <a:ea typeface="Calibri (MS) Bold"/>
                  <a:cs typeface="Calibri (MS) Bold"/>
                  <a:sym typeface="Calibri (MS) Bold"/>
                </a:rPr>
                <a:t>Interpretability retained.  </a:t>
              </a:r>
              <a:r>
                <a:rPr lang="en-US" sz="1974">
                  <a:solidFill>
                    <a:srgbClr val="39454E"/>
                  </a:solidFill>
                  <a:latin typeface="Calibri (MS)"/>
                  <a:ea typeface="Calibri (MS)"/>
                  <a:cs typeface="Calibri (MS)"/>
                  <a:sym typeface="Calibri (MS)"/>
                </a:rPr>
                <a:t>Double-exponential beats the logistic as a standalone fit on all 5 cells (ΔAIC −86 … −347); yet inside the learnable hybrid the two priors are interchangeable — what matters is that the parameters can adapt.</a:t>
              </a:r>
            </a:p>
          </p:txBody>
        </p:sp>
      </p:grpSp>
      <p:grpSp>
        <p:nvGrpSpPr>
          <p:cNvPr name="Group 25" id="25"/>
          <p:cNvGrpSpPr/>
          <p:nvPr/>
        </p:nvGrpSpPr>
        <p:grpSpPr>
          <a:xfrm rot="0">
            <a:off x="822960" y="9683496"/>
            <a:ext cx="8229600" cy="411480"/>
            <a:chOff x="0" y="0"/>
            <a:chExt cx="10972800" cy="548640"/>
          </a:xfrm>
        </p:grpSpPr>
        <p:sp>
          <p:nvSpPr>
            <p:cNvPr name="Freeform 26" id="26"/>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27" id="27"/>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6E7A83"/>
                  </a:solidFill>
                  <a:latin typeface="Calibri (MS)"/>
                  <a:ea typeface="Calibri (MS)"/>
                  <a:cs typeface="Calibri (MS)"/>
                  <a:sym typeface="Calibri (MS)"/>
                </a:rPr>
                <a:t>Rajat Sharma · CH24M559 · IIT Madras</a:t>
              </a:r>
            </a:p>
          </p:txBody>
        </p:sp>
      </p:grpSp>
      <p:grpSp>
        <p:nvGrpSpPr>
          <p:cNvPr name="Group 28" id="28"/>
          <p:cNvGrpSpPr/>
          <p:nvPr/>
        </p:nvGrpSpPr>
        <p:grpSpPr>
          <a:xfrm rot="0">
            <a:off x="16637508" y="9683496"/>
            <a:ext cx="822960" cy="411480"/>
            <a:chOff x="0" y="0"/>
            <a:chExt cx="1097280" cy="548640"/>
          </a:xfrm>
        </p:grpSpPr>
        <p:sp>
          <p:nvSpPr>
            <p:cNvPr name="Freeform 29" id="29"/>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3">
                <a:alphaModFix amt="0"/>
              </a:blip>
              <a:stretch>
                <a:fillRect l="-14151" t="0" r="-14151" b="0"/>
              </a:stretch>
            </a:blipFill>
          </p:spPr>
        </p:sp>
        <p:sp>
          <p:nvSpPr>
            <p:cNvPr name="TextBox 30" id="30"/>
            <p:cNvSpPr txBox="true"/>
            <p:nvPr/>
          </p:nvSpPr>
          <p:spPr>
            <a:xfrm>
              <a:off x="0" y="-38100"/>
              <a:ext cx="1097280" cy="586740"/>
            </a:xfrm>
            <a:prstGeom prst="rect">
              <a:avLst/>
            </a:prstGeom>
          </p:spPr>
          <p:txBody>
            <a:bodyPr anchor="ctr" rtlCol="false" tIns="0" lIns="0" bIns="0" rIns="0"/>
            <a:lstStyle/>
            <a:p>
              <a:pPr algn="r">
                <a:lnSpc>
                  <a:spcPts val="1709"/>
                </a:lnSpc>
              </a:pPr>
              <a:r>
                <a:rPr lang="en-US" sz="1425">
                  <a:solidFill>
                    <a:srgbClr val="6E7A83"/>
                  </a:solidFill>
                  <a:latin typeface="Calibri (MS)"/>
                  <a:ea typeface="Calibri (MS)"/>
                  <a:cs typeface="Calibri (MS)"/>
                  <a:sym typeface="Calibri (MS)"/>
                </a:rPr>
                <a:t>10</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BF0F1"/>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16637508" cy="391408"/>
            <a:chOff x="0" y="0"/>
            <a:chExt cx="22183344" cy="521878"/>
          </a:xfrm>
        </p:grpSpPr>
        <p:sp>
          <p:nvSpPr>
            <p:cNvPr name="Freeform 3" id="3"/>
            <p:cNvSpPr/>
            <p:nvPr/>
          </p:nvSpPr>
          <p:spPr>
            <a:xfrm flipH="false" flipV="false" rot="0">
              <a:off x="0" y="0"/>
              <a:ext cx="22183344" cy="521878"/>
            </a:xfrm>
            <a:custGeom>
              <a:avLst/>
              <a:gdLst/>
              <a:ahLst/>
              <a:cxnLst/>
              <a:rect r="r" b="b" t="t" l="l"/>
              <a:pathLst>
                <a:path h="521878" w="22183344">
                  <a:moveTo>
                    <a:pt x="0" y="0"/>
                  </a:moveTo>
                  <a:lnTo>
                    <a:pt x="22183344" y="0"/>
                  </a:lnTo>
                  <a:lnTo>
                    <a:pt x="22183344" y="521878"/>
                  </a:lnTo>
                  <a:lnTo>
                    <a:pt x="0" y="521878"/>
                  </a:lnTo>
                  <a:close/>
                </a:path>
              </a:pathLst>
            </a:custGeom>
            <a:blipFill>
              <a:blip r:embed="rId3">
                <a:alphaModFix amt="0"/>
              </a:blip>
              <a:stretch>
                <a:fillRect l="0" t="-782690" r="0" b="-773801"/>
              </a:stretch>
            </a:blipFill>
          </p:spPr>
        </p:sp>
        <p:sp>
          <p:nvSpPr>
            <p:cNvPr name="TextBox 4" id="4"/>
            <p:cNvSpPr txBox="true"/>
            <p:nvPr/>
          </p:nvSpPr>
          <p:spPr>
            <a:xfrm>
              <a:off x="0" y="-47625"/>
              <a:ext cx="22183344" cy="569503"/>
            </a:xfrm>
            <a:prstGeom prst="rect">
              <a:avLst/>
            </a:prstGeom>
          </p:spPr>
          <p:txBody>
            <a:bodyPr anchor="ctr" rtlCol="false" tIns="0" lIns="0" bIns="0" rIns="0"/>
            <a:lstStyle/>
            <a:p>
              <a:pPr algn="l">
                <a:lnSpc>
                  <a:spcPts val="2339"/>
                </a:lnSpc>
              </a:pPr>
              <a:r>
                <a:rPr lang="en-US" b="true" sz="1949" spc="425">
                  <a:solidFill>
                    <a:srgbClr val="1A5B6E"/>
                  </a:solidFill>
                  <a:latin typeface="Calibri (MS) Bold"/>
                  <a:ea typeface="Calibri (MS) Bold"/>
                  <a:cs typeface="Calibri (MS) Bold"/>
                  <a:sym typeface="Calibri (MS) Bold"/>
                </a:rPr>
                <a:t>RESULTS II</a:t>
              </a:r>
            </a:p>
          </p:txBody>
        </p:sp>
      </p:grpSp>
      <p:grpSp>
        <p:nvGrpSpPr>
          <p:cNvPr name="Group 5" id="5"/>
          <p:cNvGrpSpPr/>
          <p:nvPr/>
        </p:nvGrpSpPr>
        <p:grpSpPr>
          <a:xfrm rot="0">
            <a:off x="822960" y="960120"/>
            <a:ext cx="16637508" cy="850392"/>
            <a:chOff x="0" y="0"/>
            <a:chExt cx="22183344" cy="1133856"/>
          </a:xfrm>
        </p:grpSpPr>
        <p:sp>
          <p:nvSpPr>
            <p:cNvPr name="Freeform 6" id="6"/>
            <p:cNvSpPr/>
            <p:nvPr/>
          </p:nvSpPr>
          <p:spPr>
            <a:xfrm flipH="false" flipV="false" rot="0">
              <a:off x="0" y="0"/>
              <a:ext cx="22183344" cy="1133856"/>
            </a:xfrm>
            <a:custGeom>
              <a:avLst/>
              <a:gdLst/>
              <a:ahLst/>
              <a:cxnLst/>
              <a:rect r="r" b="b" t="t" l="l"/>
              <a:pathLst>
                <a:path h="1133856" w="22183344">
                  <a:moveTo>
                    <a:pt x="0" y="0"/>
                  </a:moveTo>
                  <a:lnTo>
                    <a:pt x="22183344" y="0"/>
                  </a:lnTo>
                  <a:lnTo>
                    <a:pt x="22183344" y="1133856"/>
                  </a:lnTo>
                  <a:lnTo>
                    <a:pt x="0" y="1133856"/>
                  </a:lnTo>
                  <a:close/>
                </a:path>
              </a:pathLst>
            </a:custGeom>
            <a:blipFill>
              <a:blip r:embed="rId3">
                <a:alphaModFix amt="0"/>
              </a:blip>
              <a:stretch>
                <a:fillRect l="0" t="-331215" r="0" b="-331215"/>
              </a:stretch>
            </a:blipFill>
          </p:spPr>
        </p:sp>
        <p:sp>
          <p:nvSpPr>
            <p:cNvPr name="TextBox 7" id="7"/>
            <p:cNvSpPr txBox="true"/>
            <p:nvPr/>
          </p:nvSpPr>
          <p:spPr>
            <a:xfrm>
              <a:off x="0" y="-9525"/>
              <a:ext cx="22183344" cy="1143381"/>
            </a:xfrm>
            <a:prstGeom prst="rect">
              <a:avLst/>
            </a:prstGeom>
          </p:spPr>
          <p:txBody>
            <a:bodyPr anchor="ctr" rtlCol="false" tIns="0" lIns="0" bIns="0" rIns="0"/>
            <a:lstStyle/>
            <a:p>
              <a:pPr algn="l">
                <a:lnSpc>
                  <a:spcPts val="5220"/>
                </a:lnSpc>
              </a:pPr>
              <a:r>
                <a:rPr lang="en-US" sz="4350" b="true">
                  <a:solidFill>
                    <a:srgbClr val="1B2A33"/>
                  </a:solidFill>
                  <a:latin typeface="Cambria Bold"/>
                  <a:ea typeface="Cambria Bold"/>
                  <a:cs typeface="Cambria Bold"/>
                  <a:sym typeface="Cambria Bold"/>
                </a:rPr>
                <a:t>Fair Comparisons, Honest Negatives, a Measured Footprint</a:t>
              </a:r>
            </a:p>
          </p:txBody>
        </p:sp>
      </p:grpSp>
      <p:grpSp>
        <p:nvGrpSpPr>
          <p:cNvPr name="Group 8" id="8"/>
          <p:cNvGrpSpPr/>
          <p:nvPr/>
        </p:nvGrpSpPr>
        <p:grpSpPr>
          <a:xfrm rot="0">
            <a:off x="813435" y="2116455"/>
            <a:ext cx="8111490" cy="3242310"/>
            <a:chOff x="0" y="0"/>
            <a:chExt cx="10815320" cy="4323080"/>
          </a:xfrm>
        </p:grpSpPr>
        <p:sp>
          <p:nvSpPr>
            <p:cNvPr name="Freeform 9" id="9"/>
            <p:cNvSpPr/>
            <p:nvPr/>
          </p:nvSpPr>
          <p:spPr>
            <a:xfrm flipH="false" flipV="false" rot="0">
              <a:off x="0" y="0"/>
              <a:ext cx="10815320" cy="4323080"/>
            </a:xfrm>
            <a:custGeom>
              <a:avLst/>
              <a:gdLst/>
              <a:ahLst/>
              <a:cxnLst/>
              <a:rect r="r" b="b" t="t" l="l"/>
              <a:pathLst>
                <a:path h="4323080" w="10815320">
                  <a:moveTo>
                    <a:pt x="0" y="128778"/>
                  </a:moveTo>
                  <a:cubicBezTo>
                    <a:pt x="0" y="57658"/>
                    <a:pt x="57658" y="0"/>
                    <a:pt x="128778" y="0"/>
                  </a:cubicBezTo>
                  <a:lnTo>
                    <a:pt x="10686542" y="0"/>
                  </a:lnTo>
                  <a:cubicBezTo>
                    <a:pt x="10757662" y="0"/>
                    <a:pt x="10815320" y="57658"/>
                    <a:pt x="10815320" y="128778"/>
                  </a:cubicBezTo>
                  <a:lnTo>
                    <a:pt x="10815320" y="4194302"/>
                  </a:lnTo>
                  <a:cubicBezTo>
                    <a:pt x="10815320" y="4265422"/>
                    <a:pt x="10757662" y="4323080"/>
                    <a:pt x="10686542" y="4323080"/>
                  </a:cubicBezTo>
                  <a:lnTo>
                    <a:pt x="128778" y="4323080"/>
                  </a:lnTo>
                  <a:cubicBezTo>
                    <a:pt x="57658" y="4323080"/>
                    <a:pt x="0" y="4265422"/>
                    <a:pt x="0" y="4194302"/>
                  </a:cubicBezTo>
                  <a:close/>
                </a:path>
              </a:pathLst>
            </a:custGeom>
            <a:solidFill>
              <a:srgbClr val="FFFFFF"/>
            </a:solidFill>
            <a:ln w="19050" cap="sq">
              <a:solidFill>
                <a:srgbClr val="CFDBDC"/>
              </a:solidFill>
              <a:prstDash val="solid"/>
              <a:miter/>
            </a:ln>
          </p:spPr>
        </p:sp>
      </p:grpSp>
      <p:grpSp>
        <p:nvGrpSpPr>
          <p:cNvPr name="Group 10" id="10"/>
          <p:cNvGrpSpPr/>
          <p:nvPr/>
        </p:nvGrpSpPr>
        <p:grpSpPr>
          <a:xfrm rot="0">
            <a:off x="1207008" y="2331720"/>
            <a:ext cx="7338060" cy="411480"/>
            <a:chOff x="0" y="0"/>
            <a:chExt cx="9784080" cy="548640"/>
          </a:xfrm>
        </p:grpSpPr>
        <p:sp>
          <p:nvSpPr>
            <p:cNvPr name="Freeform 11" id="11"/>
            <p:cNvSpPr/>
            <p:nvPr/>
          </p:nvSpPr>
          <p:spPr>
            <a:xfrm flipH="false" flipV="false" rot="0">
              <a:off x="0" y="0"/>
              <a:ext cx="9784080" cy="548640"/>
            </a:xfrm>
            <a:custGeom>
              <a:avLst/>
              <a:gdLst/>
              <a:ahLst/>
              <a:cxnLst/>
              <a:rect r="r" b="b" t="t" l="l"/>
              <a:pathLst>
                <a:path h="548640" w="9784080">
                  <a:moveTo>
                    <a:pt x="0" y="0"/>
                  </a:moveTo>
                  <a:lnTo>
                    <a:pt x="9784080" y="0"/>
                  </a:lnTo>
                  <a:lnTo>
                    <a:pt x="9784080" y="548640"/>
                  </a:lnTo>
                  <a:lnTo>
                    <a:pt x="0" y="548640"/>
                  </a:lnTo>
                  <a:close/>
                </a:path>
              </a:pathLst>
            </a:custGeom>
            <a:blipFill>
              <a:blip r:embed="rId3">
                <a:alphaModFix amt="0"/>
              </a:blip>
              <a:stretch>
                <a:fillRect l="0" t="-297483" r="0" b="-297483"/>
              </a:stretch>
            </a:blipFill>
          </p:spPr>
        </p:sp>
        <p:sp>
          <p:nvSpPr>
            <p:cNvPr name="TextBox 12" id="12"/>
            <p:cNvSpPr txBox="true"/>
            <p:nvPr/>
          </p:nvSpPr>
          <p:spPr>
            <a:xfrm>
              <a:off x="0" y="-9525"/>
              <a:ext cx="9784080" cy="558165"/>
            </a:xfrm>
            <a:prstGeom prst="rect">
              <a:avLst/>
            </a:prstGeom>
          </p:spPr>
          <p:txBody>
            <a:bodyPr anchor="ctr" rtlCol="false" tIns="0" lIns="0" bIns="0" rIns="0"/>
            <a:lstStyle/>
            <a:p>
              <a:pPr algn="l">
                <a:lnSpc>
                  <a:spcPts val="2430"/>
                </a:lnSpc>
              </a:pPr>
              <a:r>
                <a:rPr lang="en-US" sz="2025" b="true">
                  <a:solidFill>
                    <a:srgbClr val="1A5B6E"/>
                  </a:solidFill>
                  <a:latin typeface="Cambria Bold"/>
                  <a:ea typeface="Cambria Bold"/>
                  <a:cs typeface="Cambria Bold"/>
                  <a:sym typeface="Cambria Bold"/>
                </a:rPr>
                <a:t>Versus a 13× larger Transformer (225k)</a:t>
              </a:r>
            </a:p>
          </p:txBody>
        </p:sp>
      </p:grpSp>
      <p:grpSp>
        <p:nvGrpSpPr>
          <p:cNvPr name="Group 13" id="13"/>
          <p:cNvGrpSpPr/>
          <p:nvPr/>
        </p:nvGrpSpPr>
        <p:grpSpPr>
          <a:xfrm rot="0">
            <a:off x="1207008" y="2743200"/>
            <a:ext cx="7338060" cy="2510028"/>
            <a:chOff x="0" y="0"/>
            <a:chExt cx="9784080" cy="3346704"/>
          </a:xfrm>
        </p:grpSpPr>
        <p:sp>
          <p:nvSpPr>
            <p:cNvPr name="Freeform 14" id="14"/>
            <p:cNvSpPr/>
            <p:nvPr/>
          </p:nvSpPr>
          <p:spPr>
            <a:xfrm flipH="false" flipV="false" rot="0">
              <a:off x="0" y="0"/>
              <a:ext cx="9784080" cy="3346704"/>
            </a:xfrm>
            <a:custGeom>
              <a:avLst/>
              <a:gdLst/>
              <a:ahLst/>
              <a:cxnLst/>
              <a:rect r="r" b="b" t="t" l="l"/>
              <a:pathLst>
                <a:path h="3346704" w="9784080">
                  <a:moveTo>
                    <a:pt x="0" y="0"/>
                  </a:moveTo>
                  <a:lnTo>
                    <a:pt x="9784080" y="0"/>
                  </a:lnTo>
                  <a:lnTo>
                    <a:pt x="9784080" y="3346704"/>
                  </a:lnTo>
                  <a:lnTo>
                    <a:pt x="0" y="3346704"/>
                  </a:lnTo>
                  <a:close/>
                </a:path>
              </a:pathLst>
            </a:custGeom>
            <a:blipFill>
              <a:blip r:embed="rId3">
                <a:alphaModFix amt="0"/>
              </a:blip>
              <a:stretch>
                <a:fillRect l="0" t="-9150" r="0" b="-4778"/>
              </a:stretch>
            </a:blipFill>
          </p:spPr>
        </p:sp>
        <p:sp>
          <p:nvSpPr>
            <p:cNvPr name="TextBox 15" id="15"/>
            <p:cNvSpPr txBox="true"/>
            <p:nvPr/>
          </p:nvSpPr>
          <p:spPr>
            <a:xfrm>
              <a:off x="0" y="-114300"/>
              <a:ext cx="9784080" cy="3461004"/>
            </a:xfrm>
            <a:prstGeom prst="rect">
              <a:avLst/>
            </a:prstGeom>
          </p:spPr>
          <p:txBody>
            <a:bodyPr anchor="ctr" rtlCol="false" tIns="0" lIns="0" bIns="0" rIns="0"/>
            <a:lstStyle/>
            <a:p>
              <a:pPr algn="l" marL="316706" indent="-158353" lvl="1">
                <a:lnSpc>
                  <a:spcPts val="2852"/>
                </a:lnSpc>
                <a:buFont typeface="Arial"/>
                <a:buChar char="•"/>
              </a:pPr>
              <a:r>
                <a:rPr lang="en-US" sz="1749">
                  <a:solidFill>
                    <a:srgbClr val="39454E"/>
                  </a:solidFill>
                  <a:latin typeface="Calibri (MS)"/>
                  <a:ea typeface="Calibri (MS)"/>
                  <a:cs typeface="Calibri (MS)"/>
                  <a:sym typeface="Calibri (MS)"/>
                </a:rPr>
                <a:t>Mean RMSE −21.0% (0.0292 vs 0.0369), but only 5/12 run wins (p = 0.850) — not significant with 4 cells; the gap reflects the Transformer's variance.</a:t>
              </a:r>
            </a:p>
            <a:p>
              <a:pPr algn="l" marL="316706" indent="-158353" lvl="1">
                <a:lnSpc>
                  <a:spcPts val="2852"/>
                </a:lnSpc>
                <a:buFont typeface="Arial"/>
                <a:buChar char="•"/>
              </a:pPr>
              <a:r>
                <a:rPr lang="en-US" sz="1749">
                  <a:solidFill>
                    <a:srgbClr val="39454E"/>
                  </a:solidFill>
                  <a:latin typeface="Calibri (MS)"/>
                  <a:ea typeface="Calibri (MS)"/>
                  <a:cs typeface="Calibri (MS)"/>
                  <a:sym typeface="Calibri (MS)"/>
                </a:rPr>
                <a:t>Physical-consistency win on all 12 runs (p ≈ 4.9×10⁻⁴).</a:t>
              </a:r>
            </a:p>
            <a:p>
              <a:pPr algn="l" marL="316706" indent="-158353" lvl="1">
                <a:lnSpc>
                  <a:spcPts val="2852"/>
                </a:lnSpc>
                <a:buFont typeface="Arial"/>
                <a:buChar char="•"/>
              </a:pPr>
              <a:r>
                <a:rPr lang="en-US" sz="1749">
                  <a:solidFill>
                    <a:srgbClr val="39454E"/>
                  </a:solidFill>
                  <a:latin typeface="Calibri (MS)"/>
                  <a:ea typeface="Calibri (MS)"/>
                  <a:cs typeface="Calibri (MS)"/>
                  <a:sym typeface="Calibri (MS)"/>
                </a:rPr>
                <a:t>PHM (post-EOL masked): Route B mid-pack (α–λ 0.37); floors and the light Transformer calibrate best (0.44–0.49).</a:t>
              </a:r>
            </a:p>
          </p:txBody>
        </p:sp>
      </p:grpSp>
      <p:grpSp>
        <p:nvGrpSpPr>
          <p:cNvPr name="Group 16" id="16"/>
          <p:cNvGrpSpPr/>
          <p:nvPr/>
        </p:nvGrpSpPr>
        <p:grpSpPr>
          <a:xfrm rot="0">
            <a:off x="9358503" y="2116455"/>
            <a:ext cx="8111490" cy="3242310"/>
            <a:chOff x="0" y="0"/>
            <a:chExt cx="10815320" cy="4323080"/>
          </a:xfrm>
        </p:grpSpPr>
        <p:sp>
          <p:nvSpPr>
            <p:cNvPr name="Freeform 17" id="17"/>
            <p:cNvSpPr/>
            <p:nvPr/>
          </p:nvSpPr>
          <p:spPr>
            <a:xfrm flipH="false" flipV="false" rot="0">
              <a:off x="0" y="0"/>
              <a:ext cx="10815320" cy="4323080"/>
            </a:xfrm>
            <a:custGeom>
              <a:avLst/>
              <a:gdLst/>
              <a:ahLst/>
              <a:cxnLst/>
              <a:rect r="r" b="b" t="t" l="l"/>
              <a:pathLst>
                <a:path h="4323080" w="10815320">
                  <a:moveTo>
                    <a:pt x="0" y="128778"/>
                  </a:moveTo>
                  <a:cubicBezTo>
                    <a:pt x="0" y="57658"/>
                    <a:pt x="57658" y="0"/>
                    <a:pt x="128778" y="0"/>
                  </a:cubicBezTo>
                  <a:lnTo>
                    <a:pt x="10686542" y="0"/>
                  </a:lnTo>
                  <a:cubicBezTo>
                    <a:pt x="10757662" y="0"/>
                    <a:pt x="10815320" y="57658"/>
                    <a:pt x="10815320" y="128778"/>
                  </a:cubicBezTo>
                  <a:lnTo>
                    <a:pt x="10815320" y="4194302"/>
                  </a:lnTo>
                  <a:cubicBezTo>
                    <a:pt x="10815320" y="4265422"/>
                    <a:pt x="10757662" y="4323080"/>
                    <a:pt x="10686542" y="4323080"/>
                  </a:cubicBezTo>
                  <a:lnTo>
                    <a:pt x="128778" y="4323080"/>
                  </a:lnTo>
                  <a:cubicBezTo>
                    <a:pt x="57658" y="4323080"/>
                    <a:pt x="0" y="4265422"/>
                    <a:pt x="0" y="4194302"/>
                  </a:cubicBezTo>
                  <a:close/>
                </a:path>
              </a:pathLst>
            </a:custGeom>
            <a:solidFill>
              <a:srgbClr val="F6EEE0"/>
            </a:solidFill>
            <a:ln w="19050" cap="sq">
              <a:solidFill>
                <a:srgbClr val="CFDBDC"/>
              </a:solidFill>
              <a:prstDash val="solid"/>
              <a:miter/>
            </a:ln>
          </p:spPr>
        </p:sp>
      </p:grpSp>
      <p:grpSp>
        <p:nvGrpSpPr>
          <p:cNvPr name="Group 18" id="18"/>
          <p:cNvGrpSpPr/>
          <p:nvPr/>
        </p:nvGrpSpPr>
        <p:grpSpPr>
          <a:xfrm rot="0">
            <a:off x="9752076" y="2331720"/>
            <a:ext cx="7338060" cy="411480"/>
            <a:chOff x="0" y="0"/>
            <a:chExt cx="9784080" cy="548640"/>
          </a:xfrm>
        </p:grpSpPr>
        <p:sp>
          <p:nvSpPr>
            <p:cNvPr name="Freeform 19" id="19"/>
            <p:cNvSpPr/>
            <p:nvPr/>
          </p:nvSpPr>
          <p:spPr>
            <a:xfrm flipH="false" flipV="false" rot="0">
              <a:off x="0" y="0"/>
              <a:ext cx="9784080" cy="548640"/>
            </a:xfrm>
            <a:custGeom>
              <a:avLst/>
              <a:gdLst/>
              <a:ahLst/>
              <a:cxnLst/>
              <a:rect r="r" b="b" t="t" l="l"/>
              <a:pathLst>
                <a:path h="548640" w="9784080">
                  <a:moveTo>
                    <a:pt x="0" y="0"/>
                  </a:moveTo>
                  <a:lnTo>
                    <a:pt x="9784080" y="0"/>
                  </a:lnTo>
                  <a:lnTo>
                    <a:pt x="9784080" y="548640"/>
                  </a:lnTo>
                  <a:lnTo>
                    <a:pt x="0" y="548640"/>
                  </a:lnTo>
                  <a:close/>
                </a:path>
              </a:pathLst>
            </a:custGeom>
            <a:blipFill>
              <a:blip r:embed="rId3">
                <a:alphaModFix amt="0"/>
              </a:blip>
              <a:stretch>
                <a:fillRect l="0" t="-297483" r="0" b="-297483"/>
              </a:stretch>
            </a:blipFill>
          </p:spPr>
        </p:sp>
        <p:sp>
          <p:nvSpPr>
            <p:cNvPr name="TextBox 20" id="20"/>
            <p:cNvSpPr txBox="true"/>
            <p:nvPr/>
          </p:nvSpPr>
          <p:spPr>
            <a:xfrm>
              <a:off x="0" y="-9525"/>
              <a:ext cx="9784080" cy="558165"/>
            </a:xfrm>
            <a:prstGeom prst="rect">
              <a:avLst/>
            </a:prstGeom>
          </p:spPr>
          <p:txBody>
            <a:bodyPr anchor="ctr" rtlCol="false" tIns="0" lIns="0" bIns="0" rIns="0"/>
            <a:lstStyle/>
            <a:p>
              <a:pPr algn="l">
                <a:lnSpc>
                  <a:spcPts val="2430"/>
                </a:lnSpc>
              </a:pPr>
              <a:r>
                <a:rPr lang="en-US" sz="2025" b="true">
                  <a:solidFill>
                    <a:srgbClr val="9A5B2A"/>
                  </a:solidFill>
                  <a:latin typeface="Cambria Bold"/>
                  <a:ea typeface="Cambria Bold"/>
                  <a:cs typeface="Cambria Bold"/>
                  <a:sym typeface="Cambria Bold"/>
                </a:rPr>
                <a:t>Honest negatives — reported as measured</a:t>
              </a:r>
            </a:p>
          </p:txBody>
        </p:sp>
      </p:grpSp>
      <p:grpSp>
        <p:nvGrpSpPr>
          <p:cNvPr name="Group 21" id="21"/>
          <p:cNvGrpSpPr/>
          <p:nvPr/>
        </p:nvGrpSpPr>
        <p:grpSpPr>
          <a:xfrm rot="0">
            <a:off x="9710928" y="2852928"/>
            <a:ext cx="7338060" cy="2276856"/>
            <a:chOff x="0" y="0"/>
            <a:chExt cx="9784080" cy="3035808"/>
          </a:xfrm>
        </p:grpSpPr>
        <p:sp>
          <p:nvSpPr>
            <p:cNvPr name="Freeform 22" id="22"/>
            <p:cNvSpPr/>
            <p:nvPr/>
          </p:nvSpPr>
          <p:spPr>
            <a:xfrm flipH="false" flipV="false" rot="0">
              <a:off x="0" y="0"/>
              <a:ext cx="9784080" cy="3035808"/>
            </a:xfrm>
            <a:custGeom>
              <a:avLst/>
              <a:gdLst/>
              <a:ahLst/>
              <a:cxnLst/>
              <a:rect r="r" b="b" t="t" l="l"/>
              <a:pathLst>
                <a:path h="3035808" w="9784080">
                  <a:moveTo>
                    <a:pt x="0" y="0"/>
                  </a:moveTo>
                  <a:lnTo>
                    <a:pt x="9784080" y="0"/>
                  </a:lnTo>
                  <a:lnTo>
                    <a:pt x="9784080" y="3035808"/>
                  </a:lnTo>
                  <a:lnTo>
                    <a:pt x="0" y="3035808"/>
                  </a:lnTo>
                  <a:close/>
                </a:path>
              </a:pathLst>
            </a:custGeom>
            <a:blipFill>
              <a:blip r:embed="rId3">
                <a:alphaModFix amt="0"/>
              </a:blip>
              <a:stretch>
                <a:fillRect l="0" t="-10087" r="0" b="-15509"/>
              </a:stretch>
            </a:blipFill>
          </p:spPr>
        </p:sp>
        <p:sp>
          <p:nvSpPr>
            <p:cNvPr name="TextBox 23" id="23"/>
            <p:cNvSpPr txBox="true"/>
            <p:nvPr/>
          </p:nvSpPr>
          <p:spPr>
            <a:xfrm>
              <a:off x="0" y="-114300"/>
              <a:ext cx="9784080" cy="3150108"/>
            </a:xfrm>
            <a:prstGeom prst="rect">
              <a:avLst/>
            </a:prstGeom>
          </p:spPr>
          <p:txBody>
            <a:bodyPr anchor="ctr" rtlCol="false" tIns="0" lIns="0" bIns="0" rIns="0"/>
            <a:lstStyle/>
            <a:p>
              <a:pPr algn="l" marL="316706" indent="-158353" lvl="1">
                <a:lnSpc>
                  <a:spcPts val="2817"/>
                </a:lnSpc>
                <a:buFont typeface="Arial"/>
                <a:buChar char="•"/>
              </a:pPr>
              <a:r>
                <a:rPr lang="en-US" sz="1749">
                  <a:solidFill>
                    <a:srgbClr val="5C4A34"/>
                  </a:solidFill>
                  <a:latin typeface="Calibri (MS)"/>
                  <a:ea typeface="Calibri (MS)"/>
                  <a:cs typeface="Calibri (MS)"/>
                  <a:sym typeface="Calibri (MS)"/>
                </a:rPr>
                <a:t>Uncertainty weighting: no reliable accuracy gain (best mean 0.0259, 6/12 runs); one consistent effect — plausibility 0.903 (10/12, p = 0.019).</a:t>
              </a:r>
            </a:p>
            <a:p>
              <a:pPr algn="l" marL="316706" indent="-158353" lvl="1">
                <a:lnSpc>
                  <a:spcPts val="2817"/>
                </a:lnSpc>
                <a:buFont typeface="Arial"/>
                <a:buChar char="•"/>
              </a:pPr>
              <a:r>
                <a:rPr lang="en-US" sz="1749">
                  <a:solidFill>
                    <a:srgbClr val="5C4A34"/>
                  </a:solidFill>
                  <a:latin typeface="Calibri (MS)"/>
                  <a:ea typeface="Calibri (MS)"/>
                  <a:cs typeface="Calibri (MS)"/>
                  <a:sym typeface="Calibri (MS)"/>
                </a:rPr>
                <a:t>Route B fails zero-shot NASA→CALCE (0.2077): its cycle input extrapolates to 1.76 vs ≤ 0.34 in training — diagnosed, with fixes identified.</a:t>
              </a:r>
            </a:p>
            <a:p>
              <a:pPr algn="l" marL="316706" indent="-158353" lvl="1">
                <a:lnSpc>
                  <a:spcPts val="2817"/>
                </a:lnSpc>
                <a:buFont typeface="Arial"/>
                <a:buChar char="•"/>
              </a:pPr>
              <a:r>
                <a:rPr lang="en-US" sz="1749">
                  <a:solidFill>
                    <a:srgbClr val="5C4A34"/>
                  </a:solidFill>
                  <a:latin typeface="Calibri (MS)"/>
                  <a:ea typeface="Calibri (MS)"/>
                  <a:cs typeface="Calibri (MS)"/>
                  <a:sym typeface="Calibri (MS)"/>
                </a:rPr>
                <a:t>Route A (fixed prior) actually leads that transfer (0.0892).</a:t>
              </a:r>
            </a:p>
          </p:txBody>
        </p:sp>
      </p:grpSp>
      <p:grpSp>
        <p:nvGrpSpPr>
          <p:cNvPr name="Group 24" id="24"/>
          <p:cNvGrpSpPr/>
          <p:nvPr/>
        </p:nvGrpSpPr>
        <p:grpSpPr>
          <a:xfrm rot="0">
            <a:off x="648335" y="6196965"/>
            <a:ext cx="9665906" cy="3486531"/>
            <a:chOff x="0" y="0"/>
            <a:chExt cx="11535315" cy="4160834"/>
          </a:xfrm>
        </p:grpSpPr>
        <p:sp>
          <p:nvSpPr>
            <p:cNvPr name="Freeform 25" id="25"/>
            <p:cNvSpPr/>
            <p:nvPr/>
          </p:nvSpPr>
          <p:spPr>
            <a:xfrm flipH="false" flipV="false" rot="0">
              <a:off x="0" y="0"/>
              <a:ext cx="11535316" cy="4160835"/>
            </a:xfrm>
            <a:custGeom>
              <a:avLst/>
              <a:gdLst/>
              <a:ahLst/>
              <a:cxnLst/>
              <a:rect r="r" b="b" t="t" l="l"/>
              <a:pathLst>
                <a:path h="4160835" w="11535316">
                  <a:moveTo>
                    <a:pt x="0" y="123945"/>
                  </a:moveTo>
                  <a:cubicBezTo>
                    <a:pt x="0" y="55494"/>
                    <a:pt x="61496" y="0"/>
                    <a:pt x="137351" y="0"/>
                  </a:cubicBezTo>
                  <a:lnTo>
                    <a:pt x="11397965" y="0"/>
                  </a:lnTo>
                  <a:cubicBezTo>
                    <a:pt x="11473819" y="0"/>
                    <a:pt x="11535316" y="55494"/>
                    <a:pt x="11535316" y="123945"/>
                  </a:cubicBezTo>
                  <a:lnTo>
                    <a:pt x="11535316" y="4036890"/>
                  </a:lnTo>
                  <a:cubicBezTo>
                    <a:pt x="11535316" y="4105340"/>
                    <a:pt x="11473819" y="4160835"/>
                    <a:pt x="11397965" y="4160835"/>
                  </a:cubicBezTo>
                  <a:lnTo>
                    <a:pt x="137351" y="4160835"/>
                  </a:lnTo>
                  <a:cubicBezTo>
                    <a:pt x="61496" y="4160834"/>
                    <a:pt x="0" y="4105340"/>
                    <a:pt x="0" y="4036890"/>
                  </a:cubicBezTo>
                  <a:close/>
                </a:path>
              </a:pathLst>
            </a:custGeom>
            <a:solidFill>
              <a:srgbClr val="FFFFFF"/>
            </a:solidFill>
            <a:ln w="19050" cap="sq">
              <a:solidFill>
                <a:srgbClr val="CFDBDC"/>
              </a:solidFill>
              <a:prstDash val="solid"/>
              <a:miter/>
            </a:ln>
          </p:spPr>
        </p:sp>
      </p:grpSp>
      <p:grpSp>
        <p:nvGrpSpPr>
          <p:cNvPr name="Group 26" id="26"/>
          <p:cNvGrpSpPr/>
          <p:nvPr/>
        </p:nvGrpSpPr>
        <p:grpSpPr>
          <a:xfrm rot="0">
            <a:off x="733806" y="5558409"/>
            <a:ext cx="16637508" cy="438912"/>
            <a:chOff x="0" y="0"/>
            <a:chExt cx="22183344" cy="585216"/>
          </a:xfrm>
        </p:grpSpPr>
        <p:sp>
          <p:nvSpPr>
            <p:cNvPr name="Freeform 27" id="27"/>
            <p:cNvSpPr/>
            <p:nvPr/>
          </p:nvSpPr>
          <p:spPr>
            <a:xfrm flipH="false" flipV="false" rot="0">
              <a:off x="0" y="0"/>
              <a:ext cx="22183344" cy="585216"/>
            </a:xfrm>
            <a:custGeom>
              <a:avLst/>
              <a:gdLst/>
              <a:ahLst/>
              <a:cxnLst/>
              <a:rect r="r" b="b" t="t" l="l"/>
              <a:pathLst>
                <a:path h="585216" w="22183344">
                  <a:moveTo>
                    <a:pt x="0" y="0"/>
                  </a:moveTo>
                  <a:lnTo>
                    <a:pt x="22183344" y="0"/>
                  </a:lnTo>
                  <a:lnTo>
                    <a:pt x="22183344" y="585216"/>
                  </a:lnTo>
                  <a:lnTo>
                    <a:pt x="0" y="585216"/>
                  </a:lnTo>
                  <a:close/>
                </a:path>
              </a:pathLst>
            </a:custGeom>
            <a:blipFill>
              <a:blip r:embed="rId3">
                <a:alphaModFix amt="0"/>
              </a:blip>
              <a:stretch>
                <a:fillRect l="0" t="-688604" r="0" b="-688604"/>
              </a:stretch>
            </a:blipFill>
          </p:spPr>
        </p:sp>
        <p:sp>
          <p:nvSpPr>
            <p:cNvPr name="TextBox 28" id="28"/>
            <p:cNvSpPr txBox="true"/>
            <p:nvPr/>
          </p:nvSpPr>
          <p:spPr>
            <a:xfrm>
              <a:off x="0" y="-19050"/>
              <a:ext cx="22183344" cy="604266"/>
            </a:xfrm>
            <a:prstGeom prst="rect">
              <a:avLst/>
            </a:prstGeom>
          </p:spPr>
          <p:txBody>
            <a:bodyPr anchor="ctr" rtlCol="false" tIns="0" lIns="0" bIns="0" rIns="0"/>
            <a:lstStyle/>
            <a:p>
              <a:pPr algn="l">
                <a:lnSpc>
                  <a:spcPts val="2700"/>
                </a:lnSpc>
              </a:pPr>
              <a:r>
                <a:rPr lang="en-US" sz="2250" b="true">
                  <a:solidFill>
                    <a:srgbClr val="1B2A33"/>
                  </a:solidFill>
                  <a:latin typeface="Cambria Bold"/>
                  <a:ea typeface="Cambria Bold"/>
                  <a:cs typeface="Cambria Bold"/>
                  <a:sym typeface="Cambria Bold"/>
                </a:rPr>
                <a:t>Edge deployment on Cortex-M4 — measured int8 footprint</a:t>
              </a:r>
            </a:p>
          </p:txBody>
        </p:sp>
      </p:grpSp>
      <p:grpSp>
        <p:nvGrpSpPr>
          <p:cNvPr name="Group 29" id="29"/>
          <p:cNvGrpSpPr/>
          <p:nvPr/>
        </p:nvGrpSpPr>
        <p:grpSpPr>
          <a:xfrm rot="0">
            <a:off x="10539354" y="6196965"/>
            <a:ext cx="6930639" cy="3014801"/>
            <a:chOff x="0" y="0"/>
            <a:chExt cx="9000744" cy="3915289"/>
          </a:xfrm>
        </p:grpSpPr>
        <p:sp>
          <p:nvSpPr>
            <p:cNvPr name="Freeform 30" id="30"/>
            <p:cNvSpPr/>
            <p:nvPr/>
          </p:nvSpPr>
          <p:spPr>
            <a:xfrm flipH="false" flipV="false" rot="0">
              <a:off x="0" y="0"/>
              <a:ext cx="9000744" cy="3915289"/>
            </a:xfrm>
            <a:custGeom>
              <a:avLst/>
              <a:gdLst/>
              <a:ahLst/>
              <a:cxnLst/>
              <a:rect r="r" b="b" t="t" l="l"/>
              <a:pathLst>
                <a:path h="3915289" w="9000744">
                  <a:moveTo>
                    <a:pt x="0" y="135688"/>
                  </a:moveTo>
                  <a:cubicBezTo>
                    <a:pt x="0" y="60692"/>
                    <a:pt x="61107" y="0"/>
                    <a:pt x="136616" y="0"/>
                  </a:cubicBezTo>
                  <a:lnTo>
                    <a:pt x="8864129" y="0"/>
                  </a:lnTo>
                  <a:cubicBezTo>
                    <a:pt x="8939502" y="0"/>
                    <a:pt x="9000744" y="60692"/>
                    <a:pt x="9000744" y="135688"/>
                  </a:cubicBezTo>
                  <a:lnTo>
                    <a:pt x="9000744" y="3779601"/>
                  </a:lnTo>
                  <a:cubicBezTo>
                    <a:pt x="9000744" y="3854464"/>
                    <a:pt x="8939637" y="3915289"/>
                    <a:pt x="8864129" y="3915289"/>
                  </a:cubicBezTo>
                  <a:lnTo>
                    <a:pt x="136616" y="3915289"/>
                  </a:lnTo>
                  <a:cubicBezTo>
                    <a:pt x="61107" y="3915289"/>
                    <a:pt x="0" y="3854597"/>
                    <a:pt x="0" y="3779601"/>
                  </a:cubicBezTo>
                  <a:close/>
                </a:path>
              </a:pathLst>
            </a:custGeom>
            <a:solidFill>
              <a:srgbClr val="FFFFFF"/>
            </a:solidFill>
            <a:ln w="19050" cap="sq">
              <a:solidFill>
                <a:srgbClr val="CFDBDC"/>
              </a:solidFill>
              <a:prstDash val="solid"/>
              <a:miter/>
            </a:ln>
          </p:spPr>
        </p:sp>
      </p:grpSp>
      <p:graphicFrame>
        <p:nvGraphicFramePr>
          <p:cNvPr name="Table 31" id="31"/>
          <p:cNvGraphicFramePr>
            <a:graphicFrameLocks noGrp="true"/>
          </p:cNvGraphicFramePr>
          <p:nvPr/>
        </p:nvGraphicFramePr>
        <p:xfrm>
          <a:off x="10758014" y="6419188"/>
          <a:ext cx="6493318" cy="2630935"/>
        </p:xfrm>
        <a:graphic>
          <a:graphicData uri="http://schemas.openxmlformats.org/drawingml/2006/table">
            <a:tbl>
              <a:tblPr/>
              <a:tblGrid>
                <a:gridCol w="2520433"/>
                <a:gridCol w="1421939"/>
                <a:gridCol w="1275473"/>
                <a:gridCol w="1275473"/>
              </a:tblGrid>
              <a:tr h="526187">
                <a:tc>
                  <a:txBody>
                    <a:bodyPr anchor="t" rtlCol="false"/>
                    <a:lstStyle/>
                    <a:p>
                      <a:pPr algn="ctr">
                        <a:lnSpc>
                          <a:spcPts val="2002"/>
                        </a:lnSpc>
                        <a:defRPr/>
                      </a:pPr>
                      <a:r>
                        <a:rPr lang="en-US" sz="1668" b="true">
                          <a:solidFill>
                            <a:srgbClr val="FFFFFF"/>
                          </a:solidFill>
                          <a:latin typeface="Calibri (MS) Bold"/>
                          <a:ea typeface="Calibri (MS) Bold"/>
                          <a:cs typeface="Calibri (MS) Bold"/>
                          <a:sym typeface="Calibri (MS) Bold"/>
                        </a:rPr>
                        <a:t>Model</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1A5B6E"/>
                    </a:solidFill>
                  </a:tcPr>
                </a:tc>
                <a:tc>
                  <a:txBody>
                    <a:bodyPr anchor="t" rtlCol="false"/>
                    <a:lstStyle/>
                    <a:p>
                      <a:pPr algn="ctr">
                        <a:lnSpc>
                          <a:spcPts val="2002"/>
                        </a:lnSpc>
                        <a:defRPr/>
                      </a:pPr>
                      <a:r>
                        <a:rPr lang="en-US" sz="1668" b="true">
                          <a:solidFill>
                            <a:srgbClr val="FFFFFF"/>
                          </a:solidFill>
                          <a:latin typeface="Calibri (MS) Bold"/>
                          <a:ea typeface="Calibri (MS) Bold"/>
                          <a:cs typeface="Calibri (MS) Bold"/>
                          <a:sym typeface="Calibri (MS) Bold"/>
                        </a:rPr>
                        <a:t>Flash</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1A5B6E"/>
                    </a:solidFill>
                  </a:tcPr>
                </a:tc>
                <a:tc>
                  <a:txBody>
                    <a:bodyPr anchor="t" rtlCol="false"/>
                    <a:lstStyle/>
                    <a:p>
                      <a:pPr algn="ctr">
                        <a:lnSpc>
                          <a:spcPts val="2002"/>
                        </a:lnSpc>
                        <a:defRPr/>
                      </a:pPr>
                      <a:r>
                        <a:rPr lang="en-US" sz="1668" b="true">
                          <a:solidFill>
                            <a:srgbClr val="FFFFFF"/>
                          </a:solidFill>
                          <a:latin typeface="Calibri (MS) Bold"/>
                          <a:ea typeface="Calibri (MS) Bold"/>
                          <a:cs typeface="Calibri (MS) Bold"/>
                          <a:sym typeface="Calibri (MS) Bold"/>
                        </a:rPr>
                        <a:t>RAM</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1A5B6E"/>
                    </a:solidFill>
                  </a:tcPr>
                </a:tc>
                <a:tc>
                  <a:txBody>
                    <a:bodyPr anchor="t" rtlCol="false"/>
                    <a:lstStyle/>
                    <a:p>
                      <a:pPr algn="ctr">
                        <a:lnSpc>
                          <a:spcPts val="2002"/>
                        </a:lnSpc>
                        <a:defRPr/>
                      </a:pPr>
                      <a:r>
                        <a:rPr lang="en-US" sz="1668" b="true">
                          <a:solidFill>
                            <a:srgbClr val="FFFFFF"/>
                          </a:solidFill>
                          <a:latin typeface="Calibri (MS) Bold"/>
                          <a:ea typeface="Calibri (MS) Bold"/>
                          <a:cs typeface="Calibri (MS) Bold"/>
                          <a:sym typeface="Calibri (MS) Bold"/>
                        </a:rPr>
                        <a:t>Latency</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1A5B6E"/>
                    </a:solidFill>
                  </a:tcPr>
                </a:tc>
              </a:tr>
              <a:tr h="526187">
                <a:tc>
                  <a:txBody>
                    <a:bodyPr anchor="t" rtlCol="false"/>
                    <a:lstStyle/>
                    <a:p>
                      <a:pPr algn="ctr">
                        <a:lnSpc>
                          <a:spcPts val="2002"/>
                        </a:lnSpc>
                        <a:defRPr/>
                      </a:pPr>
                      <a:r>
                        <a:rPr lang="en-US" sz="1668" b="true">
                          <a:solidFill>
                            <a:srgbClr val="1B2A33"/>
                          </a:solidFill>
                          <a:latin typeface="Calibri (MS) Bold"/>
                          <a:ea typeface="Calibri (MS) Bold"/>
                          <a:cs typeface="Calibri (MS) Bold"/>
                          <a:sym typeface="Calibri (MS) Bold"/>
                        </a:rPr>
                        <a:t>Hybrid B (11k)</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E0EBEC"/>
                    </a:solidFill>
                  </a:tcPr>
                </a:tc>
                <a:tc>
                  <a:txBody>
                    <a:bodyPr anchor="t" rtlCol="false"/>
                    <a:lstStyle/>
                    <a:p>
                      <a:pPr algn="ctr">
                        <a:lnSpc>
                          <a:spcPts val="2002"/>
                        </a:lnSpc>
                        <a:defRPr/>
                      </a:pPr>
                      <a:r>
                        <a:rPr lang="en-US" sz="1668" b="true">
                          <a:solidFill>
                            <a:srgbClr val="1B2A33"/>
                          </a:solidFill>
                          <a:latin typeface="Calibri (MS) Bold"/>
                          <a:ea typeface="Calibri (MS) Bold"/>
                          <a:cs typeface="Calibri (MS) Bold"/>
                          <a:sym typeface="Calibri (MS) Bold"/>
                        </a:rPr>
                        <a:t>20.2 KB</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E0EBEC"/>
                    </a:solidFill>
                  </a:tcPr>
                </a:tc>
                <a:tc>
                  <a:txBody>
                    <a:bodyPr anchor="t" rtlCol="false"/>
                    <a:lstStyle/>
                    <a:p>
                      <a:pPr algn="ctr">
                        <a:lnSpc>
                          <a:spcPts val="2002"/>
                        </a:lnSpc>
                        <a:defRPr/>
                      </a:pPr>
                      <a:r>
                        <a:rPr lang="en-US" sz="1668" b="true">
                          <a:solidFill>
                            <a:srgbClr val="1B2A33"/>
                          </a:solidFill>
                          <a:latin typeface="Calibri (MS) Bold"/>
                          <a:ea typeface="Calibri (MS) Bold"/>
                          <a:cs typeface="Calibri (MS) Bold"/>
                          <a:sym typeface="Calibri (MS) Bold"/>
                        </a:rPr>
                        <a:t>1.25 KB</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E0EBEC"/>
                    </a:solidFill>
                  </a:tcPr>
                </a:tc>
                <a:tc>
                  <a:txBody>
                    <a:bodyPr anchor="t" rtlCol="false"/>
                    <a:lstStyle/>
                    <a:p>
                      <a:pPr algn="ctr">
                        <a:lnSpc>
                          <a:spcPts val="2002"/>
                        </a:lnSpc>
                        <a:defRPr/>
                      </a:pPr>
                      <a:r>
                        <a:rPr lang="en-US" sz="1668" b="true">
                          <a:solidFill>
                            <a:srgbClr val="1B2A33"/>
                          </a:solidFill>
                          <a:latin typeface="Calibri (MS) Bold"/>
                          <a:ea typeface="Calibri (MS) Bold"/>
                          <a:cs typeface="Calibri (MS) Bold"/>
                          <a:sym typeface="Calibri (MS) Bold"/>
                        </a:rPr>
                        <a:t>1.27 ms</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E0EBEC"/>
                    </a:solidFill>
                  </a:tcPr>
                </a:tc>
              </a:tr>
              <a:tr h="526187">
                <a:tc>
                  <a:txBody>
                    <a:bodyPr anchor="t" rtlCol="false"/>
                    <a:lstStyle/>
                    <a:p>
                      <a:pPr algn="ctr">
                        <a:lnSpc>
                          <a:spcPts val="2002"/>
                        </a:lnSpc>
                        <a:defRPr/>
                      </a:pPr>
                      <a:r>
                        <a:rPr lang="en-US" sz="1668">
                          <a:solidFill>
                            <a:srgbClr val="39454E"/>
                          </a:solidFill>
                          <a:latin typeface="Calibri (MS)"/>
                          <a:ea typeface="Calibri (MS)"/>
                          <a:cs typeface="Calibri (MS)"/>
                          <a:sym typeface="Calibri (MS)"/>
                        </a:rPr>
                        <a:t>GRU (4k)</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FFFFFF"/>
                    </a:solidFill>
                  </a:tcPr>
                </a:tc>
                <a:tc>
                  <a:txBody>
                    <a:bodyPr anchor="t" rtlCol="false"/>
                    <a:lstStyle/>
                    <a:p>
                      <a:pPr algn="ctr">
                        <a:lnSpc>
                          <a:spcPts val="2002"/>
                        </a:lnSpc>
                        <a:defRPr/>
                      </a:pPr>
                      <a:r>
                        <a:rPr lang="en-US" sz="1668">
                          <a:solidFill>
                            <a:srgbClr val="39454E"/>
                          </a:solidFill>
                          <a:latin typeface="Calibri (MS)"/>
                          <a:ea typeface="Calibri (MS)"/>
                          <a:cs typeface="Calibri (MS)"/>
                          <a:sym typeface="Calibri (MS)"/>
                        </a:rPr>
                        <a:t>9.2 KB</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FFFFFF"/>
                    </a:solidFill>
                  </a:tcPr>
                </a:tc>
                <a:tc>
                  <a:txBody>
                    <a:bodyPr anchor="t" rtlCol="false"/>
                    <a:lstStyle/>
                    <a:p>
                      <a:pPr algn="ctr">
                        <a:lnSpc>
                          <a:spcPts val="2002"/>
                        </a:lnSpc>
                        <a:defRPr/>
                      </a:pPr>
                      <a:r>
                        <a:rPr lang="en-US" sz="1668">
                          <a:solidFill>
                            <a:srgbClr val="39454E"/>
                          </a:solidFill>
                          <a:latin typeface="Calibri (MS)"/>
                          <a:ea typeface="Calibri (MS)"/>
                          <a:cs typeface="Calibri (MS)"/>
                          <a:sym typeface="Calibri (MS)"/>
                        </a:rPr>
                        <a:t>1.25 KB</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FFFFFF"/>
                    </a:solidFill>
                  </a:tcPr>
                </a:tc>
                <a:tc>
                  <a:txBody>
                    <a:bodyPr anchor="t" rtlCol="false"/>
                    <a:lstStyle/>
                    <a:p>
                      <a:pPr algn="ctr">
                        <a:lnSpc>
                          <a:spcPts val="2002"/>
                        </a:lnSpc>
                        <a:defRPr/>
                      </a:pPr>
                      <a:r>
                        <a:rPr lang="en-US" sz="1668">
                          <a:solidFill>
                            <a:srgbClr val="39454E"/>
                          </a:solidFill>
                          <a:latin typeface="Calibri (MS)"/>
                          <a:ea typeface="Calibri (MS)"/>
                          <a:cs typeface="Calibri (MS)"/>
                          <a:sym typeface="Calibri (MS)"/>
                        </a:rPr>
                        <a:t>0.49 ms</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FFFFFF"/>
                    </a:solidFill>
                  </a:tcPr>
                </a:tc>
              </a:tr>
              <a:tr h="526187">
                <a:tc>
                  <a:txBody>
                    <a:bodyPr anchor="t" rtlCol="false"/>
                    <a:lstStyle/>
                    <a:p>
                      <a:pPr algn="ctr">
                        <a:lnSpc>
                          <a:spcPts val="2002"/>
                        </a:lnSpc>
                        <a:defRPr/>
                      </a:pPr>
                      <a:r>
                        <a:rPr lang="en-US" sz="1668">
                          <a:solidFill>
                            <a:srgbClr val="39454E"/>
                          </a:solidFill>
                          <a:latin typeface="Calibri (MS)"/>
                          <a:ea typeface="Calibri (MS)"/>
                          <a:cs typeface="Calibri (MS)"/>
                          <a:sym typeface="Calibri (MS)"/>
                        </a:rPr>
                        <a:t>Transformer (17k)</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FFFFFF"/>
                    </a:solidFill>
                  </a:tcPr>
                </a:tc>
                <a:tc>
                  <a:txBody>
                    <a:bodyPr anchor="t" rtlCol="false"/>
                    <a:lstStyle/>
                    <a:p>
                      <a:pPr algn="ctr">
                        <a:lnSpc>
                          <a:spcPts val="2002"/>
                        </a:lnSpc>
                        <a:defRPr/>
                      </a:pPr>
                      <a:r>
                        <a:rPr lang="en-US" sz="1668">
                          <a:solidFill>
                            <a:srgbClr val="39454E"/>
                          </a:solidFill>
                          <a:latin typeface="Calibri (MS)"/>
                          <a:ea typeface="Calibri (MS)"/>
                          <a:cs typeface="Calibri (MS)"/>
                          <a:sym typeface="Calibri (MS)"/>
                        </a:rPr>
                        <a:t>70 KB</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FFFFFF"/>
                    </a:solidFill>
                  </a:tcPr>
                </a:tc>
                <a:tc>
                  <a:txBody>
                    <a:bodyPr anchor="t" rtlCol="false"/>
                    <a:lstStyle/>
                    <a:p>
                      <a:pPr algn="ctr">
                        <a:lnSpc>
                          <a:spcPts val="2002"/>
                        </a:lnSpc>
                        <a:defRPr/>
                      </a:pPr>
                      <a:r>
                        <a:rPr lang="en-US" sz="1668">
                          <a:solidFill>
                            <a:srgbClr val="39454E"/>
                          </a:solidFill>
                          <a:latin typeface="Calibri (MS)"/>
                          <a:ea typeface="Calibri (MS)"/>
                          <a:cs typeface="Calibri (MS)"/>
                          <a:sym typeface="Calibri (MS)"/>
                        </a:rPr>
                        <a:t>2.5 KB</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FFFFFF"/>
                    </a:solidFill>
                  </a:tcPr>
                </a:tc>
                <a:tc>
                  <a:txBody>
                    <a:bodyPr anchor="t" rtlCol="false"/>
                    <a:lstStyle/>
                    <a:p>
                      <a:pPr algn="ctr">
                        <a:lnSpc>
                          <a:spcPts val="2002"/>
                        </a:lnSpc>
                        <a:defRPr/>
                      </a:pPr>
                      <a:r>
                        <a:rPr lang="en-US" sz="1668">
                          <a:solidFill>
                            <a:srgbClr val="39454E"/>
                          </a:solidFill>
                          <a:latin typeface="Calibri (MS)"/>
                          <a:ea typeface="Calibri (MS)"/>
                          <a:cs typeface="Calibri (MS)"/>
                          <a:sym typeface="Calibri (MS)"/>
                        </a:rPr>
                        <a:t>1.06 ms</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FFFFFF"/>
                    </a:solidFill>
                  </a:tcPr>
                </a:tc>
              </a:tr>
              <a:tr h="526187">
                <a:tc>
                  <a:txBody>
                    <a:bodyPr anchor="t" rtlCol="false"/>
                    <a:lstStyle/>
                    <a:p>
                      <a:pPr algn="ctr">
                        <a:lnSpc>
                          <a:spcPts val="2002"/>
                        </a:lnSpc>
                        <a:defRPr/>
                      </a:pPr>
                      <a:r>
                        <a:rPr lang="en-US" sz="1668">
                          <a:solidFill>
                            <a:srgbClr val="39454E"/>
                          </a:solidFill>
                          <a:latin typeface="Calibri (MS)"/>
                          <a:ea typeface="Calibri (MS)"/>
                          <a:cs typeface="Calibri (MS)"/>
                          <a:sym typeface="Calibri (MS)"/>
                        </a:rPr>
                        <a:t>Transformer (225k)</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FFFFFF"/>
                    </a:solidFill>
                  </a:tcPr>
                </a:tc>
                <a:tc>
                  <a:txBody>
                    <a:bodyPr anchor="t" rtlCol="false"/>
                    <a:lstStyle/>
                    <a:p>
                      <a:pPr algn="ctr">
                        <a:lnSpc>
                          <a:spcPts val="2002"/>
                        </a:lnSpc>
                        <a:defRPr/>
                      </a:pPr>
                      <a:r>
                        <a:rPr lang="en-US" sz="1668">
                          <a:solidFill>
                            <a:srgbClr val="39454E"/>
                          </a:solidFill>
                          <a:latin typeface="Calibri (MS)"/>
                          <a:ea typeface="Calibri (MS)"/>
                          <a:cs typeface="Calibri (MS)"/>
                          <a:sym typeface="Calibri (MS)"/>
                        </a:rPr>
                        <a:t>611 KB</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FFFFFF"/>
                    </a:solidFill>
                  </a:tcPr>
                </a:tc>
                <a:tc>
                  <a:txBody>
                    <a:bodyPr anchor="t" rtlCol="false"/>
                    <a:lstStyle/>
                    <a:p>
                      <a:pPr algn="ctr">
                        <a:lnSpc>
                          <a:spcPts val="2002"/>
                        </a:lnSpc>
                        <a:defRPr/>
                      </a:pPr>
                      <a:r>
                        <a:rPr lang="en-US" sz="1668">
                          <a:solidFill>
                            <a:srgbClr val="39454E"/>
                          </a:solidFill>
                          <a:latin typeface="Calibri (MS)"/>
                          <a:ea typeface="Calibri (MS)"/>
                          <a:cs typeface="Calibri (MS)"/>
                          <a:sym typeface="Calibri (MS)"/>
                        </a:rPr>
                        <a:t>7.5 KB</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FFFFFF"/>
                    </a:solidFill>
                  </a:tcPr>
                </a:tc>
                <a:tc>
                  <a:txBody>
                    <a:bodyPr anchor="t" rtlCol="false"/>
                    <a:lstStyle/>
                    <a:p>
                      <a:pPr algn="ctr">
                        <a:lnSpc>
                          <a:spcPts val="2002"/>
                        </a:lnSpc>
                        <a:defRPr/>
                      </a:pPr>
                      <a:r>
                        <a:rPr lang="en-US" sz="1668">
                          <a:solidFill>
                            <a:srgbClr val="39454E"/>
                          </a:solidFill>
                          <a:latin typeface="Calibri (MS)"/>
                          <a:ea typeface="Calibri (MS)"/>
                          <a:cs typeface="Calibri (MS)"/>
                          <a:sym typeface="Calibri (MS)"/>
                        </a:rPr>
                        <a:t>13.9 ms</a:t>
                      </a:r>
                      <a:endParaRPr lang="en-US" sz="1100"/>
                    </a:p>
                  </a:txBody>
                  <a:tcPr marL="46940" marR="46940" marT="46940" marB="46940" anchor="ctr">
                    <a:lnL cmpd="sng" algn="ctr" cap="flat" w="29337">
                      <a:solidFill>
                        <a:srgbClr val="CFDBDC"/>
                      </a:solidFill>
                      <a:prstDash val="solid"/>
                      <a:round/>
                      <a:headEnd type="none" w="med" len="med"/>
                      <a:tailEnd type="none" w="med" len="med"/>
                    </a:lnL>
                    <a:lnR cmpd="sng" algn="ctr" cap="flat" w="29337">
                      <a:solidFill>
                        <a:srgbClr val="CFDBDC"/>
                      </a:solidFill>
                      <a:prstDash val="solid"/>
                      <a:round/>
                      <a:headEnd type="none" w="med" len="med"/>
                      <a:tailEnd type="none" w="med" len="med"/>
                    </a:lnR>
                    <a:lnT cmpd="sng" algn="ctr" cap="flat" w="29337">
                      <a:solidFill>
                        <a:srgbClr val="CFDBDC"/>
                      </a:solidFill>
                      <a:prstDash val="solid"/>
                      <a:round/>
                      <a:headEnd type="none" w="med" len="med"/>
                      <a:tailEnd type="none" w="med" len="med"/>
                    </a:lnT>
                    <a:lnB cmpd="sng" algn="ctr" cap="flat" w="29337">
                      <a:solidFill>
                        <a:srgbClr val="CFDBDC"/>
                      </a:solidFill>
                      <a:prstDash val="solid"/>
                      <a:round/>
                      <a:headEnd type="none" w="med" len="med"/>
                      <a:tailEnd type="none" w="med" len="med"/>
                    </a:lnB>
                    <a:solidFill>
                      <a:srgbClr val="FFFFFF"/>
                    </a:solidFill>
                  </a:tcPr>
                </a:tc>
              </a:tr>
            </a:tbl>
          </a:graphicData>
        </a:graphic>
      </p:graphicFrame>
      <p:sp>
        <p:nvSpPr>
          <p:cNvPr name="TextBox 32" id="32"/>
          <p:cNvSpPr txBox="true"/>
          <p:nvPr/>
        </p:nvSpPr>
        <p:spPr>
          <a:xfrm rot="0">
            <a:off x="10550381" y="9287966"/>
            <a:ext cx="6919612" cy="747792"/>
          </a:xfrm>
          <a:prstGeom prst="rect">
            <a:avLst/>
          </a:prstGeom>
        </p:spPr>
        <p:txBody>
          <a:bodyPr anchor="t" rtlCol="false" tIns="0" lIns="0" bIns="0" rIns="0">
            <a:spAutoFit/>
          </a:bodyPr>
          <a:lstStyle/>
          <a:p>
            <a:pPr algn="ctr">
              <a:lnSpc>
                <a:spcPts val="1880"/>
              </a:lnSpc>
            </a:pPr>
            <a:r>
              <a:rPr lang="en-US" sz="1536" i="true">
                <a:solidFill>
                  <a:srgbClr val="6E7A83"/>
                </a:solidFill>
                <a:latin typeface="Calibri (MS) Italics"/>
                <a:ea typeface="Calibri (MS) Italics"/>
                <a:cs typeface="Calibri (MS) Italics"/>
                <a:sym typeface="Calibri (MS) Italics"/>
              </a:rPr>
              <a:t>20.2 KB ≈ 2% of the 1 MB M4 budget — 30× less flash, 11× faster than the heavy Transformer. Shrinking 41k→11k trades RMSE 0.0292 → 0.0469, keeping the best consistency (PCS 0.877) among deployable models.</a:t>
            </a:r>
          </a:p>
        </p:txBody>
      </p:sp>
      <p:sp>
        <p:nvSpPr>
          <p:cNvPr name="Freeform 33" id="33"/>
          <p:cNvSpPr/>
          <p:nvPr/>
        </p:nvSpPr>
        <p:spPr>
          <a:xfrm flipH="false" flipV="false" rot="0">
            <a:off x="822960" y="6424474"/>
            <a:ext cx="9279614" cy="2787293"/>
          </a:xfrm>
          <a:custGeom>
            <a:avLst/>
            <a:gdLst/>
            <a:ahLst/>
            <a:cxnLst/>
            <a:rect r="r" b="b" t="t" l="l"/>
            <a:pathLst>
              <a:path h="2787293" w="9279614">
                <a:moveTo>
                  <a:pt x="0" y="0"/>
                </a:moveTo>
                <a:lnTo>
                  <a:pt x="9279614" y="0"/>
                </a:lnTo>
                <a:lnTo>
                  <a:pt x="9279614" y="2787292"/>
                </a:lnTo>
                <a:lnTo>
                  <a:pt x="0" y="2787292"/>
                </a:lnTo>
                <a:lnTo>
                  <a:pt x="0" y="0"/>
                </a:lnTo>
                <a:close/>
              </a:path>
            </a:pathLst>
          </a:custGeom>
          <a:blipFill>
            <a:blip r:embed="rId4"/>
            <a:stretch>
              <a:fillRect l="0" t="-114" r="0" b="-114"/>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BF0F1"/>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16637508" cy="391408"/>
            <a:chOff x="0" y="0"/>
            <a:chExt cx="22183344" cy="521878"/>
          </a:xfrm>
        </p:grpSpPr>
        <p:sp>
          <p:nvSpPr>
            <p:cNvPr name="Freeform 3" id="3"/>
            <p:cNvSpPr/>
            <p:nvPr/>
          </p:nvSpPr>
          <p:spPr>
            <a:xfrm flipH="false" flipV="false" rot="0">
              <a:off x="0" y="0"/>
              <a:ext cx="22183344" cy="521878"/>
            </a:xfrm>
            <a:custGeom>
              <a:avLst/>
              <a:gdLst/>
              <a:ahLst/>
              <a:cxnLst/>
              <a:rect r="r" b="b" t="t" l="l"/>
              <a:pathLst>
                <a:path h="521878" w="22183344">
                  <a:moveTo>
                    <a:pt x="0" y="0"/>
                  </a:moveTo>
                  <a:lnTo>
                    <a:pt x="22183344" y="0"/>
                  </a:lnTo>
                  <a:lnTo>
                    <a:pt x="22183344" y="521878"/>
                  </a:lnTo>
                  <a:lnTo>
                    <a:pt x="0" y="521878"/>
                  </a:lnTo>
                  <a:close/>
                </a:path>
              </a:pathLst>
            </a:custGeom>
            <a:blipFill>
              <a:blip r:embed="rId3">
                <a:alphaModFix amt="0"/>
              </a:blip>
              <a:stretch>
                <a:fillRect l="0" t="-782690" r="0" b="-773801"/>
              </a:stretch>
            </a:blipFill>
          </p:spPr>
        </p:sp>
        <p:sp>
          <p:nvSpPr>
            <p:cNvPr name="TextBox 4" id="4"/>
            <p:cNvSpPr txBox="true"/>
            <p:nvPr/>
          </p:nvSpPr>
          <p:spPr>
            <a:xfrm>
              <a:off x="0" y="-47625"/>
              <a:ext cx="22183344" cy="569503"/>
            </a:xfrm>
            <a:prstGeom prst="rect">
              <a:avLst/>
            </a:prstGeom>
          </p:spPr>
          <p:txBody>
            <a:bodyPr anchor="ctr" rtlCol="false" tIns="0" lIns="0" bIns="0" rIns="0"/>
            <a:lstStyle/>
            <a:p>
              <a:pPr algn="l">
                <a:lnSpc>
                  <a:spcPts val="2339"/>
                </a:lnSpc>
              </a:pPr>
              <a:r>
                <a:rPr lang="en-US" b="true" sz="1949" spc="425">
                  <a:solidFill>
                    <a:srgbClr val="1A5B6E"/>
                  </a:solidFill>
                  <a:latin typeface="Calibri (MS) Bold"/>
                  <a:ea typeface="Calibri (MS) Bold"/>
                  <a:cs typeface="Calibri (MS) Bold"/>
                  <a:sym typeface="Calibri (MS) Bold"/>
                </a:rPr>
                <a:t>CLOSING</a:t>
              </a:r>
            </a:p>
          </p:txBody>
        </p:sp>
      </p:grpSp>
      <p:grpSp>
        <p:nvGrpSpPr>
          <p:cNvPr name="Group 5" id="5"/>
          <p:cNvGrpSpPr/>
          <p:nvPr/>
        </p:nvGrpSpPr>
        <p:grpSpPr>
          <a:xfrm rot="0">
            <a:off x="822960" y="960120"/>
            <a:ext cx="16637508" cy="850392"/>
            <a:chOff x="0" y="0"/>
            <a:chExt cx="22183344" cy="1133856"/>
          </a:xfrm>
        </p:grpSpPr>
        <p:sp>
          <p:nvSpPr>
            <p:cNvPr name="Freeform 6" id="6"/>
            <p:cNvSpPr/>
            <p:nvPr/>
          </p:nvSpPr>
          <p:spPr>
            <a:xfrm flipH="false" flipV="false" rot="0">
              <a:off x="0" y="0"/>
              <a:ext cx="22183344" cy="1133856"/>
            </a:xfrm>
            <a:custGeom>
              <a:avLst/>
              <a:gdLst/>
              <a:ahLst/>
              <a:cxnLst/>
              <a:rect r="r" b="b" t="t" l="l"/>
              <a:pathLst>
                <a:path h="1133856" w="22183344">
                  <a:moveTo>
                    <a:pt x="0" y="0"/>
                  </a:moveTo>
                  <a:lnTo>
                    <a:pt x="22183344" y="0"/>
                  </a:lnTo>
                  <a:lnTo>
                    <a:pt x="22183344" y="1133856"/>
                  </a:lnTo>
                  <a:lnTo>
                    <a:pt x="0" y="1133856"/>
                  </a:lnTo>
                  <a:close/>
                </a:path>
              </a:pathLst>
            </a:custGeom>
            <a:blipFill>
              <a:blip r:embed="rId3">
                <a:alphaModFix amt="0"/>
              </a:blip>
              <a:stretch>
                <a:fillRect l="0" t="-331215" r="0" b="-331215"/>
              </a:stretch>
            </a:blipFill>
          </p:spPr>
        </p:sp>
        <p:sp>
          <p:nvSpPr>
            <p:cNvPr name="TextBox 7" id="7"/>
            <p:cNvSpPr txBox="true"/>
            <p:nvPr/>
          </p:nvSpPr>
          <p:spPr>
            <a:xfrm>
              <a:off x="0" y="-9525"/>
              <a:ext cx="22183344" cy="1143381"/>
            </a:xfrm>
            <a:prstGeom prst="rect">
              <a:avLst/>
            </a:prstGeom>
          </p:spPr>
          <p:txBody>
            <a:bodyPr anchor="ctr" rtlCol="false" tIns="0" lIns="0" bIns="0" rIns="0"/>
            <a:lstStyle/>
            <a:p>
              <a:pPr algn="l">
                <a:lnSpc>
                  <a:spcPts val="5220"/>
                </a:lnSpc>
              </a:pPr>
              <a:r>
                <a:rPr lang="en-US" sz="4350" b="true">
                  <a:solidFill>
                    <a:srgbClr val="1B2A33"/>
                  </a:solidFill>
                  <a:latin typeface="Cambria Bold"/>
                  <a:ea typeface="Cambria Bold"/>
                  <a:cs typeface="Cambria Bold"/>
                  <a:sym typeface="Cambria Bold"/>
                </a:rPr>
                <a:t>Conclusions and Future Work</a:t>
              </a:r>
            </a:p>
          </p:txBody>
        </p:sp>
      </p:grpSp>
      <p:grpSp>
        <p:nvGrpSpPr>
          <p:cNvPr name="Group 8" id="8"/>
          <p:cNvGrpSpPr/>
          <p:nvPr/>
        </p:nvGrpSpPr>
        <p:grpSpPr>
          <a:xfrm rot="0">
            <a:off x="813435" y="2185035"/>
            <a:ext cx="8239125" cy="5413629"/>
            <a:chOff x="0" y="0"/>
            <a:chExt cx="10985500" cy="7218172"/>
          </a:xfrm>
        </p:grpSpPr>
        <p:sp>
          <p:nvSpPr>
            <p:cNvPr name="Freeform 9" id="9"/>
            <p:cNvSpPr/>
            <p:nvPr/>
          </p:nvSpPr>
          <p:spPr>
            <a:xfrm flipH="false" flipV="false" rot="0">
              <a:off x="0" y="0"/>
              <a:ext cx="10985500" cy="7218172"/>
            </a:xfrm>
            <a:custGeom>
              <a:avLst/>
              <a:gdLst/>
              <a:ahLst/>
              <a:cxnLst/>
              <a:rect r="r" b="b" t="t" l="l"/>
              <a:pathLst>
                <a:path h="7218172" w="10985500">
                  <a:moveTo>
                    <a:pt x="0" y="116129"/>
                  </a:moveTo>
                  <a:cubicBezTo>
                    <a:pt x="0" y="52034"/>
                    <a:pt x="57465" y="0"/>
                    <a:pt x="128249" y="0"/>
                  </a:cubicBezTo>
                  <a:lnTo>
                    <a:pt x="10857251" y="0"/>
                  </a:lnTo>
                  <a:cubicBezTo>
                    <a:pt x="10928035" y="0"/>
                    <a:pt x="10985500" y="52034"/>
                    <a:pt x="10985500" y="116129"/>
                  </a:cubicBezTo>
                  <a:lnTo>
                    <a:pt x="10985500" y="7102042"/>
                  </a:lnTo>
                  <a:cubicBezTo>
                    <a:pt x="10985500" y="7166138"/>
                    <a:pt x="10928035" y="7218172"/>
                    <a:pt x="10857251" y="7218172"/>
                  </a:cubicBezTo>
                  <a:lnTo>
                    <a:pt x="128249" y="7218172"/>
                  </a:lnTo>
                  <a:cubicBezTo>
                    <a:pt x="57465" y="7218173"/>
                    <a:pt x="0" y="7166138"/>
                    <a:pt x="0" y="7102042"/>
                  </a:cubicBezTo>
                  <a:close/>
                </a:path>
              </a:pathLst>
            </a:custGeom>
            <a:solidFill>
              <a:srgbClr val="FFFFFF"/>
            </a:solidFill>
            <a:ln w="19050" cap="sq">
              <a:solidFill>
                <a:srgbClr val="CFDBDC"/>
              </a:solidFill>
              <a:prstDash val="solid"/>
              <a:miter/>
            </a:ln>
          </p:spPr>
        </p:sp>
      </p:grpSp>
      <p:grpSp>
        <p:nvGrpSpPr>
          <p:cNvPr name="Group 10" id="10"/>
          <p:cNvGrpSpPr/>
          <p:nvPr/>
        </p:nvGrpSpPr>
        <p:grpSpPr>
          <a:xfrm rot="0">
            <a:off x="1207008" y="2441448"/>
            <a:ext cx="7543800" cy="438912"/>
            <a:chOff x="0" y="0"/>
            <a:chExt cx="10058400" cy="585216"/>
          </a:xfrm>
        </p:grpSpPr>
        <p:sp>
          <p:nvSpPr>
            <p:cNvPr name="Freeform 11" id="11"/>
            <p:cNvSpPr/>
            <p:nvPr/>
          </p:nvSpPr>
          <p:spPr>
            <a:xfrm flipH="false" flipV="false" rot="0">
              <a:off x="0" y="0"/>
              <a:ext cx="10058400" cy="585216"/>
            </a:xfrm>
            <a:custGeom>
              <a:avLst/>
              <a:gdLst/>
              <a:ahLst/>
              <a:cxnLst/>
              <a:rect r="r" b="b" t="t" l="l"/>
              <a:pathLst>
                <a:path h="585216" w="10058400">
                  <a:moveTo>
                    <a:pt x="0" y="0"/>
                  </a:moveTo>
                  <a:lnTo>
                    <a:pt x="10058400" y="0"/>
                  </a:lnTo>
                  <a:lnTo>
                    <a:pt x="10058400" y="585216"/>
                  </a:lnTo>
                  <a:lnTo>
                    <a:pt x="0" y="585216"/>
                  </a:lnTo>
                  <a:close/>
                </a:path>
              </a:pathLst>
            </a:custGeom>
            <a:blipFill>
              <a:blip r:embed="rId3">
                <a:alphaModFix amt="0"/>
              </a:blip>
              <a:stretch>
                <a:fillRect l="0" t="-284899" r="0" b="-284899"/>
              </a:stretch>
            </a:blipFill>
          </p:spPr>
        </p:sp>
        <p:sp>
          <p:nvSpPr>
            <p:cNvPr name="TextBox 12" id="12"/>
            <p:cNvSpPr txBox="true"/>
            <p:nvPr/>
          </p:nvSpPr>
          <p:spPr>
            <a:xfrm>
              <a:off x="0" y="-19050"/>
              <a:ext cx="10058400" cy="604266"/>
            </a:xfrm>
            <a:prstGeom prst="rect">
              <a:avLst/>
            </a:prstGeom>
          </p:spPr>
          <p:txBody>
            <a:bodyPr anchor="ctr" rtlCol="false" tIns="0" lIns="0" bIns="0" rIns="0"/>
            <a:lstStyle/>
            <a:p>
              <a:pPr algn="l">
                <a:lnSpc>
                  <a:spcPts val="2700"/>
                </a:lnSpc>
              </a:pPr>
              <a:r>
                <a:rPr lang="en-US" sz="2250" b="true">
                  <a:solidFill>
                    <a:srgbClr val="1A5B6E"/>
                  </a:solidFill>
                  <a:latin typeface="Cambria Bold"/>
                  <a:ea typeface="Cambria Bold"/>
                  <a:cs typeface="Cambria Bold"/>
                  <a:sym typeface="Cambria Bold"/>
                </a:rPr>
                <a:t>What this thesis showed</a:t>
              </a:r>
            </a:p>
          </p:txBody>
        </p:sp>
      </p:grpSp>
      <p:grpSp>
        <p:nvGrpSpPr>
          <p:cNvPr name="Group 13" id="13"/>
          <p:cNvGrpSpPr/>
          <p:nvPr/>
        </p:nvGrpSpPr>
        <p:grpSpPr>
          <a:xfrm rot="0">
            <a:off x="1028700" y="2441448"/>
            <a:ext cx="7543800" cy="5157216"/>
            <a:chOff x="0" y="0"/>
            <a:chExt cx="10058400" cy="6876288"/>
          </a:xfrm>
        </p:grpSpPr>
        <p:sp>
          <p:nvSpPr>
            <p:cNvPr name="Freeform 14" id="14"/>
            <p:cNvSpPr/>
            <p:nvPr/>
          </p:nvSpPr>
          <p:spPr>
            <a:xfrm flipH="false" flipV="false" rot="0">
              <a:off x="0" y="0"/>
              <a:ext cx="10058400" cy="6876288"/>
            </a:xfrm>
            <a:custGeom>
              <a:avLst/>
              <a:gdLst/>
              <a:ahLst/>
              <a:cxnLst/>
              <a:rect r="r" b="b" t="t" l="l"/>
              <a:pathLst>
                <a:path h="6876288" w="10058400">
                  <a:moveTo>
                    <a:pt x="0" y="0"/>
                  </a:moveTo>
                  <a:lnTo>
                    <a:pt x="10058400" y="0"/>
                  </a:lnTo>
                  <a:lnTo>
                    <a:pt x="10058400" y="6876288"/>
                  </a:lnTo>
                  <a:lnTo>
                    <a:pt x="0" y="6876288"/>
                  </a:lnTo>
                  <a:close/>
                </a:path>
              </a:pathLst>
            </a:custGeom>
            <a:blipFill>
              <a:blip r:embed="rId3">
                <a:alphaModFix amt="0"/>
              </a:blip>
              <a:stretch>
                <a:fillRect l="-33980" t="0" r="-33980" b="4255"/>
              </a:stretch>
            </a:blipFill>
          </p:spPr>
        </p:sp>
        <p:sp>
          <p:nvSpPr>
            <p:cNvPr name="TextBox 15" id="15"/>
            <p:cNvSpPr txBox="true"/>
            <p:nvPr/>
          </p:nvSpPr>
          <p:spPr>
            <a:xfrm>
              <a:off x="0" y="-104775"/>
              <a:ext cx="10058400" cy="6981063"/>
            </a:xfrm>
            <a:prstGeom prst="rect">
              <a:avLst/>
            </a:prstGeom>
          </p:spPr>
          <p:txBody>
            <a:bodyPr anchor="ctr" rtlCol="false" tIns="0" lIns="0" bIns="0" rIns="0"/>
            <a:lstStyle/>
            <a:p>
              <a:pPr algn="l" marL="380046" indent="-190023" lvl="1">
                <a:lnSpc>
                  <a:spcPts val="3149"/>
                </a:lnSpc>
                <a:buFont typeface="Arial"/>
                <a:buChar char="•"/>
              </a:pPr>
              <a:r>
                <a:rPr lang="en-US" sz="2099">
                  <a:solidFill>
                    <a:srgbClr val="39454E"/>
                  </a:solidFill>
                  <a:latin typeface="Calibri (MS)"/>
                  <a:ea typeface="Calibri (MS)"/>
                  <a:cs typeface="Calibri (MS)"/>
                  <a:sym typeface="Calibri (MS)"/>
                </a:rPr>
                <a:t>A learnable physics residual improves a small recurrent network where added capacity does not: −22.6% error at identical size, with the most physically plausible learned predictions.</a:t>
              </a:r>
            </a:p>
            <a:p>
              <a:pPr algn="l" marL="380046" indent="-190023" lvl="1">
                <a:lnSpc>
                  <a:spcPts val="3149"/>
                </a:lnSpc>
                <a:buFont typeface="Arial"/>
                <a:buChar char="•"/>
              </a:pPr>
              <a:r>
                <a:rPr lang="en-US" sz="2099">
                  <a:solidFill>
                    <a:srgbClr val="39454E"/>
                  </a:solidFill>
                  <a:latin typeface="Calibri (MS)"/>
                  <a:ea typeface="Calibri (MS)"/>
                  <a:cs typeface="Calibri (MS)"/>
                  <a:sym typeface="Calibri (MS)"/>
                </a:rPr>
                <a:t>What matters is that the physics can adapt — learnable Route B ≥ fixed Route A on every held-out cell.</a:t>
              </a:r>
            </a:p>
            <a:p>
              <a:pPr algn="l" marL="380046" indent="-190023" lvl="1">
                <a:lnSpc>
                  <a:spcPts val="3149"/>
                </a:lnSpc>
                <a:buFont typeface="Arial"/>
                <a:buChar char="•"/>
              </a:pPr>
              <a:r>
                <a:rPr lang="en-US" sz="2099">
                  <a:solidFill>
                    <a:srgbClr val="39454E"/>
                  </a:solidFill>
                  <a:latin typeface="Calibri (MS)"/>
                  <a:ea typeface="Calibri (MS)"/>
                  <a:cs typeface="Calibri (MS)"/>
                  <a:sym typeface="Calibri (MS)"/>
                </a:rPr>
                <a:t>Deployable for real: 20.2 KB int8 + 1.25 KB RAM ≈ 2% of a Cortex-M4.</a:t>
              </a:r>
            </a:p>
            <a:p>
              <a:pPr algn="l" marL="380046" indent="-190023" lvl="1">
                <a:lnSpc>
                  <a:spcPts val="3149"/>
                </a:lnSpc>
                <a:buFont typeface="Arial"/>
                <a:buChar char="•"/>
              </a:pPr>
              <a:r>
                <a:rPr lang="en-US" sz="2099">
                  <a:solidFill>
                    <a:srgbClr val="39454E"/>
                  </a:solidFill>
                  <a:latin typeface="Calibri (MS)"/>
                  <a:ea typeface="Calibri (MS)"/>
                  <a:cs typeface="Calibri (MS)"/>
                  <a:sym typeface="Calibri (MS)"/>
                </a:rPr>
                <a:t>Limits identified and explained, not hidden: cross-dataset coordinate extrapolation; accuracy cost at the 11k size.</a:t>
              </a:r>
            </a:p>
          </p:txBody>
        </p:sp>
      </p:grpSp>
      <p:grpSp>
        <p:nvGrpSpPr>
          <p:cNvPr name="Group 16" id="16"/>
          <p:cNvGrpSpPr/>
          <p:nvPr/>
        </p:nvGrpSpPr>
        <p:grpSpPr>
          <a:xfrm rot="0">
            <a:off x="9221343" y="2185035"/>
            <a:ext cx="8248650" cy="5413629"/>
            <a:chOff x="0" y="0"/>
            <a:chExt cx="10998200" cy="7218172"/>
          </a:xfrm>
        </p:grpSpPr>
        <p:sp>
          <p:nvSpPr>
            <p:cNvPr name="Freeform 17" id="17"/>
            <p:cNvSpPr/>
            <p:nvPr/>
          </p:nvSpPr>
          <p:spPr>
            <a:xfrm flipH="false" flipV="false" rot="0">
              <a:off x="0" y="0"/>
              <a:ext cx="10998200" cy="7218172"/>
            </a:xfrm>
            <a:custGeom>
              <a:avLst/>
              <a:gdLst/>
              <a:ahLst/>
              <a:cxnLst/>
              <a:rect r="r" b="b" t="t" l="l"/>
              <a:pathLst>
                <a:path h="7218172" w="10998200">
                  <a:moveTo>
                    <a:pt x="0" y="116129"/>
                  </a:moveTo>
                  <a:cubicBezTo>
                    <a:pt x="0" y="52034"/>
                    <a:pt x="57531" y="0"/>
                    <a:pt x="128397" y="0"/>
                  </a:cubicBezTo>
                  <a:lnTo>
                    <a:pt x="10869803" y="0"/>
                  </a:lnTo>
                  <a:cubicBezTo>
                    <a:pt x="10940669" y="0"/>
                    <a:pt x="10998200" y="52034"/>
                    <a:pt x="10998200" y="116129"/>
                  </a:cubicBezTo>
                  <a:lnTo>
                    <a:pt x="10998200" y="7102042"/>
                  </a:lnTo>
                  <a:cubicBezTo>
                    <a:pt x="10998200" y="7166138"/>
                    <a:pt x="10940669" y="7218172"/>
                    <a:pt x="10869803" y="7218172"/>
                  </a:cubicBezTo>
                  <a:lnTo>
                    <a:pt x="128397" y="7218172"/>
                  </a:lnTo>
                  <a:cubicBezTo>
                    <a:pt x="57531" y="7218173"/>
                    <a:pt x="0" y="7166138"/>
                    <a:pt x="0" y="7102042"/>
                  </a:cubicBezTo>
                  <a:close/>
                </a:path>
              </a:pathLst>
            </a:custGeom>
            <a:solidFill>
              <a:srgbClr val="FFFFFF"/>
            </a:solidFill>
            <a:ln w="19050" cap="sq">
              <a:solidFill>
                <a:srgbClr val="CFDBDC"/>
              </a:solidFill>
              <a:prstDash val="solid"/>
              <a:miter/>
            </a:ln>
          </p:spPr>
        </p:sp>
      </p:grpSp>
      <p:grpSp>
        <p:nvGrpSpPr>
          <p:cNvPr name="Group 18" id="18"/>
          <p:cNvGrpSpPr/>
          <p:nvPr/>
        </p:nvGrpSpPr>
        <p:grpSpPr>
          <a:xfrm rot="0">
            <a:off x="9614916" y="2441448"/>
            <a:ext cx="7543800" cy="438912"/>
            <a:chOff x="0" y="0"/>
            <a:chExt cx="10058400" cy="585216"/>
          </a:xfrm>
        </p:grpSpPr>
        <p:sp>
          <p:nvSpPr>
            <p:cNvPr name="Freeform 19" id="19"/>
            <p:cNvSpPr/>
            <p:nvPr/>
          </p:nvSpPr>
          <p:spPr>
            <a:xfrm flipH="false" flipV="false" rot="0">
              <a:off x="0" y="0"/>
              <a:ext cx="10058400" cy="585216"/>
            </a:xfrm>
            <a:custGeom>
              <a:avLst/>
              <a:gdLst/>
              <a:ahLst/>
              <a:cxnLst/>
              <a:rect r="r" b="b" t="t" l="l"/>
              <a:pathLst>
                <a:path h="585216" w="10058400">
                  <a:moveTo>
                    <a:pt x="0" y="0"/>
                  </a:moveTo>
                  <a:lnTo>
                    <a:pt x="10058400" y="0"/>
                  </a:lnTo>
                  <a:lnTo>
                    <a:pt x="10058400" y="585216"/>
                  </a:lnTo>
                  <a:lnTo>
                    <a:pt x="0" y="585216"/>
                  </a:lnTo>
                  <a:close/>
                </a:path>
              </a:pathLst>
            </a:custGeom>
            <a:blipFill>
              <a:blip r:embed="rId3">
                <a:alphaModFix amt="0"/>
              </a:blip>
              <a:stretch>
                <a:fillRect l="0" t="-284899" r="0" b="-284899"/>
              </a:stretch>
            </a:blipFill>
          </p:spPr>
        </p:sp>
        <p:sp>
          <p:nvSpPr>
            <p:cNvPr name="TextBox 20" id="20"/>
            <p:cNvSpPr txBox="true"/>
            <p:nvPr/>
          </p:nvSpPr>
          <p:spPr>
            <a:xfrm>
              <a:off x="0" y="-19050"/>
              <a:ext cx="10058400" cy="604266"/>
            </a:xfrm>
            <a:prstGeom prst="rect">
              <a:avLst/>
            </a:prstGeom>
          </p:spPr>
          <p:txBody>
            <a:bodyPr anchor="ctr" rtlCol="false" tIns="0" lIns="0" bIns="0" rIns="0"/>
            <a:lstStyle/>
            <a:p>
              <a:pPr algn="l">
                <a:lnSpc>
                  <a:spcPts val="2700"/>
                </a:lnSpc>
              </a:pPr>
              <a:r>
                <a:rPr lang="en-US" sz="2250" b="true">
                  <a:solidFill>
                    <a:srgbClr val="1A5B6E"/>
                  </a:solidFill>
                  <a:latin typeface="Cambria Bold"/>
                  <a:ea typeface="Cambria Bold"/>
                  <a:cs typeface="Cambria Bold"/>
                  <a:sym typeface="Cambria Bold"/>
                </a:rPr>
                <a:t>Future work</a:t>
              </a:r>
            </a:p>
          </p:txBody>
        </p:sp>
      </p:grpSp>
      <p:grpSp>
        <p:nvGrpSpPr>
          <p:cNvPr name="Group 21" id="21"/>
          <p:cNvGrpSpPr/>
          <p:nvPr/>
        </p:nvGrpSpPr>
        <p:grpSpPr>
          <a:xfrm rot="0">
            <a:off x="9505188" y="2660904"/>
            <a:ext cx="7543800" cy="4937760"/>
            <a:chOff x="0" y="0"/>
            <a:chExt cx="10058400" cy="6583680"/>
          </a:xfrm>
        </p:grpSpPr>
        <p:sp>
          <p:nvSpPr>
            <p:cNvPr name="Freeform 22" id="22"/>
            <p:cNvSpPr/>
            <p:nvPr/>
          </p:nvSpPr>
          <p:spPr>
            <a:xfrm flipH="false" flipV="false" rot="0">
              <a:off x="0" y="0"/>
              <a:ext cx="10058400" cy="6583680"/>
            </a:xfrm>
            <a:custGeom>
              <a:avLst/>
              <a:gdLst/>
              <a:ahLst/>
              <a:cxnLst/>
              <a:rect r="r" b="b" t="t" l="l"/>
              <a:pathLst>
                <a:path h="6583680" w="10058400">
                  <a:moveTo>
                    <a:pt x="0" y="0"/>
                  </a:moveTo>
                  <a:lnTo>
                    <a:pt x="10058400" y="0"/>
                  </a:lnTo>
                  <a:lnTo>
                    <a:pt x="10058400" y="6583680"/>
                  </a:lnTo>
                  <a:lnTo>
                    <a:pt x="0" y="6583680"/>
                  </a:lnTo>
                  <a:close/>
                </a:path>
              </a:pathLst>
            </a:custGeom>
            <a:blipFill>
              <a:blip r:embed="rId3">
                <a:alphaModFix amt="0"/>
              </a:blip>
              <a:stretch>
                <a:fillRect l="-33980" t="0" r="-33980" b="0"/>
              </a:stretch>
            </a:blipFill>
          </p:spPr>
        </p:sp>
        <p:sp>
          <p:nvSpPr>
            <p:cNvPr name="TextBox 23" id="23"/>
            <p:cNvSpPr txBox="true"/>
            <p:nvPr/>
          </p:nvSpPr>
          <p:spPr>
            <a:xfrm>
              <a:off x="0" y="-104775"/>
              <a:ext cx="10058400" cy="6688455"/>
            </a:xfrm>
            <a:prstGeom prst="rect">
              <a:avLst/>
            </a:prstGeom>
          </p:spPr>
          <p:txBody>
            <a:bodyPr anchor="ctr" rtlCol="false" tIns="0" lIns="0" bIns="0" rIns="0"/>
            <a:lstStyle/>
            <a:p>
              <a:pPr algn="l" marL="380046" indent="-190023" lvl="1">
                <a:lnSpc>
                  <a:spcPts val="3149"/>
                </a:lnSpc>
                <a:buFont typeface="Arial"/>
                <a:buChar char="•"/>
              </a:pPr>
              <a:r>
                <a:rPr lang="en-US" sz="2099">
                  <a:solidFill>
                    <a:srgbClr val="39454E"/>
                  </a:solidFill>
                  <a:latin typeface="Calibri (MS)"/>
                  <a:ea typeface="Calibri (MS)"/>
                  <a:cs typeface="Calibri (MS)"/>
                  <a:sym typeface="Calibri (MS)"/>
                </a:rPr>
                <a:t>Collocation points and coordinate saturation to fix long-horizon, cross-dataset transfer.</a:t>
              </a:r>
            </a:p>
            <a:p>
              <a:pPr algn="l" marL="380046" indent="-190023" lvl="1">
                <a:lnSpc>
                  <a:spcPts val="3149"/>
                </a:lnSpc>
                <a:buFont typeface="Arial"/>
                <a:buChar char="•"/>
              </a:pPr>
              <a:r>
                <a:rPr lang="en-US" sz="2099">
                  <a:solidFill>
                    <a:srgbClr val="39454E"/>
                  </a:solidFill>
                  <a:latin typeface="Calibri (MS)"/>
                  <a:ea typeface="Calibri (MS)"/>
                  <a:cs typeface="Calibri (MS)"/>
                  <a:sym typeface="Calibri (MS)"/>
                </a:rPr>
                <a:t>Flash the quantized model onto a physical M4 board — measure real latency and energy.</a:t>
              </a:r>
            </a:p>
            <a:p>
              <a:pPr algn="l" marL="380046" indent="-190023" lvl="1">
                <a:lnSpc>
                  <a:spcPts val="3149"/>
                </a:lnSpc>
                <a:buFont typeface="Arial"/>
                <a:buChar char="•"/>
              </a:pPr>
              <a:r>
                <a:rPr lang="en-US" sz="2099">
                  <a:solidFill>
                    <a:srgbClr val="39454E"/>
                  </a:solidFill>
                  <a:latin typeface="Calibri (MS)"/>
                  <a:ea typeface="Calibri (MS)"/>
                  <a:cs typeface="Calibri (MS)"/>
                  <a:sym typeface="Calibri (MS)"/>
                </a:rPr>
                <a:t>Larger fleets (e.g. Toyota/MIT) for statistical power; re-test uncertainty weighting.</a:t>
              </a:r>
            </a:p>
            <a:p>
              <a:pPr algn="l" marL="380046" indent="-190023" lvl="1">
                <a:lnSpc>
                  <a:spcPts val="3149"/>
                </a:lnSpc>
                <a:buFont typeface="Arial"/>
                <a:buChar char="•"/>
              </a:pPr>
              <a:r>
                <a:rPr lang="en-US" sz="2099">
                  <a:solidFill>
                    <a:srgbClr val="39454E"/>
                  </a:solidFill>
                  <a:latin typeface="Calibri (MS)"/>
                  <a:ea typeface="Calibri (MS)"/>
                  <a:cs typeface="Calibri (MS)"/>
                  <a:sym typeface="Calibri (MS)"/>
                </a:rPr>
                <a:t>Other chemistries (LFP / NMC) with lightweight domain adaptation of the learned physics.</a:t>
              </a:r>
            </a:p>
            <a:p>
              <a:pPr algn="l" marL="380046" indent="-190023" lvl="1">
                <a:lnSpc>
                  <a:spcPts val="3149"/>
                </a:lnSpc>
                <a:buFont typeface="Arial"/>
                <a:buChar char="•"/>
              </a:pPr>
              <a:r>
                <a:rPr lang="en-US" sz="2099">
                  <a:solidFill>
                    <a:srgbClr val="39454E"/>
                  </a:solidFill>
                  <a:latin typeface="Calibri (MS)"/>
                  <a:ea typeface="Calibri (MS)"/>
                  <a:cs typeface="Calibri (MS)"/>
                  <a:sym typeface="Calibri (MS)"/>
                </a:rPr>
                <a:t>A structure-free derivative-penalty control; per-cell online adaptation of learned parameters.</a:t>
              </a:r>
            </a:p>
          </p:txBody>
        </p:sp>
      </p:grpSp>
      <p:grpSp>
        <p:nvGrpSpPr>
          <p:cNvPr name="Group 24" id="24"/>
          <p:cNvGrpSpPr/>
          <p:nvPr/>
        </p:nvGrpSpPr>
        <p:grpSpPr>
          <a:xfrm rot="0">
            <a:off x="1458637" y="8270748"/>
            <a:ext cx="14584341" cy="987552"/>
            <a:chOff x="0" y="0"/>
            <a:chExt cx="19445788" cy="1316736"/>
          </a:xfrm>
        </p:grpSpPr>
        <p:sp>
          <p:nvSpPr>
            <p:cNvPr name="Freeform 25" id="25"/>
            <p:cNvSpPr/>
            <p:nvPr/>
          </p:nvSpPr>
          <p:spPr>
            <a:xfrm flipH="false" flipV="false" rot="0">
              <a:off x="0" y="0"/>
              <a:ext cx="19445788" cy="1316736"/>
            </a:xfrm>
            <a:custGeom>
              <a:avLst/>
              <a:gdLst/>
              <a:ahLst/>
              <a:cxnLst/>
              <a:rect r="r" b="b" t="t" l="l"/>
              <a:pathLst>
                <a:path h="1316736" w="19445788">
                  <a:moveTo>
                    <a:pt x="0" y="0"/>
                  </a:moveTo>
                  <a:lnTo>
                    <a:pt x="19445788" y="0"/>
                  </a:lnTo>
                  <a:lnTo>
                    <a:pt x="19445788" y="1316736"/>
                  </a:lnTo>
                  <a:lnTo>
                    <a:pt x="0" y="1316736"/>
                  </a:lnTo>
                  <a:close/>
                </a:path>
              </a:pathLst>
            </a:custGeom>
            <a:blipFill>
              <a:blip r:embed="rId3">
                <a:alphaModFix amt="0"/>
              </a:blip>
              <a:stretch>
                <a:fillRect l="0" t="-278268" r="-14077" b="-278268"/>
              </a:stretch>
            </a:blipFill>
          </p:spPr>
        </p:sp>
        <p:sp>
          <p:nvSpPr>
            <p:cNvPr name="TextBox 26" id="26"/>
            <p:cNvSpPr txBox="true"/>
            <p:nvPr/>
          </p:nvSpPr>
          <p:spPr>
            <a:xfrm>
              <a:off x="0" y="-85725"/>
              <a:ext cx="19445788" cy="1402461"/>
            </a:xfrm>
            <a:prstGeom prst="rect">
              <a:avLst/>
            </a:prstGeom>
          </p:spPr>
          <p:txBody>
            <a:bodyPr anchor="ctr" rtlCol="false" tIns="0" lIns="0" bIns="0" rIns="0"/>
            <a:lstStyle/>
            <a:p>
              <a:pPr algn="ctr" marL="0" indent="0" lvl="0">
                <a:lnSpc>
                  <a:spcPts val="4799"/>
                </a:lnSpc>
                <a:spcBef>
                  <a:spcPct val="0"/>
                </a:spcBef>
              </a:pPr>
              <a:r>
                <a:rPr lang="en-US" b="true" sz="3999" i="true" strike="noStrike" u="none">
                  <a:solidFill>
                    <a:srgbClr val="1A5B6E"/>
                  </a:solidFill>
                  <a:latin typeface="Calibri (MS) Bold Italics"/>
                  <a:ea typeface="Calibri (MS) Bold Italics"/>
                  <a:cs typeface="Calibri (MS) Bold Italics"/>
                  <a:sym typeface="Calibri (MS) Bold Italics"/>
                </a:rPr>
                <a:t>Thank you</a:t>
              </a:r>
            </a:p>
          </p:txBody>
        </p:sp>
      </p:grpSp>
      <p:grpSp>
        <p:nvGrpSpPr>
          <p:cNvPr name="Group 27" id="27"/>
          <p:cNvGrpSpPr/>
          <p:nvPr/>
        </p:nvGrpSpPr>
        <p:grpSpPr>
          <a:xfrm rot="0">
            <a:off x="822960" y="9683496"/>
            <a:ext cx="8229600" cy="411480"/>
            <a:chOff x="0" y="0"/>
            <a:chExt cx="10972800" cy="548640"/>
          </a:xfrm>
        </p:grpSpPr>
        <p:sp>
          <p:nvSpPr>
            <p:cNvPr name="Freeform 28" id="28"/>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3">
                <a:alphaModFix amt="0"/>
              </a:blip>
              <a:stretch>
                <a:fillRect l="0" t="-339700" r="0" b="-339700"/>
              </a:stretch>
            </a:blipFill>
          </p:spPr>
        </p:sp>
        <p:sp>
          <p:nvSpPr>
            <p:cNvPr name="TextBox 29" id="29"/>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6E7A83"/>
                  </a:solidFill>
                  <a:latin typeface="Calibri (MS)"/>
                  <a:ea typeface="Calibri (MS)"/>
                  <a:cs typeface="Calibri (MS)"/>
                  <a:sym typeface="Calibri (MS)"/>
                </a:rPr>
                <a:t>Rajat Sharma · CH24M559 · IIT Madras</a:t>
              </a:r>
            </a:p>
          </p:txBody>
        </p:sp>
      </p:grpSp>
      <p:grpSp>
        <p:nvGrpSpPr>
          <p:cNvPr name="Group 30" id="30"/>
          <p:cNvGrpSpPr/>
          <p:nvPr/>
        </p:nvGrpSpPr>
        <p:grpSpPr>
          <a:xfrm rot="0">
            <a:off x="16637508" y="9683496"/>
            <a:ext cx="822960" cy="411480"/>
            <a:chOff x="0" y="0"/>
            <a:chExt cx="1097280" cy="548640"/>
          </a:xfrm>
        </p:grpSpPr>
        <p:sp>
          <p:nvSpPr>
            <p:cNvPr name="Freeform 31" id="31"/>
            <p:cNvSpPr/>
            <p:nvPr/>
          </p:nvSpPr>
          <p:spPr>
            <a:xfrm flipH="false" flipV="false" rot="0">
              <a:off x="0" y="0"/>
              <a:ext cx="1097280" cy="548640"/>
            </a:xfrm>
            <a:custGeom>
              <a:avLst/>
              <a:gdLst/>
              <a:ahLst/>
              <a:cxnLst/>
              <a:rect r="r" b="b" t="t" l="l"/>
              <a:pathLst>
                <a:path h="548640" w="1097280">
                  <a:moveTo>
                    <a:pt x="0" y="0"/>
                  </a:moveTo>
                  <a:lnTo>
                    <a:pt x="1097280" y="0"/>
                  </a:lnTo>
                  <a:lnTo>
                    <a:pt x="1097280" y="548640"/>
                  </a:lnTo>
                  <a:lnTo>
                    <a:pt x="0" y="548640"/>
                  </a:lnTo>
                  <a:close/>
                </a:path>
              </a:pathLst>
            </a:custGeom>
            <a:blipFill>
              <a:blip r:embed="rId3">
                <a:alphaModFix amt="0"/>
              </a:blip>
              <a:stretch>
                <a:fillRect l="-14151" t="0" r="-14151" b="0"/>
              </a:stretch>
            </a:blipFill>
          </p:spPr>
        </p:sp>
        <p:sp>
          <p:nvSpPr>
            <p:cNvPr name="TextBox 32" id="32"/>
            <p:cNvSpPr txBox="true"/>
            <p:nvPr/>
          </p:nvSpPr>
          <p:spPr>
            <a:xfrm>
              <a:off x="0" y="-38100"/>
              <a:ext cx="1097280" cy="586740"/>
            </a:xfrm>
            <a:prstGeom prst="rect">
              <a:avLst/>
            </a:prstGeom>
          </p:spPr>
          <p:txBody>
            <a:bodyPr anchor="ctr" rtlCol="false" tIns="0" lIns="0" bIns="0" rIns="0"/>
            <a:lstStyle/>
            <a:p>
              <a:pPr algn="r">
                <a:lnSpc>
                  <a:spcPts val="1709"/>
                </a:lnSpc>
              </a:pPr>
              <a:r>
                <a:rPr lang="en-US" sz="1425">
                  <a:solidFill>
                    <a:srgbClr val="6E7A83"/>
                  </a:solidFill>
                  <a:latin typeface="Calibri (MS)"/>
                  <a:ea typeface="Calibri (MS)"/>
                  <a:cs typeface="Calibri (MS)"/>
                  <a:sym typeface="Calibri (MS)"/>
                </a:rPr>
                <a:t>12</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DAHPe-MKPvU</dc:identifier>
  <dcterms:modified xsi:type="dcterms:W3CDTF">2011-08-01T06:04:30Z</dcterms:modified>
  <cp:revision>1</cp:revision>
  <dc:title>CH24M559_Phase3_Defense_2.pptx</dc:title>
</cp:coreProperties>
</file>